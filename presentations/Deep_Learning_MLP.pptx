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CA8C71-0205-4AD3-8365-3A67DB2760CE}" v="1" dt="2026-09-17T12:06:18.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4802" autoAdjust="0"/>
  </p:normalViewPr>
  <p:slideViewPr>
    <p:cSldViewPr snapToGrid="0" snapToObjects="1">
      <p:cViewPr>
        <p:scale>
          <a:sx n="50" d="100"/>
          <a:sy n="50" d="100"/>
        </p:scale>
        <p:origin x="1906"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ijzer, K (onco)" userId="c5a999d4-af0c-45eb-93e0-52f88e76dfc7" providerId="ADAL" clId="{22707562-012A-495E-A2F5-D9DE94F03D7C}"/>
    <pc:docChg chg="undo custSel modSld">
      <pc:chgData name="Keijzer, K (onco)" userId="c5a999d4-af0c-45eb-93e0-52f88e76dfc7" providerId="ADAL" clId="{22707562-012A-495E-A2F5-D9DE94F03D7C}" dt="2026-09-17T12:12:31.592" v="146" actId="20577"/>
      <pc:docMkLst>
        <pc:docMk/>
      </pc:docMkLst>
      <pc:sldChg chg="delSp modSp mod modNotesTx">
        <pc:chgData name="Keijzer, K (onco)" userId="c5a999d4-af0c-45eb-93e0-52f88e76dfc7" providerId="ADAL" clId="{22707562-012A-495E-A2F5-D9DE94F03D7C}" dt="2026-09-17T12:12:31.592" v="146" actId="20577"/>
        <pc:sldMkLst>
          <pc:docMk/>
          <pc:sldMk cId="0" sldId="256"/>
        </pc:sldMkLst>
        <pc:spChg chg="mod">
          <ac:chgData name="Keijzer, K (onco)" userId="c5a999d4-af0c-45eb-93e0-52f88e76dfc7" providerId="ADAL" clId="{22707562-012A-495E-A2F5-D9DE94F03D7C}" dt="2026-09-17T12:02:24.714" v="9" actId="14100"/>
          <ac:spMkLst>
            <pc:docMk/>
            <pc:sldMk cId="0" sldId="256"/>
            <ac:spMk id="2" creationId="{00000000-0000-0000-0000-000000000000}"/>
          </ac:spMkLst>
        </pc:spChg>
        <pc:spChg chg="mod">
          <ac:chgData name="Keijzer, K (onco)" userId="c5a999d4-af0c-45eb-93e0-52f88e76dfc7" providerId="ADAL" clId="{22707562-012A-495E-A2F5-D9DE94F03D7C}" dt="2026-09-17T12:02:29.704" v="11" actId="1076"/>
          <ac:spMkLst>
            <pc:docMk/>
            <pc:sldMk cId="0" sldId="256"/>
            <ac:spMk id="3" creationId="{00000000-0000-0000-0000-000000000000}"/>
          </ac:spMkLst>
        </pc:spChg>
        <pc:spChg chg="mod">
          <ac:chgData name="Keijzer, K (onco)" userId="c5a999d4-af0c-45eb-93e0-52f88e76dfc7" providerId="ADAL" clId="{22707562-012A-495E-A2F5-D9DE94F03D7C}" dt="2026-09-17T12:04:18.070" v="115" actId="1076"/>
          <ac:spMkLst>
            <pc:docMk/>
            <pc:sldMk cId="0" sldId="256"/>
            <ac:spMk id="4" creationId="{00000000-0000-0000-0000-000000000000}"/>
          </ac:spMkLst>
        </pc:spChg>
        <pc:spChg chg="mod">
          <ac:chgData name="Keijzer, K (onco)" userId="c5a999d4-af0c-45eb-93e0-52f88e76dfc7" providerId="ADAL" clId="{22707562-012A-495E-A2F5-D9DE94F03D7C}" dt="2026-09-17T12:04:18.070" v="115" actId="1076"/>
          <ac:spMkLst>
            <pc:docMk/>
            <pc:sldMk cId="0" sldId="256"/>
            <ac:spMk id="5" creationId="{00000000-0000-0000-0000-000000000000}"/>
          </ac:spMkLst>
        </pc:spChg>
        <pc:spChg chg="mod">
          <ac:chgData name="Keijzer, K (onco)" userId="c5a999d4-af0c-45eb-93e0-52f88e76dfc7" providerId="ADAL" clId="{22707562-012A-495E-A2F5-D9DE94F03D7C}" dt="2026-09-17T12:04:18.070" v="115" actId="1076"/>
          <ac:spMkLst>
            <pc:docMk/>
            <pc:sldMk cId="0" sldId="256"/>
            <ac:spMk id="6" creationId="{00000000-0000-0000-0000-000000000000}"/>
          </ac:spMkLst>
        </pc:spChg>
        <pc:spChg chg="mod">
          <ac:chgData name="Keijzer, K (onco)" userId="c5a999d4-af0c-45eb-93e0-52f88e76dfc7" providerId="ADAL" clId="{22707562-012A-495E-A2F5-D9DE94F03D7C}" dt="2026-09-17T12:04:32.883" v="141" actId="1038"/>
          <ac:spMkLst>
            <pc:docMk/>
            <pc:sldMk cId="0" sldId="256"/>
            <ac:spMk id="7" creationId="{00000000-0000-0000-0000-000000000000}"/>
          </ac:spMkLst>
        </pc:spChg>
        <pc:spChg chg="mod">
          <ac:chgData name="Keijzer, K (onco)" userId="c5a999d4-af0c-45eb-93e0-52f88e76dfc7" providerId="ADAL" clId="{22707562-012A-495E-A2F5-D9DE94F03D7C}" dt="2026-09-17T12:04:32.883" v="141" actId="1038"/>
          <ac:spMkLst>
            <pc:docMk/>
            <pc:sldMk cId="0" sldId="256"/>
            <ac:spMk id="8" creationId="{00000000-0000-0000-0000-000000000000}"/>
          </ac:spMkLst>
        </pc:spChg>
        <pc:spChg chg="mod">
          <ac:chgData name="Keijzer, K (onco)" userId="c5a999d4-af0c-45eb-93e0-52f88e76dfc7" providerId="ADAL" clId="{22707562-012A-495E-A2F5-D9DE94F03D7C}" dt="2026-09-17T12:04:32.883" v="141" actId="1038"/>
          <ac:spMkLst>
            <pc:docMk/>
            <pc:sldMk cId="0" sldId="256"/>
            <ac:spMk id="9" creationId="{00000000-0000-0000-0000-000000000000}"/>
          </ac:spMkLst>
        </pc:spChg>
        <pc:spChg chg="mod">
          <ac:chgData name="Keijzer, K (onco)" userId="c5a999d4-af0c-45eb-93e0-52f88e76dfc7" providerId="ADAL" clId="{22707562-012A-495E-A2F5-D9DE94F03D7C}" dt="2026-09-17T12:04:24.355" v="117" actId="1076"/>
          <ac:spMkLst>
            <pc:docMk/>
            <pc:sldMk cId="0" sldId="256"/>
            <ac:spMk id="10" creationId="{00000000-0000-0000-0000-000000000000}"/>
          </ac:spMkLst>
        </pc:spChg>
        <pc:spChg chg="del mod">
          <ac:chgData name="Keijzer, K (onco)" userId="c5a999d4-af0c-45eb-93e0-52f88e76dfc7" providerId="ADAL" clId="{22707562-012A-495E-A2F5-D9DE94F03D7C}" dt="2026-09-17T12:03:07.311" v="42" actId="478"/>
          <ac:spMkLst>
            <pc:docMk/>
            <pc:sldMk cId="0" sldId="256"/>
            <ac:spMk id="11" creationId="{00000000-0000-0000-0000-000000000000}"/>
          </ac:spMkLst>
        </pc:spChg>
        <pc:spChg chg="mod">
          <ac:chgData name="Keijzer, K (onco)" userId="c5a999d4-af0c-45eb-93e0-52f88e76dfc7" providerId="ADAL" clId="{22707562-012A-495E-A2F5-D9DE94F03D7C}" dt="2026-09-17T12:03:55.495" v="109" actId="1076"/>
          <ac:spMkLst>
            <pc:docMk/>
            <pc:sldMk cId="0" sldId="256"/>
            <ac:spMk id="13" creationId="{00000000-0000-0000-0000-000000000000}"/>
          </ac:spMkLst>
        </pc:spChg>
        <pc:spChg chg="mod">
          <ac:chgData name="Keijzer, K (onco)" userId="c5a999d4-af0c-45eb-93e0-52f88e76dfc7" providerId="ADAL" clId="{22707562-012A-495E-A2F5-D9DE94F03D7C}" dt="2026-09-17T12:03:55.495" v="109" actId="1076"/>
          <ac:spMkLst>
            <pc:docMk/>
            <pc:sldMk cId="0" sldId="256"/>
            <ac:spMk id="14" creationId="{00000000-0000-0000-0000-000000000000}"/>
          </ac:spMkLst>
        </pc:spChg>
        <pc:spChg chg="mod">
          <ac:chgData name="Keijzer, K (onco)" userId="c5a999d4-af0c-45eb-93e0-52f88e76dfc7" providerId="ADAL" clId="{22707562-012A-495E-A2F5-D9DE94F03D7C}" dt="2026-09-17T12:03:55.495" v="109" actId="1076"/>
          <ac:spMkLst>
            <pc:docMk/>
            <pc:sldMk cId="0" sldId="256"/>
            <ac:spMk id="15" creationId="{00000000-0000-0000-0000-000000000000}"/>
          </ac:spMkLst>
        </pc:spChg>
        <pc:picChg chg="mod">
          <ac:chgData name="Keijzer, K (onco)" userId="c5a999d4-af0c-45eb-93e0-52f88e76dfc7" providerId="ADAL" clId="{22707562-012A-495E-A2F5-D9DE94F03D7C}" dt="2026-09-17T12:03:49.058" v="108" actId="208"/>
          <ac:picMkLst>
            <pc:docMk/>
            <pc:sldMk cId="0" sldId="256"/>
            <ac:picMk id="1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17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regularized multilayer perceptron trained on baseline (T1) clinical, anthropometric, and lifestyle measurements predicts diabetes by the T2 visit with an AUROC of 0.95 (95% CI: 0.90–0.99) and AUPRC of 0.51 (95% CI: 0.35–0.67), a roughly 50-fold improvement over the 1% base rate. Permutation importance shows this performance is driven predominantly by baseline HbA1c, with BMI contributing a smaller but meaningful secondary signal and the remaining 37 features each adding marginal information; a single-variable HbA1c model alone already achieves an AUPRC </a:t>
            </a:r>
            <a:r>
              <a:rPr lang="en-US"/>
              <a:t>of 0.41, </a:t>
            </a:r>
            <a:r>
              <a:rPr lang="en-US" dirty="0"/>
              <a:t>indicating that the network's added value over a simple clinical threshold rule is real but modest. Given only 32 incident cases in the test set, these estimates carry substantial sampling uncertainty, and any comparison to classical machine learning approaches trained on the same split should be interpreted with that uncertainty in mind rather than as a precise ranking.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4297680" cy="960120"/>
          </a:xfrm>
          <a:prstGeom prst="rect">
            <a:avLst/>
          </a:prstGeom>
          <a:noFill/>
          <a:ln/>
        </p:spPr>
        <p:txBody>
          <a:bodyPr wrap="square" lIns="0" tIns="0" rIns="0" bIns="0" rtlCol="0" anchor="ctr"/>
          <a:lstStyle/>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Predicting Diabetes with Deep Learning</a:t>
            </a:r>
            <a:endParaRPr lang="en-US" sz="2700" dirty="0"/>
          </a:p>
        </p:txBody>
      </p:sp>
      <p:sp>
        <p:nvSpPr>
          <p:cNvPr id="3" name="Text 1"/>
          <p:cNvSpPr txBox="1"/>
          <p:nvPr/>
        </p:nvSpPr>
        <p:spPr>
          <a:xfrm>
            <a:off x="468430" y="1383471"/>
            <a:ext cx="5109410" cy="502920"/>
          </a:xfrm>
          <a:prstGeom prst="rect">
            <a:avLst/>
          </a:prstGeom>
          <a:noFill/>
          <a:ln/>
        </p:spPr>
        <p:txBody>
          <a:bodyPr wrap="square" lIns="0" tIns="0" rIns="0" bIns="0" rtlCol="0" anchor="ctr"/>
          <a:lstStyle/>
          <a:p>
            <a:pPr marL="0" indent="0">
              <a:buNone/>
            </a:pPr>
            <a:r>
              <a:rPr lang="en-US" sz="1250" dirty="0">
                <a:latin typeface="Calibri" pitchFamily="34" charset="0"/>
                <a:ea typeface="Calibri" pitchFamily="34" charset="-122"/>
                <a:cs typeface="Calibri" pitchFamily="34" charset="-120"/>
              </a:rPr>
              <a:t>A feedforward neural network (MLP) using only baseline (T1) clinical, anthropometric, and lifestyle features to predict new diabetes cases by the T2 follow-up visit.</a:t>
            </a:r>
            <a:endParaRPr lang="en-US" sz="1250" dirty="0"/>
          </a:p>
        </p:txBody>
      </p:sp>
      <p:sp>
        <p:nvSpPr>
          <p:cNvPr id="4" name="Text 2"/>
          <p:cNvSpPr txBox="1"/>
          <p:nvPr/>
        </p:nvSpPr>
        <p:spPr>
          <a:xfrm>
            <a:off x="-160421" y="2539144"/>
            <a:ext cx="3291840" cy="292608"/>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AUC</a:t>
            </a:r>
            <a:endParaRPr lang="en-US" sz="1400" dirty="0"/>
          </a:p>
        </p:txBody>
      </p:sp>
      <p:sp>
        <p:nvSpPr>
          <p:cNvPr id="5" name="Text 3"/>
          <p:cNvSpPr txBox="1"/>
          <p:nvPr/>
        </p:nvSpPr>
        <p:spPr>
          <a:xfrm>
            <a:off x="-160421" y="2786032"/>
            <a:ext cx="3291840" cy="914400"/>
          </a:xfrm>
          <a:prstGeom prst="rect">
            <a:avLst/>
          </a:prstGeom>
          <a:noFill/>
          <a:ln/>
        </p:spPr>
        <p:txBody>
          <a:bodyPr wrap="square" lIns="0" tIns="0" rIns="0" bIns="0" rtlCol="0" anchor="ctr"/>
          <a:lstStyle/>
          <a:p>
            <a:pPr marL="0" indent="0" algn="ctr">
              <a:buNone/>
            </a:pPr>
            <a:r>
              <a:rPr lang="en-US" sz="5800" b="1" dirty="0">
                <a:solidFill>
                  <a:srgbClr val="028090"/>
                </a:solidFill>
                <a:latin typeface="Cambria" pitchFamily="34" charset="0"/>
                <a:ea typeface="Cambria" pitchFamily="34" charset="-122"/>
                <a:cs typeface="Cambria" pitchFamily="34" charset="-120"/>
              </a:rPr>
              <a:t>0.95</a:t>
            </a:r>
            <a:endParaRPr lang="en-US" sz="5800" dirty="0"/>
          </a:p>
        </p:txBody>
      </p:sp>
      <p:sp>
        <p:nvSpPr>
          <p:cNvPr id="6" name="Text 4"/>
          <p:cNvSpPr txBox="1"/>
          <p:nvPr/>
        </p:nvSpPr>
        <p:spPr>
          <a:xfrm>
            <a:off x="-160421" y="3709576"/>
            <a:ext cx="3291840" cy="45720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95% CI: 0.90 – 0.99</a:t>
            </a:r>
            <a:endParaRPr lang="en-US" sz="1100" dirty="0"/>
          </a:p>
        </p:txBody>
      </p:sp>
      <p:sp>
        <p:nvSpPr>
          <p:cNvPr id="7" name="Text 5"/>
          <p:cNvSpPr txBox="1"/>
          <p:nvPr/>
        </p:nvSpPr>
        <p:spPr>
          <a:xfrm>
            <a:off x="2419630" y="2539144"/>
            <a:ext cx="3291840" cy="292608"/>
          </a:xfrm>
          <a:prstGeom prst="rect">
            <a:avLst/>
          </a:prstGeom>
          <a:noFill/>
          <a:ln/>
        </p:spPr>
        <p:txBody>
          <a:bodyPr wrap="square" lIns="0" tIns="0" rIns="0" bIns="0"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AUPRC</a:t>
            </a:r>
            <a:endParaRPr lang="en-US" sz="1400" dirty="0"/>
          </a:p>
        </p:txBody>
      </p:sp>
      <p:sp>
        <p:nvSpPr>
          <p:cNvPr id="8" name="Text 6"/>
          <p:cNvSpPr txBox="1"/>
          <p:nvPr/>
        </p:nvSpPr>
        <p:spPr>
          <a:xfrm>
            <a:off x="2419630" y="2786032"/>
            <a:ext cx="3291840" cy="914400"/>
          </a:xfrm>
          <a:prstGeom prst="rect">
            <a:avLst/>
          </a:prstGeom>
          <a:noFill/>
          <a:ln/>
        </p:spPr>
        <p:txBody>
          <a:bodyPr wrap="square" lIns="0" tIns="0" rIns="0" bIns="0" rtlCol="0" anchor="ctr"/>
          <a:lstStyle/>
          <a:p>
            <a:pPr marL="0" indent="0" algn="ctr">
              <a:buNone/>
            </a:pPr>
            <a:r>
              <a:rPr lang="en-US" sz="5800" b="1" dirty="0">
                <a:solidFill>
                  <a:srgbClr val="00A896"/>
                </a:solidFill>
                <a:latin typeface="Cambria" pitchFamily="34" charset="0"/>
                <a:ea typeface="Cambria" pitchFamily="34" charset="-122"/>
                <a:cs typeface="Cambria" pitchFamily="34" charset="-120"/>
              </a:rPr>
              <a:t>0.51</a:t>
            </a:r>
            <a:endParaRPr lang="en-US" sz="5800" dirty="0"/>
          </a:p>
        </p:txBody>
      </p:sp>
      <p:sp>
        <p:nvSpPr>
          <p:cNvPr id="9" name="Text 7"/>
          <p:cNvSpPr txBox="1"/>
          <p:nvPr/>
        </p:nvSpPr>
        <p:spPr>
          <a:xfrm>
            <a:off x="2419630" y="3709576"/>
            <a:ext cx="3291840" cy="45720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95% CI: 0.35 – 0.67  •  ~50× the 1% base rate</a:t>
            </a:r>
            <a:endParaRPr lang="en-US" sz="1100" dirty="0"/>
          </a:p>
        </p:txBody>
      </p:sp>
      <p:sp>
        <p:nvSpPr>
          <p:cNvPr id="10" name="Text 8"/>
          <p:cNvSpPr txBox="1"/>
          <p:nvPr/>
        </p:nvSpPr>
        <p:spPr>
          <a:xfrm>
            <a:off x="401053" y="4780184"/>
            <a:ext cx="5694947" cy="1371600"/>
          </a:xfrm>
          <a:prstGeom prst="rect">
            <a:avLst/>
          </a:prstGeom>
          <a:noFill/>
          <a:ln/>
        </p:spPr>
        <p:txBody>
          <a:bodyPr wrap="square" lIns="0" tIns="0" rIns="0" bIns="0" rtlCol="0" anchor="ctr"/>
          <a:lstStyle/>
          <a:p>
            <a:pPr marL="0" indent="0">
              <a:lnSpc>
                <a:spcPct val="130000"/>
              </a:lnSpc>
              <a:buNone/>
            </a:pPr>
            <a:r>
              <a:rPr lang="en-US" sz="1500" b="1" dirty="0">
                <a:solidFill>
                  <a:srgbClr val="1A1A1A"/>
                </a:solidFill>
                <a:latin typeface="Calibri" pitchFamily="34" charset="0"/>
                <a:ea typeface="Calibri" pitchFamily="34" charset="-122"/>
                <a:cs typeface="Calibri" pitchFamily="34" charset="-120"/>
              </a:rPr>
              <a:t>Bottom line: </a:t>
            </a:r>
            <a:r>
              <a:rPr lang="en-US" sz="1500" dirty="0">
                <a:solidFill>
                  <a:srgbClr val="1A1A1A"/>
                </a:solidFill>
                <a:latin typeface="Calibri" pitchFamily="34" charset="0"/>
                <a:ea typeface="Calibri" pitchFamily="34" charset="-122"/>
                <a:cs typeface="Calibri" pitchFamily="34" charset="-120"/>
              </a:rPr>
              <a:t>Baseline labs and lifestyle data predict incident diabetes well, but most of that power comes from a single variable (baseline HbA1c) with the network adding a modest, real improvement on top of it.</a:t>
            </a:r>
            <a:endParaRPr lang="en-US" sz="1500" dirty="0"/>
          </a:p>
        </p:txBody>
      </p:sp>
      <p:pic>
        <p:nvPicPr>
          <p:cNvPr id="12" name="Image 0" descr="permutation_importance.png"/>
          <p:cNvPicPr>
            <a:picLocks noChangeAspect="1"/>
          </p:cNvPicPr>
          <p:nvPr/>
        </p:nvPicPr>
        <p:blipFill>
          <a:blip r:embed="rId3"/>
          <a:stretch>
            <a:fillRect/>
          </a:stretch>
        </p:blipFill>
        <p:spPr>
          <a:xfrm>
            <a:off x="5950641" y="203296"/>
            <a:ext cx="6016768" cy="4194837"/>
          </a:xfrm>
          <a:prstGeom prst="rect">
            <a:avLst/>
          </a:prstGeom>
          <a:ln w="38100">
            <a:solidFill>
              <a:schemeClr val="accent1"/>
            </a:solidFill>
          </a:ln>
        </p:spPr>
      </p:pic>
      <p:sp>
        <p:nvSpPr>
          <p:cNvPr id="13" name="Text 10"/>
          <p:cNvSpPr txBox="1"/>
          <p:nvPr/>
        </p:nvSpPr>
        <p:spPr>
          <a:xfrm>
            <a:off x="7035265" y="4734464"/>
            <a:ext cx="4297680" cy="457200"/>
          </a:xfrm>
          <a:prstGeom prst="rect">
            <a:avLst/>
          </a:prstGeom>
          <a:noFill/>
          <a:ln/>
        </p:spPr>
        <p:txBody>
          <a:bodyPr wrap="square" lIns="0" tIns="0" rIns="0" bIns="0" rtlCol="0" anchor="ctr"/>
          <a:lstStyle/>
          <a:p>
            <a:pPr marL="342900" indent="-342900">
              <a:buSzPct val="100000"/>
              <a:buChar char="•"/>
            </a:pPr>
            <a:r>
              <a:rPr lang="en-US" sz="1250" b="1" dirty="0">
                <a:solidFill>
                  <a:srgbClr val="028090"/>
                </a:solidFill>
                <a:latin typeface="Calibri" pitchFamily="34" charset="0"/>
                <a:ea typeface="Calibri" pitchFamily="34" charset="-122"/>
                <a:cs typeface="Calibri" pitchFamily="34" charset="-120"/>
              </a:rPr>
              <a:t>HbA1c</a:t>
            </a:r>
            <a:r>
              <a:rPr lang="en-US" sz="1250" dirty="0">
                <a:solidFill>
                  <a:srgbClr val="1A1A1A"/>
                </a:solidFill>
                <a:latin typeface="Calibri" pitchFamily="34" charset="0"/>
                <a:ea typeface="Calibri" pitchFamily="34" charset="-122"/>
                <a:cs typeface="Calibri" pitchFamily="34" charset="-120"/>
              </a:rPr>
              <a:t> — dominant predictor (+0.47 AUPRC when removed)</a:t>
            </a:r>
            <a:endParaRPr lang="en-US" sz="1250" dirty="0"/>
          </a:p>
        </p:txBody>
      </p:sp>
      <p:sp>
        <p:nvSpPr>
          <p:cNvPr id="14" name="Text 11"/>
          <p:cNvSpPr txBox="1"/>
          <p:nvPr/>
        </p:nvSpPr>
        <p:spPr>
          <a:xfrm>
            <a:off x="7035265" y="5237384"/>
            <a:ext cx="4297680" cy="457200"/>
          </a:xfrm>
          <a:prstGeom prst="rect">
            <a:avLst/>
          </a:prstGeom>
          <a:noFill/>
          <a:ln/>
        </p:spPr>
        <p:txBody>
          <a:bodyPr wrap="square" lIns="0" tIns="0" rIns="0" bIns="0" rtlCol="0" anchor="ctr"/>
          <a:lstStyle/>
          <a:p>
            <a:pPr marL="342900" indent="-342900">
              <a:buSzPct val="100000"/>
              <a:buChar char="•"/>
            </a:pPr>
            <a:r>
              <a:rPr lang="en-US" sz="1250" b="1" dirty="0">
                <a:solidFill>
                  <a:srgbClr val="00A896"/>
                </a:solidFill>
                <a:latin typeface="Calibri" pitchFamily="34" charset="0"/>
                <a:ea typeface="Calibri" pitchFamily="34" charset="-122"/>
                <a:cs typeface="Calibri" pitchFamily="34" charset="-120"/>
              </a:rPr>
              <a:t>BMI</a:t>
            </a:r>
            <a:r>
              <a:rPr lang="en-US" sz="1250" dirty="0">
                <a:solidFill>
                  <a:srgbClr val="1A1A1A"/>
                </a:solidFill>
                <a:latin typeface="Calibri" pitchFamily="34" charset="0"/>
                <a:ea typeface="Calibri" pitchFamily="34" charset="-122"/>
                <a:cs typeface="Calibri" pitchFamily="34" charset="-120"/>
              </a:rPr>
              <a:t> — secondary signal (+0.13)</a:t>
            </a:r>
            <a:endParaRPr lang="en-US" sz="1250" dirty="0"/>
          </a:p>
        </p:txBody>
      </p:sp>
      <p:sp>
        <p:nvSpPr>
          <p:cNvPr id="15" name="Text 12"/>
          <p:cNvSpPr txBox="1"/>
          <p:nvPr/>
        </p:nvSpPr>
        <p:spPr>
          <a:xfrm>
            <a:off x="7035265" y="5740304"/>
            <a:ext cx="4297680" cy="457200"/>
          </a:xfrm>
          <a:prstGeom prst="rect">
            <a:avLst/>
          </a:prstGeom>
          <a:noFill/>
          <a:ln/>
        </p:spPr>
        <p:txBody>
          <a:bodyPr wrap="square" lIns="0" tIns="0" rIns="0" bIns="0" rtlCol="0" anchor="ctr"/>
          <a:lstStyle/>
          <a:p>
            <a:pPr marL="342900" indent="-342900">
              <a:buSzPct val="100000"/>
              <a:buChar char="•"/>
            </a:pPr>
            <a:r>
              <a:rPr lang="en-US" sz="1250" b="1" dirty="0">
                <a:solidFill>
                  <a:srgbClr val="02C39A"/>
                </a:solidFill>
                <a:latin typeface="Calibri" pitchFamily="34" charset="0"/>
                <a:ea typeface="Calibri" pitchFamily="34" charset="-122"/>
                <a:cs typeface="Calibri" pitchFamily="34" charset="-120"/>
              </a:rPr>
              <a:t>Remaining 37 features</a:t>
            </a:r>
            <a:r>
              <a:rPr lang="en-US" sz="1250" dirty="0">
                <a:solidFill>
                  <a:srgbClr val="1A1A1A"/>
                </a:solidFill>
                <a:latin typeface="Calibri" pitchFamily="34" charset="0"/>
                <a:ea typeface="Calibri" pitchFamily="34" charset="-122"/>
                <a:cs typeface="Calibri" pitchFamily="34" charset="-120"/>
              </a:rPr>
              <a:t> — small individual contributions each</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768E48-5A7E-0794-3654-AAEF455764BC}"/>
              </a:ext>
            </a:extLst>
          </p:cNvPr>
          <p:cNvPicPr>
            <a:picLocks noChangeAspect="1"/>
          </p:cNvPicPr>
          <p:nvPr/>
        </p:nvPicPr>
        <p:blipFill>
          <a:blip r:embed="rId2"/>
          <a:stretch>
            <a:fillRect/>
          </a:stretch>
        </p:blipFill>
        <p:spPr>
          <a:xfrm>
            <a:off x="518160" y="-46621"/>
            <a:ext cx="11673840" cy="6951241"/>
          </a:xfrm>
          <a:prstGeom prst="rect">
            <a:avLst/>
          </a:prstGeom>
        </p:spPr>
      </p:pic>
    </p:spTree>
    <p:extLst>
      <p:ext uri="{BB962C8B-B14F-4D97-AF65-F5344CB8AC3E}">
        <p14:creationId xmlns:p14="http://schemas.microsoft.com/office/powerpoint/2010/main" val="3581933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294</Words>
  <Application>Microsoft Office PowerPoint</Application>
  <PresentationFormat>Widescreen</PresentationFormat>
  <Paragraphs>14</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Cambria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Keijzer, K (onco)</cp:lastModifiedBy>
  <cp:revision>2</cp:revision>
  <dcterms:created xsi:type="dcterms:W3CDTF">2026-09-17T11:59:24Z</dcterms:created>
  <dcterms:modified xsi:type="dcterms:W3CDTF">2026-09-17T12:14:30Z</dcterms:modified>
</cp:coreProperties>
</file>