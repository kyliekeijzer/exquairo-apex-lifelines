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76" r:id="rId2"/>
    <p:sldId id="273" r:id="rId3"/>
    <p:sldId id="275" r:id="rId4"/>
    <p:sldId id="256" r:id="rId5"/>
    <p:sldId id="260" r:id="rId6"/>
    <p:sldId id="278" r:id="rId7"/>
    <p:sldId id="257" r:id="rId8"/>
    <p:sldId id="274" r:id="rId9"/>
    <p:sldId id="264" r:id="rId10"/>
    <p:sldId id="279" r:id="rId11"/>
    <p:sldId id="271" r:id="rId12"/>
    <p:sldId id="265" r:id="rId13"/>
    <p:sldId id="280" r:id="rId14"/>
    <p:sldId id="281" r:id="rId15"/>
    <p:sldId id="266" r:id="rId16"/>
    <p:sldId id="267" r:id="rId17"/>
    <p:sldId id="268" r:id="rId18"/>
    <p:sldId id="277" r:id="rId19"/>
    <p:sldId id="269" r:id="rId20"/>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08"/>
    <p:restoredTop sz="93093"/>
  </p:normalViewPr>
  <p:slideViewPr>
    <p:cSldViewPr snapToGrid="0">
      <p:cViewPr varScale="1">
        <p:scale>
          <a:sx n="102" d="100"/>
          <a:sy n="102" d="100"/>
        </p:scale>
        <p:origin x="880"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7T09:29:35.034"/>
    </inkml:context>
    <inkml:brush xml:id="br0">
      <inkml:brushProperty name="width" value="0.35" units="cm"/>
      <inkml:brushProperty name="height" value="0.35" units="cm"/>
      <inkml:brushProperty name="color" value="#DDF1FF"/>
    </inkml:brush>
  </inkml:definitions>
  <inkml:trace contextRef="#ctx0" brushRef="#br0">83 641 24575,'0'-53'0,"0"4"0,0 13 0,0 1 0,0 1 0,0 4 0,0 1 0,-5 2 0,0 0 0,-2-6 0,-3-5 0,-1-7 0,-1 1 0,2 3 0,3 11 0,1 13 0,1 7 0,1 7 0,20 43 0,14 23 0,-6-8 0,1 4 0,1 2 0,-1 1 0,-3-2 0,-1-3 0,11 33 0,-11-27 0,-8-30 0,-3-18 0,-2-8 0,10-6 0,17 0 0,17-1 0,17-3 0,5-1 0,-1-3 0,-3-3 0,1 2 0,-2 1 0,-2 4 0,-4 3 0,-8 0 0,-6 0 0,0 0 0,-3 0 0,0 0 0,0 0 0,-3 0 0,-4 0 0,-6 0 0,-4 0 0,-1-2 0,1-1 0,0-2 0,-2 0 0,-4 1 0,-5-2 0,-7-1 0,-10-11 0,-10-13 0,-7-14 0,-3-10 0,2 0 0,1 3 0,3 5 0,1 1 0,3 2 0,1-2 0,2 1 0,-1 8 0,2 7 0,1 11 0,1 9 0,-1 1 0,-1 4 0,-8-2 0,-9-1 0,-19-1 0,-8-2 0,-5 1 0,9 2 0,14 4 0,3 2 0,-2 2 0,-5 0 0,-5 2 0,5 3 0,6 1 0,5 2 0,3 1 0,1-2 0,2 1 0,5-4 0,-1-2 0,-11-1 0,-16-1 0,-27 0 0,-15 0 0,3 0 0,14 0 0,25 0 0,17 0 0,11 3 0,8 5 0,3 11 0,1 19 0,1 11 0,0 11 0,0-6 0,0-15 0,0-10 0,0-15 0,3-4 0,7-5 0,16-3 0,14-2 0,11 0 0,7 0 0,-1 0 0,0 0 0,0-2 0,-3-1 0,-2 0 0,-5 1 0,-4 2 0,-6 0 0,-4 0 0,-5 0 0,-5 0 0,-6 0 0,-2 0 0,-4 0 0,0-2 0,7-3 0,1 0 0,2-1 0,-2 1 0,-7 1 0,-5 2 0,-5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7T09:29:53.166"/>
    </inkml:context>
    <inkml:brush xml:id="br0">
      <inkml:brushProperty name="width" value="0.35" units="cm"/>
      <inkml:brushProperty name="height" value="0.35" units="cm"/>
      <inkml:brushProperty name="color" value="#DDF1FF"/>
    </inkml:brush>
  </inkml:definitions>
  <inkml:trace contextRef="#ctx0" brushRef="#br0">175 444 24575,'0'48'0,"0"2"0,0-9 0,0 2 0,0 0 0,0-5 0,0 12 0,0 4 0,0 8 0,0 3 0,0-6 0,1-2 0,3-3 0,4-1 0,4 2 0,2 4 0,0 7 0,-1 3 0,-5 0 0,-4-5 0,-2-9 0,-2-5 0,0-2 0,2 2 0,1 5 0,-1 2 0,1 2 0,-3 1 0,0-2 0,1 2 0,2-3 0,2-3 0,0-3 0,-2-4 0,1-1 0,-1 1 0,0 2 0,-1 2 0,-2 2 0,0 0 0,0-3 0,0-6 0,0-8 0,0-8 0,0-6 0,0-6 0,0-9 0,-3-46 0,-5 5 0,-6-35 0,-2 30 0,3 11 0,4 13 0,4 6 0,1 2 0,-1-9 0,-3-6 0,-5-17 0,-4-5 0,1 3 0,3 5 0,5 12 0,2 11 0,2 4 0,-1 3 0,-2-4 0,-7-8 0,-7-8 0,-3-7 0,0 0 0,6 7 0,7 7 0,6 8 0,3 2 0,2 1 0,0-4 0,-1-7 0,3-9 0,5-14 0,6-7 0,5 1 0,-1 7 0,-3 8 0,-3 0 0,-2-12 0,3-14 0,1-12 0,1-2 0,-1 6 0,-2 11 0,-4 9 0,-3 3 0,-2-5 0,-2-3 0,0 1 0,0 3 0,0 2 0,0 2 0,0 1 0,0 2 0,0 6 0,0 1 0,0-6 0,0-10 0,0-13 0,0-6 0,0 3 0,0 8 0,2 7 0,3 7 0,2 5 0,1 7 0,-4 11 0,-2 6 0,-2 4 0,0-7 0,2-10 0,3-19 0,5-15 0,2-3 0,1 5 0,0 19 0,-3 18 0,1 14 0,0 8 0,5 7 0,9 10 0,7 11 0,6 10 0,-3 1 0,-5-8 0,-11-7 0,-7-8 0,-6-3 0,-4-4 0,0 0 0,-1 1 0,1 3 0,2 8 0,3 7 0,2 7 0,1 2 0,-3-7 0,0-8 0,-1-6 0,1-2 0,4 2 0,2 2 0,1-4 0,3-5 0,11-5 0,11-3 0,10-2 0,1-4 0,-12-2 0,-16-1 0,-21 7 0,-52 32 0,-11 13 0,11-6 0,-2 2 0,9-4 0,1 0 0,1-1 0,0-1 0,-28 21 0,21-15 0,14-13 0,17-15 0,9-7 0,61-4 0,0 2 0,-1 1 0,3 0 0,29 6 0,0 2 0,-9-3 0,-7-3 0,-10-3 0,-11-2 0,-8 0 0,-6 0 0,-3 0 0,3 0 0,6 0 0,7 0 0,10 0 0,6 0 0,1 0 0,1 0 0,-2 0 0,-1 0 0,1-1 0,-1-3 0,-2-3 0,1-3 0,2-4 0,3-1 0,5 1 0,-1 0 0,-2 1 0,-6 1 0,-7 1 0,-3 0 0,-2 1 0,-1 2 0,-4 0 0,-4 3 0,-8 2 0,-5 1 0,-13 2 0,-10 0 0,-53 22 0,-10 5 0,12-5 0,-2 1 0,-31 17 0,12-4 0,13-6 0,12-5 0,8-5 0,11-5 0,7-5 0,6-5 0,3-1 0,-3 0 0,-4 3 0,-4 3 0,0 0 0,4-1 0,8-5 0,61-37 0,12 1 0,-4 0 0,6-2 0,-3 4 0,-1 2 0,1-1 0,-2 1 0,-2 0 0,-1 2 0,-6 3 0,-2 2 0,43-14 0,-13 8 0,-10 8 0,-11 7 0,-7 4 0,-1 3 0,-2 1 0,-3 0 0,-4 1 0,-3-1 0,-3-2 0,0-1 0,-2-3 0,-5 0 0,-5 2 0,-8 1 0,-5 3 0,-1 2 0,1 0 0,1 2 0,-1 0 0,4 0 0,5 0 0,4 0 0,1 0 0,-5 0 0,-7 1 0,-7 4 0,-5 4 0,-5 4 0,-2 0 0,-8 1 0,-7 0 0,-12 2 0,-13 3 0,-13 3 0,-8-1 0,6-2 0,11-7 0,15-5 0,7-6 0,1-1 0,0 0 0,4 0 0,1 0 0,-3 0 0,-7 0 0,-6 0 0,1 0 0,6 0 0,13-1 0,8-3 0,7-4 0,1-5 0,1-8 0,4-10 0,5-9 0,5-4 0,2 0 0,-4 6 0,-5 9 0,-4 10 0,-1 6 0,-2 0 0,-2-11 0,-6-12 0,-7-10 0,-7-1 0,-1 11 0,5 13 0,5 14 0,3 14 0,-9 21 0,-17 25 0,-24 25 0,23-32 0,-3 1 0,-1 0 0,0-2 0,4-4 0,1-3 0,-19 16 0,20-19 0,14-16 0,9-10 0,4-4 0,0-6 0,-3 1 0,-7-1 0,-15 0 0,-17 0 0,-11-2 0,3 0 0,12 2 0,17 1 0,14-2 0,5 0 0,-2-1 0,-8 2 0,-16 3 0,-16 0 0,-15-1 0,-3 1 0,4 4 0,11 2 0,12 3 0,4 3 0,4-2 0,0 0 0,-2 2 0,-1 0 0,-5 0 0,-1-1 0,3-4 0,2-2 0,6-3 0,6-2 0,7-2 0,7-4 0,4-8 0,3-10 0,-1-12 0,-1-8 0,-3-5 0,1 1 0,2 8 0,4 12 0,2 10 0,2 6 0,0 2 0,1 1 0,7-1 0,10 2 0,14-3 0,12 0 0,5-1 0,0 0 0,-3-1 0,-3-3 0,-3 1 0,0-3 0,-1 2 0,-6 2 0,-5 1 0,-9 4 0,-6 3 0,-3 2 0,-2 2 0,6 1 0,14 0 0,14 1 0,10 0 0,3 0 0,-6-1 0,-7-1 0,-7-2 0,-5 0 0,0 0 0,4 0 0,0 1 0,0 0 0,-6 1 0,-5 2 0,-2 3 0,1 4 0,-1 5 0,0 5 0,-5 4 0,2 28 0,-2 26 0,-2 18 0,-8-43 0,-2 0 0,-2 33 0,-2-5 0,0-3 0,0 2 0,0 7 0,0 4 0,0 6 0,0-2 0,-1-3 0,-4-4 0,-3-2 0,-3-1 0,-3-1 0,-2 0 0,-2 2 0,-5 2 0,-3 1 0,-2-3 0,0-7 0,2-9 0,0-6 0,1-9 0,0-8 0,3-7 0,5-10 0,4-8 0,6-6 0,1-6 0,0-4 0,-7-26 0,-9-19 0,-15-39 0,17 36 0,0-2 0,-20-44 0,10 20 0,11 24 0,7 22 0,4 14 0,-2 2 0,-8-4 0,-6-7 0,-3-4 0,2 3 0,8 5 0,5 4 0,5 3 0,2-5 0,-3-5 0,-2-11 0,-2-9 0,0-4 0,2 1 0,6 9 0,1 10 0,5 9 0,2 8 0,12 10 0,-4 3 0,5 5 0,-9-3 0,-3 7 0,2 15 0,4 22 0,-3 22 0,1 10 0,-3-5 0,-3-18 0,-1-21 0,-1-15 0,0-11 0,0-5 0,-9-5 0,-1-3 0,-16-4 0,-3-8 0,-11-11 0,-1-8 0,5-3 0,10 3 0,12 8 0,6 5 0,3 5 0,0 3 0,-4-4 0,-4-7 0,-6-8 0,-3-6 0,2 1 0,2 8 0,6 11 0,5 11 0,2 55 0,4 21 0,0-10 0,0 5 0,0 1 0,0 0 0,0-3 0,0-3 0,1-9 0,0-5 0,2 20 0,0-30 0,-1-21 0,-2-14 0,-15-52 0,-6-3 0,3 4 0,0-3 0,-18-27 0,4 5 0,4 9 0,3 13 0,2 8 0,6 7 0,2 10 0,3 8 0,3 9 0,0 5 0,0 2 0,-2 0 0,-4 0 0,0-2 0,1 0 0,4-2 0,5 14 0,3 13 0,2 31 0,0 23 0,0 13 0,0-4 0,0-15 0,0-23 0,0-17 0,-2-15 0,-2-10 0,-9-22 0,-11-17 0,-15-31 0,-4-15 0,-1-5 0,10 9 0,12 22 0,8 21 0,8 14 0,3 6 0,1 2 0,1 0 0,-2-1 0,1 0 0,-2 1 0,-1 3 0,-6 38 0,-2 7 0,-8 48 0,-1 10 0,10-42 0,0 2 0,-1 3 0,1 1 0,0-4 0,1-1 0,-8 39 0,4-17 0,4-19 0,1-11 0,-1-4 0,-2 0 0,-3 2 0,-3-4 0,1-6 0,4-8 0,2-10 0,3-7 0,3-3 0,2 9 0,2 20 0,1 22 0,1 11 0,0-4 0,0-15 0,0-16 0,0-12 0,0-6 0,0 2 0,0 12 0,2 12 0,2 11 0,1-3 0,2-9 0,-2-12 0,-2-13 0,-1-6 0,-2-2 0,2 7 0,1 19 0,2 20 0,1 15 0,-3 0 0,2-15 0,-3-17 0,0-13 0,0 6 0,-2 15 0,0 19 0,0 11 0,0 9 0,0 6 0,-2 0 0,-1-2 0,-1-12 0,2-14 0,2-16 0,0-13 0,0-11 0,0-5 0,0-3 0,0-2 0,0-3 0,0 1 0,0 3 0,0 5 0,0 2 0,0 1 0,2-5 0,2-6 0,6-6 0,7-4 0,10 0 0,8 0 0,16 0 0,14 7 0,10 12 0,4 9 0,-9 8 0,-14-5 0,-14-6 0,-10-7 0,-5-8 0,0-4 0,1-6 0,2 0 0,-2 0 0,3 0 0,5-4 0,8-7 0,5-9 0,5-5 0,-3 0 0,-1 2 0,0 2 0,5-1 0,13-3 0,11-3 0,15-3 0,-46 14 0,1 0 0,44-15 0,-11 2 0,-16 5 0,-10 3 0,-7 2 0,0 0 0,3 2 0,1 4 0,-4 2 0,-9 5 0,-5 3 0,0 2 0,6 2 0,5 0 0,5 0 0,-2 0 0,-3 0 0,-3 0 0,-1 0 0,3 0 0,1 0 0,2 0 0,-1 0 0,-2 0 0,-4 0 0,-4 0 0,-2 0 0,-1 0 0,3-1 0,1-3 0,-2-3 0,-5 0 0,-7-1 0,-8 4 0,-3 1 0,0-1 0,1-1 0,4-2 0,-2-1 0,-3 2 0,-3 0 0,-5 0 0,2-13 0,11-25 0,18-29 0,-11 22 0,0-4 0,2-5 0,-2-1 0,-2 4 0,-4 2 0,7-39 0,-14 27 0,-7 24 0,-6 17 0,-2 13 0,-3 7 0,-2 5 0,-2-1 0,-2 1 0,-2 1 0,-5 1 0,-7 4 0,-10 3 0,-9 7 0,-7 3 0,-9 3 0,-8 1 0,-8-2 0,-8-1 0,-2-3 0,1-2 0,7-1 0,4 0 0,5 0 0,1 1 0,0-4 0,3-2 0,-1-3 0,-2-2 0,-1-1 0,-3-2 0,2 0 0,-2 0 0,-3 0 0,3 0 0,7 0 0,12 0 0,12 0 0,-3 0 0,-17 5 0,-23 7 0,-10 6 0,6 5 0,20-4 0,19-6 0,-2-3 0,-17 2 0,-24 6 0,41-6 0,0-1 0,-42 10 0,22-6 0,30-8 0,18-5 0,11-2 0,7 0 0,1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7T09:30:00.399"/>
    </inkml:context>
    <inkml:brush xml:id="br0">
      <inkml:brushProperty name="width" value="0.35" units="cm"/>
      <inkml:brushProperty name="height" value="0.35" units="cm"/>
      <inkml:brushProperty name="color" value="#DDF1FF"/>
    </inkml:brush>
  </inkml:definitions>
  <inkml:trace contextRef="#ctx0" brushRef="#br0">1 260 24575,'0'78'0,"0"17"0,0-38 0,0 2 0,0 5 0,0 1 0,0 0 0,0 0 0,0-1 0,0 2 0,0 9 0,0 2 0,0-4 0,0-2 0,0-6 0,0-2 0,0-8 0,0-2 0,1 19 0,4-7 0,0-8 0,2-15 0,-2-13 0,-1-7 0,2-5 0,0 7 0,3 13 0,1 18 0,4 14 0,1-2 0,-2-10 0,-3-17 0,-3-16 0,-2-9 0,0-6 0,0 0 0,-1 2 0,0 2 0,2-2 0,0-5 0,5-4 0,-3-2 0,4 0 0,0-3 0,8-4 0,16-7 0,13-4 0,11-2 0,0 2 0,-7 1 0,-6 6 0,-7 1 0,-5 6 0,-7 1 0,-6 1 0,-6 2 0,-5 0 0,-2 0 0,2 0 0,8 0 0,12 0 0,9 0 0,8 0 0,1 0 0,1-2 0,3-6 0,3-5 0,8-6 0,5-3 0,0 3 0,-2 0 0,-5-1 0,-5 1 0,-4 0 0,1 0 0,2 0 0,1 2 0,0 0 0,-3 1 0,-3 4 0,-6 1 0,-3 4 0,1 4 0,-1-2 0,7 2 0,4 0 0,0-2 0,-1 0 0,-8 0 0,-6 1 0,-1 0 0,2 1 0,3 0 0,1 1 0,1 2 0,1 0 0,3 0 0,5 0 0,-1 0 0,-8 0 0,-13 0 0,-15 0 0,-88-6 0,-22 5 0,33-1 0,-9 0 0,0 1 0,1 0 0,-1 1 0,-3 1 0,-13-1 0,-4 0 0,1 0-170,3-1 0,0 1 0,2 1 170,10-1 0,2 1 0,3 0 0,-20 1 0,8 2 0,26-1 0,5 1 0,-40 4 0,14-1 0,11-1 0,11 0 510,12-1-510,10-2 0,11-1 0,9-2 0,3 0 0,2 0 0,-4 0 0,-5 0 0,-13 0 0,-6-5 0,-8-7 0,3-11 0,8-11 0,2-13 0,2-13 0,-2-15 0,-2-9 0,4 2 0,4 8 0,5 14 0,3 11 0,0 5 0,1 0 0,0 0 0,0 2 0,1 10 0,4 9 0,2 9 0,-1 0 0,-5-9 0,-6-9 0,-4-10 0,3 3 0,4 6 0,5 9 0,5 8 0,1-1 0,1-5 0,2-10 0,1-10 0,2-11 0,0-5 0,0 5 0,0 9 0,0 16 0,0 10 0,0 6 0,2 3 0,3-7 0,5-10 0,5-11 0,0-7 0,-2 6 0,-4 12 0,-3 11 0,-1 9 0,3 4 0,9 2 0,15 0 0,19 0 0,38 0 0,-38 0 0,1-1 0,0-1 0,-1-3 0,41-9 0,-30-6 0,-14-2 0,-11 5 0,-11 5 0,-8 5 0,-6 3 0,-3 0 0,6 0 0,6-3 0,6-2 0,1 1 0,-4 3 0,-3 2 0,-3 6 0,1 7 0,-1 6 0,-2 7 0,-1 5 0,-1 8 0,2 11 0,3 9 0,1 3 0,-3-9 0,-6-12 0,-5-12 0,-2-7 0,-2 2 0,2 6 0,0 4 0,1 3 0,0-4 0,-3-6 0,0 0 0,-2 9 0,0 12 0,-1 13 0,-3 4 0,-1-12 0,-2-12 0,1-15 0,3-9 0,0-5 0,-3-5 0,-11-2 0,-14-2 0,-25 0 0,-18 0 0,-13 0 0,3 0 0,10 0 0,15 0 0,13 0 0,11-3 0,12-1 0,9-3 0,6-1 0,3 0 0,2 0 0,-1-2 0,2-1 0,-4-4 0,-2-5 0,-5-7 0,-3-6 0,1 0 0,0 3 0,5 5 0,3 7 0,4 4 0,3 1 0,0-4 0,0-6 0,0-1 0,0 1 0,0 5 0,0 5 0,5 4 0,4 4 0,8 0 0,3 3 0,12-5 0,8-3 0,4-1 0,-4 1 0,-12 5 0,-9 3 0,-7 2 0,-1 0 0,3 0 0,5 4 0,6 5 0,1 5 0,-3 5 0,-6-1 0,-7-2 0,-4-1 0,-5-4 0,-1 0 0,0 0 0,0-3 0,0 4 0,0-5 0,0 4 0,0 1 0,0-1 0,0-2 0,0-5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E8B2EA-DDC4-A94A-B3BD-C2F93B754849}" type="datetimeFigureOut">
              <a:rPr lang="nl-NL" smtClean="0"/>
              <a:t>17-09-2026</a:t>
            </a:fld>
            <a:endParaRPr lang="nl-NL"/>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22FF51-4697-2C45-86DF-3DC732DDBFCF}" type="slidenum">
              <a:rPr lang="nl-NL" smtClean="0"/>
              <a:t>‹nr.›</a:t>
            </a:fld>
            <a:endParaRPr lang="nl-NL"/>
          </a:p>
        </p:txBody>
      </p:sp>
    </p:spTree>
    <p:extLst>
      <p:ext uri="{BB962C8B-B14F-4D97-AF65-F5344CB8AC3E}">
        <p14:creationId xmlns:p14="http://schemas.microsoft.com/office/powerpoint/2010/main" val="23570305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Horizontaal overzicht, links naar rechts. Overleg 1 is de startpoort met de afspraken (contracten). Daarna lopen preprocessing (teal) en EDA (blauw) simultaan. Bij Overleg 2 komen ze samen in een beslismoment. Daarna modelleren B en C parallel op respectievelijk geschaalde en ongeschaalde data. Overleg 3 checkt de vergelijkbaarheid, waarna het team samen afrondt.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small, regularized multilayer perceptron trained on baseline (T1) clinical, anthropometric, and lifestyle measurements predicts diabetes by the T2 visit with an AUROC of 0.95 (95% CI: 0.90–0.99) and AUPRC of 0.51 (95% CI: 0.35–0.67), a roughly 50-fold improvement over the 1% base rate. Permutation importance shows this performance is driven predominantly by baseline HbA1c, with BMI contributing a smaller but meaningful secondary signal and the remaining 37 features each adding marginal information; a single-variable HbA1c model alone already achieves an AUPRC </a:t>
            </a:r>
            <a:r>
              <a:rPr lang="en-US"/>
              <a:t>of 0.41, </a:t>
            </a:r>
            <a:r>
              <a:rPr lang="en-US" dirty="0"/>
              <a:t>indicating that the network's added value over a simple clinical threshold rule is real but modest. Given only 32 incident cases in the test set, these estimates carry substantial sampling uncertainty, and any comparison to classical machine learning approaches trained on the same split should be interpreted with that uncertainty in mind rather than as a precise ranking.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C8043D6-EB05-C849-9FEE-ECB840D3FB9E}"/>
              </a:ext>
            </a:extLst>
          </p:cNvPr>
          <p:cNvSpPr>
            <a:spLocks noGrp="1"/>
          </p:cNvSpPr>
          <p:nvPr>
            <p:ph type="ctrTitle"/>
          </p:nvPr>
        </p:nvSpPr>
        <p:spPr>
          <a:xfrm>
            <a:off x="1524000" y="1122363"/>
            <a:ext cx="9144000" cy="2387600"/>
          </a:xfrm>
        </p:spPr>
        <p:txBody>
          <a:bodyPr anchor="b"/>
          <a:lstStyle>
            <a:lvl1pPr algn="ctr">
              <a:defRPr sz="6000"/>
            </a:lvl1pPr>
          </a:lstStyle>
          <a:p>
            <a:r>
              <a:rPr lang="nl-NL"/>
              <a:t>Klik om stijl te bewerken</a:t>
            </a:r>
          </a:p>
        </p:txBody>
      </p:sp>
      <p:sp>
        <p:nvSpPr>
          <p:cNvPr id="3" name="Ondertitel 2">
            <a:extLst>
              <a:ext uri="{FF2B5EF4-FFF2-40B4-BE49-F238E27FC236}">
                <a16:creationId xmlns:a16="http://schemas.microsoft.com/office/drawing/2014/main" id="{757B15CC-C4E9-0ACC-397E-4F650423613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Klikken om de ondertitelstijl van het model te bewerken</a:t>
            </a:r>
          </a:p>
        </p:txBody>
      </p:sp>
      <p:sp>
        <p:nvSpPr>
          <p:cNvPr id="4" name="Tijdelijke aanduiding voor datum 3">
            <a:extLst>
              <a:ext uri="{FF2B5EF4-FFF2-40B4-BE49-F238E27FC236}">
                <a16:creationId xmlns:a16="http://schemas.microsoft.com/office/drawing/2014/main" id="{530ADBDD-8574-A4F1-A688-4F6D8B6F41D6}"/>
              </a:ext>
            </a:extLst>
          </p:cNvPr>
          <p:cNvSpPr>
            <a:spLocks noGrp="1"/>
          </p:cNvSpPr>
          <p:nvPr>
            <p:ph type="dt" sz="half" idx="10"/>
          </p:nvPr>
        </p:nvSpPr>
        <p:spPr/>
        <p:txBody>
          <a:bodyPr/>
          <a:lstStyle/>
          <a:p>
            <a:fld id="{EE2C724D-DEAC-5A4D-82CF-B20B47CD684C}" type="datetimeFigureOut">
              <a:rPr lang="nl-NL" smtClean="0"/>
              <a:t>16-09-2026</a:t>
            </a:fld>
            <a:endParaRPr lang="nl-NL"/>
          </a:p>
        </p:txBody>
      </p:sp>
      <p:sp>
        <p:nvSpPr>
          <p:cNvPr id="5" name="Tijdelijke aanduiding voor voettekst 4">
            <a:extLst>
              <a:ext uri="{FF2B5EF4-FFF2-40B4-BE49-F238E27FC236}">
                <a16:creationId xmlns:a16="http://schemas.microsoft.com/office/drawing/2014/main" id="{36A82242-9003-0BEB-EC27-8CA8E5776ADF}"/>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E2AF98A7-A2F1-0CCE-7A82-A61F61C2B966}"/>
              </a:ext>
            </a:extLst>
          </p:cNvPr>
          <p:cNvSpPr>
            <a:spLocks noGrp="1"/>
          </p:cNvSpPr>
          <p:nvPr>
            <p:ph type="sldNum" sz="quarter" idx="12"/>
          </p:nvPr>
        </p:nvSpPr>
        <p:spPr/>
        <p:txBody>
          <a:bodyPr/>
          <a:lstStyle/>
          <a:p>
            <a:fld id="{0FD0B0D3-0195-7147-8344-3306E8FC4C6A}" type="slidenum">
              <a:rPr lang="nl-NL" smtClean="0"/>
              <a:t>‹nr.›</a:t>
            </a:fld>
            <a:endParaRPr lang="nl-NL"/>
          </a:p>
        </p:txBody>
      </p:sp>
    </p:spTree>
    <p:extLst>
      <p:ext uri="{BB962C8B-B14F-4D97-AF65-F5344CB8AC3E}">
        <p14:creationId xmlns:p14="http://schemas.microsoft.com/office/powerpoint/2010/main" val="39097180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281F2E2-FB35-77D5-1C9F-E173171D01C7}"/>
              </a:ext>
            </a:extLst>
          </p:cNvPr>
          <p:cNvSpPr>
            <a:spLocks noGrp="1"/>
          </p:cNvSpPr>
          <p:nvPr>
            <p:ph type="title"/>
          </p:nvPr>
        </p:nvSpPr>
        <p:spPr/>
        <p:txBody>
          <a:bodyPr/>
          <a:lstStyle/>
          <a:p>
            <a:r>
              <a:rPr lang="nl-NL"/>
              <a:t>Klik om stijl te bewerken</a:t>
            </a:r>
          </a:p>
        </p:txBody>
      </p:sp>
      <p:sp>
        <p:nvSpPr>
          <p:cNvPr id="3" name="Tijdelijke aanduiding voor inhoud 2">
            <a:extLst>
              <a:ext uri="{FF2B5EF4-FFF2-40B4-BE49-F238E27FC236}">
                <a16:creationId xmlns:a16="http://schemas.microsoft.com/office/drawing/2014/main" id="{93DB899E-1AF2-AB91-1507-4D245D60B8E1}"/>
              </a:ext>
            </a:extLst>
          </p:cNvPr>
          <p:cNvSpPr>
            <a:spLocks noGrp="1"/>
          </p:cNvSpPr>
          <p:nvPr>
            <p:ph idx="1"/>
          </p:nvPr>
        </p:nvSpPr>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0AF4366E-2617-511D-E142-787D108C47FC}"/>
              </a:ext>
            </a:extLst>
          </p:cNvPr>
          <p:cNvSpPr>
            <a:spLocks noGrp="1"/>
          </p:cNvSpPr>
          <p:nvPr>
            <p:ph type="dt" sz="half" idx="10"/>
          </p:nvPr>
        </p:nvSpPr>
        <p:spPr/>
        <p:txBody>
          <a:bodyPr/>
          <a:lstStyle/>
          <a:p>
            <a:fld id="{EE2C724D-DEAC-5A4D-82CF-B20B47CD684C}" type="datetimeFigureOut">
              <a:rPr lang="nl-NL" smtClean="0"/>
              <a:t>16-09-2026</a:t>
            </a:fld>
            <a:endParaRPr lang="nl-NL"/>
          </a:p>
        </p:txBody>
      </p:sp>
      <p:sp>
        <p:nvSpPr>
          <p:cNvPr id="5" name="Tijdelijke aanduiding voor voettekst 4">
            <a:extLst>
              <a:ext uri="{FF2B5EF4-FFF2-40B4-BE49-F238E27FC236}">
                <a16:creationId xmlns:a16="http://schemas.microsoft.com/office/drawing/2014/main" id="{11492E98-9FA5-99B0-9CB4-66F0A599DBF3}"/>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AC8BC34A-3867-E1C7-910F-2DC80C518D78}"/>
              </a:ext>
            </a:extLst>
          </p:cNvPr>
          <p:cNvSpPr>
            <a:spLocks noGrp="1"/>
          </p:cNvSpPr>
          <p:nvPr>
            <p:ph type="sldNum" sz="quarter" idx="12"/>
          </p:nvPr>
        </p:nvSpPr>
        <p:spPr/>
        <p:txBody>
          <a:bodyPr/>
          <a:lstStyle/>
          <a:p>
            <a:fld id="{0FD0B0D3-0195-7147-8344-3306E8FC4C6A}" type="slidenum">
              <a:rPr lang="nl-NL" smtClean="0"/>
              <a:t>‹nr.›</a:t>
            </a:fld>
            <a:endParaRPr lang="nl-NL"/>
          </a:p>
        </p:txBody>
      </p:sp>
    </p:spTree>
    <p:extLst>
      <p:ext uri="{BB962C8B-B14F-4D97-AF65-F5344CB8AC3E}">
        <p14:creationId xmlns:p14="http://schemas.microsoft.com/office/powerpoint/2010/main" val="30672512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363D316-A6AE-8FA6-36CE-D17E7A22C6A3}"/>
              </a:ext>
            </a:extLst>
          </p:cNvPr>
          <p:cNvSpPr>
            <a:spLocks noGrp="1"/>
          </p:cNvSpPr>
          <p:nvPr>
            <p:ph type="title"/>
          </p:nvPr>
        </p:nvSpPr>
        <p:spPr>
          <a:xfrm>
            <a:off x="831850" y="1709738"/>
            <a:ext cx="10515600" cy="2852737"/>
          </a:xfrm>
        </p:spPr>
        <p:txBody>
          <a:bodyPr anchor="b"/>
          <a:lstStyle>
            <a:lvl1pPr>
              <a:defRPr sz="6000"/>
            </a:lvl1pPr>
          </a:lstStyle>
          <a:p>
            <a:r>
              <a:rPr lang="nl-NL"/>
              <a:t>Klik om stijl te bewerken</a:t>
            </a:r>
          </a:p>
        </p:txBody>
      </p:sp>
      <p:sp>
        <p:nvSpPr>
          <p:cNvPr id="3" name="Tijdelijke aanduiding voor tekst 2">
            <a:extLst>
              <a:ext uri="{FF2B5EF4-FFF2-40B4-BE49-F238E27FC236}">
                <a16:creationId xmlns:a16="http://schemas.microsoft.com/office/drawing/2014/main" id="{2F96687E-3E48-46B1-2FAB-F9C0AB7C950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nl-NL"/>
              <a:t>Klikken om de tekststijl van het model te bewerken</a:t>
            </a:r>
          </a:p>
        </p:txBody>
      </p:sp>
      <p:sp>
        <p:nvSpPr>
          <p:cNvPr id="4" name="Tijdelijke aanduiding voor datum 3">
            <a:extLst>
              <a:ext uri="{FF2B5EF4-FFF2-40B4-BE49-F238E27FC236}">
                <a16:creationId xmlns:a16="http://schemas.microsoft.com/office/drawing/2014/main" id="{51AFCE4A-955B-DCDA-E240-A7023F0106D5}"/>
              </a:ext>
            </a:extLst>
          </p:cNvPr>
          <p:cNvSpPr>
            <a:spLocks noGrp="1"/>
          </p:cNvSpPr>
          <p:nvPr>
            <p:ph type="dt" sz="half" idx="10"/>
          </p:nvPr>
        </p:nvSpPr>
        <p:spPr/>
        <p:txBody>
          <a:bodyPr/>
          <a:lstStyle/>
          <a:p>
            <a:fld id="{EE2C724D-DEAC-5A4D-82CF-B20B47CD684C}" type="datetimeFigureOut">
              <a:rPr lang="nl-NL" smtClean="0"/>
              <a:t>16-09-2026</a:t>
            </a:fld>
            <a:endParaRPr lang="nl-NL"/>
          </a:p>
        </p:txBody>
      </p:sp>
      <p:sp>
        <p:nvSpPr>
          <p:cNvPr id="5" name="Tijdelijke aanduiding voor voettekst 4">
            <a:extLst>
              <a:ext uri="{FF2B5EF4-FFF2-40B4-BE49-F238E27FC236}">
                <a16:creationId xmlns:a16="http://schemas.microsoft.com/office/drawing/2014/main" id="{85438E42-DB50-A70B-55C7-3870CFE641C0}"/>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44B93A5D-A11D-9A39-0ECC-066EBC5E5546}"/>
              </a:ext>
            </a:extLst>
          </p:cNvPr>
          <p:cNvSpPr>
            <a:spLocks noGrp="1"/>
          </p:cNvSpPr>
          <p:nvPr>
            <p:ph type="sldNum" sz="quarter" idx="12"/>
          </p:nvPr>
        </p:nvSpPr>
        <p:spPr/>
        <p:txBody>
          <a:bodyPr/>
          <a:lstStyle/>
          <a:p>
            <a:fld id="{0FD0B0D3-0195-7147-8344-3306E8FC4C6A}" type="slidenum">
              <a:rPr lang="nl-NL" smtClean="0"/>
              <a:t>‹nr.›</a:t>
            </a:fld>
            <a:endParaRPr lang="nl-NL"/>
          </a:p>
        </p:txBody>
      </p:sp>
    </p:spTree>
    <p:extLst>
      <p:ext uri="{BB962C8B-B14F-4D97-AF65-F5344CB8AC3E}">
        <p14:creationId xmlns:p14="http://schemas.microsoft.com/office/powerpoint/2010/main" val="30304360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BADE895-1E90-C5BE-1C90-60F89C98BDE8}"/>
              </a:ext>
            </a:extLst>
          </p:cNvPr>
          <p:cNvSpPr>
            <a:spLocks noGrp="1"/>
          </p:cNvSpPr>
          <p:nvPr>
            <p:ph type="title"/>
          </p:nvPr>
        </p:nvSpPr>
        <p:spPr/>
        <p:txBody>
          <a:bodyPr/>
          <a:lstStyle/>
          <a:p>
            <a:r>
              <a:rPr lang="nl-NL"/>
              <a:t>Klik om stijl te bewerken</a:t>
            </a:r>
          </a:p>
        </p:txBody>
      </p:sp>
      <p:sp>
        <p:nvSpPr>
          <p:cNvPr id="3" name="Tijdelijke aanduiding voor inhoud 2">
            <a:extLst>
              <a:ext uri="{FF2B5EF4-FFF2-40B4-BE49-F238E27FC236}">
                <a16:creationId xmlns:a16="http://schemas.microsoft.com/office/drawing/2014/main" id="{C4E229DE-1A58-7507-B516-376499929BE6}"/>
              </a:ext>
            </a:extLst>
          </p:cNvPr>
          <p:cNvSpPr>
            <a:spLocks noGrp="1"/>
          </p:cNvSpPr>
          <p:nvPr>
            <p:ph sz="half" idx="1"/>
          </p:nvPr>
        </p:nvSpPr>
        <p:spPr>
          <a:xfrm>
            <a:off x="838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inhoud 3">
            <a:extLst>
              <a:ext uri="{FF2B5EF4-FFF2-40B4-BE49-F238E27FC236}">
                <a16:creationId xmlns:a16="http://schemas.microsoft.com/office/drawing/2014/main" id="{865526CF-DC60-7474-8FC0-5192ECA8FA8E}"/>
              </a:ext>
            </a:extLst>
          </p:cNvPr>
          <p:cNvSpPr>
            <a:spLocks noGrp="1"/>
          </p:cNvSpPr>
          <p:nvPr>
            <p:ph sz="half" idx="2"/>
          </p:nvPr>
        </p:nvSpPr>
        <p:spPr>
          <a:xfrm>
            <a:off x="6172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datum 4">
            <a:extLst>
              <a:ext uri="{FF2B5EF4-FFF2-40B4-BE49-F238E27FC236}">
                <a16:creationId xmlns:a16="http://schemas.microsoft.com/office/drawing/2014/main" id="{BBFD5D6D-546E-1083-4ADE-70471A7FEFF5}"/>
              </a:ext>
            </a:extLst>
          </p:cNvPr>
          <p:cNvSpPr>
            <a:spLocks noGrp="1"/>
          </p:cNvSpPr>
          <p:nvPr>
            <p:ph type="dt" sz="half" idx="10"/>
          </p:nvPr>
        </p:nvSpPr>
        <p:spPr/>
        <p:txBody>
          <a:bodyPr/>
          <a:lstStyle/>
          <a:p>
            <a:fld id="{EE2C724D-DEAC-5A4D-82CF-B20B47CD684C}" type="datetimeFigureOut">
              <a:rPr lang="nl-NL" smtClean="0"/>
              <a:t>16-09-2026</a:t>
            </a:fld>
            <a:endParaRPr lang="nl-NL"/>
          </a:p>
        </p:txBody>
      </p:sp>
      <p:sp>
        <p:nvSpPr>
          <p:cNvPr id="6" name="Tijdelijke aanduiding voor voettekst 5">
            <a:extLst>
              <a:ext uri="{FF2B5EF4-FFF2-40B4-BE49-F238E27FC236}">
                <a16:creationId xmlns:a16="http://schemas.microsoft.com/office/drawing/2014/main" id="{9C28750C-1D67-9F6C-932E-8AFAB45F00B0}"/>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67114882-F897-4594-40D1-EB195875B8A0}"/>
              </a:ext>
            </a:extLst>
          </p:cNvPr>
          <p:cNvSpPr>
            <a:spLocks noGrp="1"/>
          </p:cNvSpPr>
          <p:nvPr>
            <p:ph type="sldNum" sz="quarter" idx="12"/>
          </p:nvPr>
        </p:nvSpPr>
        <p:spPr/>
        <p:txBody>
          <a:bodyPr/>
          <a:lstStyle/>
          <a:p>
            <a:fld id="{0FD0B0D3-0195-7147-8344-3306E8FC4C6A}" type="slidenum">
              <a:rPr lang="nl-NL" smtClean="0"/>
              <a:t>‹nr.›</a:t>
            </a:fld>
            <a:endParaRPr lang="nl-NL"/>
          </a:p>
        </p:txBody>
      </p:sp>
    </p:spTree>
    <p:extLst>
      <p:ext uri="{BB962C8B-B14F-4D97-AF65-F5344CB8AC3E}">
        <p14:creationId xmlns:p14="http://schemas.microsoft.com/office/powerpoint/2010/main" val="6868811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568B680-B4CC-818B-986A-AFC2C2EFC117}"/>
              </a:ext>
            </a:extLst>
          </p:cNvPr>
          <p:cNvSpPr>
            <a:spLocks noGrp="1"/>
          </p:cNvSpPr>
          <p:nvPr>
            <p:ph type="title"/>
          </p:nvPr>
        </p:nvSpPr>
        <p:spPr>
          <a:xfrm>
            <a:off x="839788" y="365125"/>
            <a:ext cx="10515600" cy="1325563"/>
          </a:xfrm>
        </p:spPr>
        <p:txBody>
          <a:bodyPr/>
          <a:lstStyle/>
          <a:p>
            <a:r>
              <a:rPr lang="nl-NL"/>
              <a:t>Klik om stijl te bewerken</a:t>
            </a:r>
          </a:p>
        </p:txBody>
      </p:sp>
      <p:sp>
        <p:nvSpPr>
          <p:cNvPr id="3" name="Tijdelijke aanduiding voor tekst 2">
            <a:extLst>
              <a:ext uri="{FF2B5EF4-FFF2-40B4-BE49-F238E27FC236}">
                <a16:creationId xmlns:a16="http://schemas.microsoft.com/office/drawing/2014/main" id="{4C90C0D5-D64F-BEB2-721E-E411DDAF01C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4" name="Tijdelijke aanduiding voor inhoud 3">
            <a:extLst>
              <a:ext uri="{FF2B5EF4-FFF2-40B4-BE49-F238E27FC236}">
                <a16:creationId xmlns:a16="http://schemas.microsoft.com/office/drawing/2014/main" id="{B1ADBF31-51F5-8AF7-BFFD-5C40A9D82D41}"/>
              </a:ext>
            </a:extLst>
          </p:cNvPr>
          <p:cNvSpPr>
            <a:spLocks noGrp="1"/>
          </p:cNvSpPr>
          <p:nvPr>
            <p:ph sz="half" idx="2"/>
          </p:nvPr>
        </p:nvSpPr>
        <p:spPr>
          <a:xfrm>
            <a:off x="839788" y="2505075"/>
            <a:ext cx="5157787"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tekst 4">
            <a:extLst>
              <a:ext uri="{FF2B5EF4-FFF2-40B4-BE49-F238E27FC236}">
                <a16:creationId xmlns:a16="http://schemas.microsoft.com/office/drawing/2014/main" id="{4E578935-B471-E899-41A5-A0D7D2641DA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6" name="Tijdelijke aanduiding voor inhoud 5">
            <a:extLst>
              <a:ext uri="{FF2B5EF4-FFF2-40B4-BE49-F238E27FC236}">
                <a16:creationId xmlns:a16="http://schemas.microsoft.com/office/drawing/2014/main" id="{8CD382E3-8B52-256C-3D6C-640409BE6CCF}"/>
              </a:ext>
            </a:extLst>
          </p:cNvPr>
          <p:cNvSpPr>
            <a:spLocks noGrp="1"/>
          </p:cNvSpPr>
          <p:nvPr>
            <p:ph sz="quarter" idx="4"/>
          </p:nvPr>
        </p:nvSpPr>
        <p:spPr>
          <a:xfrm>
            <a:off x="6172200" y="2505075"/>
            <a:ext cx="5183188"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7" name="Tijdelijke aanduiding voor datum 6">
            <a:extLst>
              <a:ext uri="{FF2B5EF4-FFF2-40B4-BE49-F238E27FC236}">
                <a16:creationId xmlns:a16="http://schemas.microsoft.com/office/drawing/2014/main" id="{8A0767D9-722E-E3F5-C314-27A87560B1F6}"/>
              </a:ext>
            </a:extLst>
          </p:cNvPr>
          <p:cNvSpPr>
            <a:spLocks noGrp="1"/>
          </p:cNvSpPr>
          <p:nvPr>
            <p:ph type="dt" sz="half" idx="10"/>
          </p:nvPr>
        </p:nvSpPr>
        <p:spPr/>
        <p:txBody>
          <a:bodyPr/>
          <a:lstStyle/>
          <a:p>
            <a:fld id="{EE2C724D-DEAC-5A4D-82CF-B20B47CD684C}" type="datetimeFigureOut">
              <a:rPr lang="nl-NL" smtClean="0"/>
              <a:t>16-09-2026</a:t>
            </a:fld>
            <a:endParaRPr lang="nl-NL"/>
          </a:p>
        </p:txBody>
      </p:sp>
      <p:sp>
        <p:nvSpPr>
          <p:cNvPr id="8" name="Tijdelijke aanduiding voor voettekst 7">
            <a:extLst>
              <a:ext uri="{FF2B5EF4-FFF2-40B4-BE49-F238E27FC236}">
                <a16:creationId xmlns:a16="http://schemas.microsoft.com/office/drawing/2014/main" id="{F73905C2-5667-9613-5B19-FCFBAE733628}"/>
              </a:ext>
            </a:extLst>
          </p:cNvPr>
          <p:cNvSpPr>
            <a:spLocks noGrp="1"/>
          </p:cNvSpPr>
          <p:nvPr>
            <p:ph type="ftr" sz="quarter" idx="11"/>
          </p:nvPr>
        </p:nvSpPr>
        <p:spPr/>
        <p:txBody>
          <a:bodyPr/>
          <a:lstStyle/>
          <a:p>
            <a:endParaRPr lang="nl-NL"/>
          </a:p>
        </p:txBody>
      </p:sp>
      <p:sp>
        <p:nvSpPr>
          <p:cNvPr id="9" name="Tijdelijke aanduiding voor dianummer 8">
            <a:extLst>
              <a:ext uri="{FF2B5EF4-FFF2-40B4-BE49-F238E27FC236}">
                <a16:creationId xmlns:a16="http://schemas.microsoft.com/office/drawing/2014/main" id="{97889726-4972-E974-6755-F71BCBF26A63}"/>
              </a:ext>
            </a:extLst>
          </p:cNvPr>
          <p:cNvSpPr>
            <a:spLocks noGrp="1"/>
          </p:cNvSpPr>
          <p:nvPr>
            <p:ph type="sldNum" sz="quarter" idx="12"/>
          </p:nvPr>
        </p:nvSpPr>
        <p:spPr/>
        <p:txBody>
          <a:bodyPr/>
          <a:lstStyle/>
          <a:p>
            <a:fld id="{0FD0B0D3-0195-7147-8344-3306E8FC4C6A}" type="slidenum">
              <a:rPr lang="nl-NL" smtClean="0"/>
              <a:t>‹nr.›</a:t>
            </a:fld>
            <a:endParaRPr lang="nl-NL"/>
          </a:p>
        </p:txBody>
      </p:sp>
    </p:spTree>
    <p:extLst>
      <p:ext uri="{BB962C8B-B14F-4D97-AF65-F5344CB8AC3E}">
        <p14:creationId xmlns:p14="http://schemas.microsoft.com/office/powerpoint/2010/main" val="31791823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1027A85-C4C4-6720-941C-77E849595145}"/>
              </a:ext>
            </a:extLst>
          </p:cNvPr>
          <p:cNvSpPr>
            <a:spLocks noGrp="1"/>
          </p:cNvSpPr>
          <p:nvPr>
            <p:ph type="title"/>
          </p:nvPr>
        </p:nvSpPr>
        <p:spPr/>
        <p:txBody>
          <a:bodyPr/>
          <a:lstStyle/>
          <a:p>
            <a:r>
              <a:rPr lang="nl-NL"/>
              <a:t>Klik om stijl te bewerken</a:t>
            </a:r>
          </a:p>
        </p:txBody>
      </p:sp>
      <p:sp>
        <p:nvSpPr>
          <p:cNvPr id="3" name="Tijdelijke aanduiding voor datum 2">
            <a:extLst>
              <a:ext uri="{FF2B5EF4-FFF2-40B4-BE49-F238E27FC236}">
                <a16:creationId xmlns:a16="http://schemas.microsoft.com/office/drawing/2014/main" id="{F81C61F9-E8CA-63BD-83EE-D424C44115CA}"/>
              </a:ext>
            </a:extLst>
          </p:cNvPr>
          <p:cNvSpPr>
            <a:spLocks noGrp="1"/>
          </p:cNvSpPr>
          <p:nvPr>
            <p:ph type="dt" sz="half" idx="10"/>
          </p:nvPr>
        </p:nvSpPr>
        <p:spPr/>
        <p:txBody>
          <a:bodyPr/>
          <a:lstStyle/>
          <a:p>
            <a:fld id="{EE2C724D-DEAC-5A4D-82CF-B20B47CD684C}" type="datetimeFigureOut">
              <a:rPr lang="nl-NL" smtClean="0"/>
              <a:t>16-09-2026</a:t>
            </a:fld>
            <a:endParaRPr lang="nl-NL"/>
          </a:p>
        </p:txBody>
      </p:sp>
      <p:sp>
        <p:nvSpPr>
          <p:cNvPr id="4" name="Tijdelijke aanduiding voor voettekst 3">
            <a:extLst>
              <a:ext uri="{FF2B5EF4-FFF2-40B4-BE49-F238E27FC236}">
                <a16:creationId xmlns:a16="http://schemas.microsoft.com/office/drawing/2014/main" id="{1C6A405C-401A-6DE4-3EC1-E943784E10E7}"/>
              </a:ext>
            </a:extLst>
          </p:cNvPr>
          <p:cNvSpPr>
            <a:spLocks noGrp="1"/>
          </p:cNvSpPr>
          <p:nvPr>
            <p:ph type="ftr" sz="quarter" idx="11"/>
          </p:nvPr>
        </p:nvSpPr>
        <p:spPr/>
        <p:txBody>
          <a:bodyPr/>
          <a:lstStyle/>
          <a:p>
            <a:endParaRPr lang="nl-NL"/>
          </a:p>
        </p:txBody>
      </p:sp>
      <p:sp>
        <p:nvSpPr>
          <p:cNvPr id="5" name="Tijdelijke aanduiding voor dianummer 4">
            <a:extLst>
              <a:ext uri="{FF2B5EF4-FFF2-40B4-BE49-F238E27FC236}">
                <a16:creationId xmlns:a16="http://schemas.microsoft.com/office/drawing/2014/main" id="{DA83E1B2-EA75-0791-163C-5BBA0CABBE60}"/>
              </a:ext>
            </a:extLst>
          </p:cNvPr>
          <p:cNvSpPr>
            <a:spLocks noGrp="1"/>
          </p:cNvSpPr>
          <p:nvPr>
            <p:ph type="sldNum" sz="quarter" idx="12"/>
          </p:nvPr>
        </p:nvSpPr>
        <p:spPr/>
        <p:txBody>
          <a:bodyPr/>
          <a:lstStyle/>
          <a:p>
            <a:fld id="{0FD0B0D3-0195-7147-8344-3306E8FC4C6A}" type="slidenum">
              <a:rPr lang="nl-NL" smtClean="0"/>
              <a:t>‹nr.›</a:t>
            </a:fld>
            <a:endParaRPr lang="nl-NL"/>
          </a:p>
        </p:txBody>
      </p:sp>
    </p:spTree>
    <p:extLst>
      <p:ext uri="{BB962C8B-B14F-4D97-AF65-F5344CB8AC3E}">
        <p14:creationId xmlns:p14="http://schemas.microsoft.com/office/powerpoint/2010/main" val="33875133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
            <a:extLst>
              <a:ext uri="{FF2B5EF4-FFF2-40B4-BE49-F238E27FC236}">
                <a16:creationId xmlns:a16="http://schemas.microsoft.com/office/drawing/2014/main" id="{FE8D896A-71E0-FD53-3CFA-BBB11D83A050}"/>
              </a:ext>
            </a:extLst>
          </p:cNvPr>
          <p:cNvSpPr>
            <a:spLocks noGrp="1"/>
          </p:cNvSpPr>
          <p:nvPr>
            <p:ph type="dt" sz="half" idx="10"/>
          </p:nvPr>
        </p:nvSpPr>
        <p:spPr/>
        <p:txBody>
          <a:bodyPr/>
          <a:lstStyle/>
          <a:p>
            <a:fld id="{EE2C724D-DEAC-5A4D-82CF-B20B47CD684C}" type="datetimeFigureOut">
              <a:rPr lang="nl-NL" smtClean="0"/>
              <a:t>16-09-2026</a:t>
            </a:fld>
            <a:endParaRPr lang="nl-NL"/>
          </a:p>
        </p:txBody>
      </p:sp>
      <p:sp>
        <p:nvSpPr>
          <p:cNvPr id="3" name="Tijdelijke aanduiding voor voettekst 2">
            <a:extLst>
              <a:ext uri="{FF2B5EF4-FFF2-40B4-BE49-F238E27FC236}">
                <a16:creationId xmlns:a16="http://schemas.microsoft.com/office/drawing/2014/main" id="{2EC4C3C6-0E7E-5B93-305E-FF90E12C6B71}"/>
              </a:ext>
            </a:extLst>
          </p:cNvPr>
          <p:cNvSpPr>
            <a:spLocks noGrp="1"/>
          </p:cNvSpPr>
          <p:nvPr>
            <p:ph type="ftr" sz="quarter" idx="11"/>
          </p:nvPr>
        </p:nvSpPr>
        <p:spPr/>
        <p:txBody>
          <a:bodyPr/>
          <a:lstStyle/>
          <a:p>
            <a:endParaRPr lang="nl-NL"/>
          </a:p>
        </p:txBody>
      </p:sp>
      <p:sp>
        <p:nvSpPr>
          <p:cNvPr id="4" name="Tijdelijke aanduiding voor dianummer 3">
            <a:extLst>
              <a:ext uri="{FF2B5EF4-FFF2-40B4-BE49-F238E27FC236}">
                <a16:creationId xmlns:a16="http://schemas.microsoft.com/office/drawing/2014/main" id="{E8599B01-BE1E-81A8-E521-7DEA0C4CB11A}"/>
              </a:ext>
            </a:extLst>
          </p:cNvPr>
          <p:cNvSpPr>
            <a:spLocks noGrp="1"/>
          </p:cNvSpPr>
          <p:nvPr>
            <p:ph type="sldNum" sz="quarter" idx="12"/>
          </p:nvPr>
        </p:nvSpPr>
        <p:spPr/>
        <p:txBody>
          <a:bodyPr/>
          <a:lstStyle/>
          <a:p>
            <a:fld id="{0FD0B0D3-0195-7147-8344-3306E8FC4C6A}" type="slidenum">
              <a:rPr lang="nl-NL" smtClean="0"/>
              <a:t>‹nr.›</a:t>
            </a:fld>
            <a:endParaRPr lang="nl-NL"/>
          </a:p>
        </p:txBody>
      </p:sp>
    </p:spTree>
    <p:extLst>
      <p:ext uri="{BB962C8B-B14F-4D97-AF65-F5344CB8AC3E}">
        <p14:creationId xmlns:p14="http://schemas.microsoft.com/office/powerpoint/2010/main" val="25087875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0EA6A9D-4E44-C414-6C71-6D208CBABC0D}"/>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p>
        </p:txBody>
      </p:sp>
      <p:sp>
        <p:nvSpPr>
          <p:cNvPr id="3" name="Tijdelijke aanduiding voor inhoud 2">
            <a:extLst>
              <a:ext uri="{FF2B5EF4-FFF2-40B4-BE49-F238E27FC236}">
                <a16:creationId xmlns:a16="http://schemas.microsoft.com/office/drawing/2014/main" id="{47708D02-AEBC-5FB1-51E9-F479829E41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tekst 3">
            <a:extLst>
              <a:ext uri="{FF2B5EF4-FFF2-40B4-BE49-F238E27FC236}">
                <a16:creationId xmlns:a16="http://schemas.microsoft.com/office/drawing/2014/main" id="{C02E9EF2-DDDD-DEB4-0BB9-D62DE3AD53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Tijdelijke aanduiding voor datum 4">
            <a:extLst>
              <a:ext uri="{FF2B5EF4-FFF2-40B4-BE49-F238E27FC236}">
                <a16:creationId xmlns:a16="http://schemas.microsoft.com/office/drawing/2014/main" id="{319B9D82-D7EA-0E42-B4C2-8B9317050875}"/>
              </a:ext>
            </a:extLst>
          </p:cNvPr>
          <p:cNvSpPr>
            <a:spLocks noGrp="1"/>
          </p:cNvSpPr>
          <p:nvPr>
            <p:ph type="dt" sz="half" idx="10"/>
          </p:nvPr>
        </p:nvSpPr>
        <p:spPr/>
        <p:txBody>
          <a:bodyPr/>
          <a:lstStyle/>
          <a:p>
            <a:fld id="{EE2C724D-DEAC-5A4D-82CF-B20B47CD684C}" type="datetimeFigureOut">
              <a:rPr lang="nl-NL" smtClean="0"/>
              <a:t>16-09-2026</a:t>
            </a:fld>
            <a:endParaRPr lang="nl-NL"/>
          </a:p>
        </p:txBody>
      </p:sp>
      <p:sp>
        <p:nvSpPr>
          <p:cNvPr id="6" name="Tijdelijke aanduiding voor voettekst 5">
            <a:extLst>
              <a:ext uri="{FF2B5EF4-FFF2-40B4-BE49-F238E27FC236}">
                <a16:creationId xmlns:a16="http://schemas.microsoft.com/office/drawing/2014/main" id="{5042EC3C-89E4-04C2-463B-3E8FEAC60F2E}"/>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221EDF2F-6FF7-3F04-0DD5-4310C5BE999E}"/>
              </a:ext>
            </a:extLst>
          </p:cNvPr>
          <p:cNvSpPr>
            <a:spLocks noGrp="1"/>
          </p:cNvSpPr>
          <p:nvPr>
            <p:ph type="sldNum" sz="quarter" idx="12"/>
          </p:nvPr>
        </p:nvSpPr>
        <p:spPr/>
        <p:txBody>
          <a:bodyPr/>
          <a:lstStyle/>
          <a:p>
            <a:fld id="{0FD0B0D3-0195-7147-8344-3306E8FC4C6A}" type="slidenum">
              <a:rPr lang="nl-NL" smtClean="0"/>
              <a:t>‹nr.›</a:t>
            </a:fld>
            <a:endParaRPr lang="nl-NL"/>
          </a:p>
        </p:txBody>
      </p:sp>
    </p:spTree>
    <p:extLst>
      <p:ext uri="{BB962C8B-B14F-4D97-AF65-F5344CB8AC3E}">
        <p14:creationId xmlns:p14="http://schemas.microsoft.com/office/powerpoint/2010/main" val="38147556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8FB0342-CC9D-02F3-60FE-C1EA83E28EC7}"/>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p>
        </p:txBody>
      </p:sp>
      <p:sp>
        <p:nvSpPr>
          <p:cNvPr id="3" name="Tijdelijke aanduiding voor afbeelding 2">
            <a:extLst>
              <a:ext uri="{FF2B5EF4-FFF2-40B4-BE49-F238E27FC236}">
                <a16:creationId xmlns:a16="http://schemas.microsoft.com/office/drawing/2014/main" id="{92FF02AA-5BEA-C416-D24B-520EA5F5C5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NL"/>
          </a:p>
        </p:txBody>
      </p:sp>
      <p:sp>
        <p:nvSpPr>
          <p:cNvPr id="4" name="Tijdelijke aanduiding voor tekst 3">
            <a:extLst>
              <a:ext uri="{FF2B5EF4-FFF2-40B4-BE49-F238E27FC236}">
                <a16:creationId xmlns:a16="http://schemas.microsoft.com/office/drawing/2014/main" id="{269F0A72-CD4D-155E-9BC7-AD8281065C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Tijdelijke aanduiding voor datum 4">
            <a:extLst>
              <a:ext uri="{FF2B5EF4-FFF2-40B4-BE49-F238E27FC236}">
                <a16:creationId xmlns:a16="http://schemas.microsoft.com/office/drawing/2014/main" id="{3EC5B3BD-4462-9629-8820-565DD1B53F0D}"/>
              </a:ext>
            </a:extLst>
          </p:cNvPr>
          <p:cNvSpPr>
            <a:spLocks noGrp="1"/>
          </p:cNvSpPr>
          <p:nvPr>
            <p:ph type="dt" sz="half" idx="10"/>
          </p:nvPr>
        </p:nvSpPr>
        <p:spPr/>
        <p:txBody>
          <a:bodyPr/>
          <a:lstStyle/>
          <a:p>
            <a:fld id="{EE2C724D-DEAC-5A4D-82CF-B20B47CD684C}" type="datetimeFigureOut">
              <a:rPr lang="nl-NL" smtClean="0"/>
              <a:t>16-09-2026</a:t>
            </a:fld>
            <a:endParaRPr lang="nl-NL"/>
          </a:p>
        </p:txBody>
      </p:sp>
      <p:sp>
        <p:nvSpPr>
          <p:cNvPr id="6" name="Tijdelijke aanduiding voor voettekst 5">
            <a:extLst>
              <a:ext uri="{FF2B5EF4-FFF2-40B4-BE49-F238E27FC236}">
                <a16:creationId xmlns:a16="http://schemas.microsoft.com/office/drawing/2014/main" id="{DBDD1E3A-C4ED-2DED-F944-22CB76FC47C4}"/>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6002ECBB-19C8-6B54-753F-BE69FAE6E212}"/>
              </a:ext>
            </a:extLst>
          </p:cNvPr>
          <p:cNvSpPr>
            <a:spLocks noGrp="1"/>
          </p:cNvSpPr>
          <p:nvPr>
            <p:ph type="sldNum" sz="quarter" idx="12"/>
          </p:nvPr>
        </p:nvSpPr>
        <p:spPr/>
        <p:txBody>
          <a:bodyPr/>
          <a:lstStyle/>
          <a:p>
            <a:fld id="{0FD0B0D3-0195-7147-8344-3306E8FC4C6A}" type="slidenum">
              <a:rPr lang="nl-NL" smtClean="0"/>
              <a:t>‹nr.›</a:t>
            </a:fld>
            <a:endParaRPr lang="nl-NL"/>
          </a:p>
        </p:txBody>
      </p:sp>
    </p:spTree>
    <p:extLst>
      <p:ext uri="{BB962C8B-B14F-4D97-AF65-F5344CB8AC3E}">
        <p14:creationId xmlns:p14="http://schemas.microsoft.com/office/powerpoint/2010/main" val="38684962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283844E-5C75-E0E3-9CF0-B301279D6471}"/>
              </a:ext>
            </a:extLst>
          </p:cNvPr>
          <p:cNvSpPr>
            <a:spLocks noGrp="1"/>
          </p:cNvSpPr>
          <p:nvPr>
            <p:ph type="title"/>
          </p:nvPr>
        </p:nvSpPr>
        <p:spPr/>
        <p:txBody>
          <a:bodyPr/>
          <a:lstStyle/>
          <a:p>
            <a:r>
              <a:rPr lang="nl-NL"/>
              <a:t>Klik om stijl te bewerken</a:t>
            </a:r>
          </a:p>
        </p:txBody>
      </p:sp>
      <p:sp>
        <p:nvSpPr>
          <p:cNvPr id="3" name="Tijdelijke aanduiding voor verticale tekst 2">
            <a:extLst>
              <a:ext uri="{FF2B5EF4-FFF2-40B4-BE49-F238E27FC236}">
                <a16:creationId xmlns:a16="http://schemas.microsoft.com/office/drawing/2014/main" id="{C7377F42-669C-346F-F311-8F361FAE1A51}"/>
              </a:ext>
            </a:extLst>
          </p:cNvPr>
          <p:cNvSpPr>
            <a:spLocks noGrp="1"/>
          </p:cNvSpPr>
          <p:nvPr>
            <p:ph type="body" orient="vert" idx="1"/>
          </p:nvPr>
        </p:nvSpPr>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41308AAC-AE39-8479-05AB-D8C1322FC3BC}"/>
              </a:ext>
            </a:extLst>
          </p:cNvPr>
          <p:cNvSpPr>
            <a:spLocks noGrp="1"/>
          </p:cNvSpPr>
          <p:nvPr>
            <p:ph type="dt" sz="half" idx="10"/>
          </p:nvPr>
        </p:nvSpPr>
        <p:spPr/>
        <p:txBody>
          <a:bodyPr/>
          <a:lstStyle/>
          <a:p>
            <a:fld id="{EE2C724D-DEAC-5A4D-82CF-B20B47CD684C}" type="datetimeFigureOut">
              <a:rPr lang="nl-NL" smtClean="0"/>
              <a:t>16-09-2026</a:t>
            </a:fld>
            <a:endParaRPr lang="nl-NL"/>
          </a:p>
        </p:txBody>
      </p:sp>
      <p:sp>
        <p:nvSpPr>
          <p:cNvPr id="5" name="Tijdelijke aanduiding voor voettekst 4">
            <a:extLst>
              <a:ext uri="{FF2B5EF4-FFF2-40B4-BE49-F238E27FC236}">
                <a16:creationId xmlns:a16="http://schemas.microsoft.com/office/drawing/2014/main" id="{222788B1-7F2B-9484-76BE-3999B26F7DA2}"/>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6ACCB323-655D-D57F-5DCF-C40EBDAD292F}"/>
              </a:ext>
            </a:extLst>
          </p:cNvPr>
          <p:cNvSpPr>
            <a:spLocks noGrp="1"/>
          </p:cNvSpPr>
          <p:nvPr>
            <p:ph type="sldNum" sz="quarter" idx="12"/>
          </p:nvPr>
        </p:nvSpPr>
        <p:spPr/>
        <p:txBody>
          <a:bodyPr/>
          <a:lstStyle/>
          <a:p>
            <a:fld id="{0FD0B0D3-0195-7147-8344-3306E8FC4C6A}" type="slidenum">
              <a:rPr lang="nl-NL" smtClean="0"/>
              <a:t>‹nr.›</a:t>
            </a:fld>
            <a:endParaRPr lang="nl-NL"/>
          </a:p>
        </p:txBody>
      </p:sp>
    </p:spTree>
    <p:extLst>
      <p:ext uri="{BB962C8B-B14F-4D97-AF65-F5344CB8AC3E}">
        <p14:creationId xmlns:p14="http://schemas.microsoft.com/office/powerpoint/2010/main" val="17507098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a:extLst>
              <a:ext uri="{FF2B5EF4-FFF2-40B4-BE49-F238E27FC236}">
                <a16:creationId xmlns:a16="http://schemas.microsoft.com/office/drawing/2014/main" id="{E1216866-52ED-AB64-7307-9A2B5DA137DA}"/>
              </a:ext>
            </a:extLst>
          </p:cNvPr>
          <p:cNvSpPr>
            <a:spLocks noGrp="1"/>
          </p:cNvSpPr>
          <p:nvPr>
            <p:ph type="title" orient="vert"/>
          </p:nvPr>
        </p:nvSpPr>
        <p:spPr>
          <a:xfrm>
            <a:off x="8724900" y="365125"/>
            <a:ext cx="2628900" cy="5811838"/>
          </a:xfrm>
        </p:spPr>
        <p:txBody>
          <a:bodyPr vert="eaVert"/>
          <a:lstStyle/>
          <a:p>
            <a:r>
              <a:rPr lang="nl-NL"/>
              <a:t>Klik om stijl te bewerken</a:t>
            </a:r>
          </a:p>
        </p:txBody>
      </p:sp>
      <p:sp>
        <p:nvSpPr>
          <p:cNvPr id="3" name="Tijdelijke aanduiding voor verticale tekst 2">
            <a:extLst>
              <a:ext uri="{FF2B5EF4-FFF2-40B4-BE49-F238E27FC236}">
                <a16:creationId xmlns:a16="http://schemas.microsoft.com/office/drawing/2014/main" id="{06BB4570-1BD4-1B68-E127-729CE9B6BD66}"/>
              </a:ext>
            </a:extLst>
          </p:cNvPr>
          <p:cNvSpPr>
            <a:spLocks noGrp="1"/>
          </p:cNvSpPr>
          <p:nvPr>
            <p:ph type="body" orient="vert" idx="1"/>
          </p:nvPr>
        </p:nvSpPr>
        <p:spPr>
          <a:xfrm>
            <a:off x="838200" y="365125"/>
            <a:ext cx="7734300" cy="5811838"/>
          </a:xfrm>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BF308245-7F42-4093-E20A-9CCD5F9EE276}"/>
              </a:ext>
            </a:extLst>
          </p:cNvPr>
          <p:cNvSpPr>
            <a:spLocks noGrp="1"/>
          </p:cNvSpPr>
          <p:nvPr>
            <p:ph type="dt" sz="half" idx="10"/>
          </p:nvPr>
        </p:nvSpPr>
        <p:spPr/>
        <p:txBody>
          <a:bodyPr/>
          <a:lstStyle/>
          <a:p>
            <a:fld id="{EE2C724D-DEAC-5A4D-82CF-B20B47CD684C}" type="datetimeFigureOut">
              <a:rPr lang="nl-NL" smtClean="0"/>
              <a:t>16-09-2026</a:t>
            </a:fld>
            <a:endParaRPr lang="nl-NL"/>
          </a:p>
        </p:txBody>
      </p:sp>
      <p:sp>
        <p:nvSpPr>
          <p:cNvPr id="5" name="Tijdelijke aanduiding voor voettekst 4">
            <a:extLst>
              <a:ext uri="{FF2B5EF4-FFF2-40B4-BE49-F238E27FC236}">
                <a16:creationId xmlns:a16="http://schemas.microsoft.com/office/drawing/2014/main" id="{262D291E-CF1C-25FC-FCD9-6843ED4639FE}"/>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77204C00-8790-2B75-AD8D-9448F37C1F05}"/>
              </a:ext>
            </a:extLst>
          </p:cNvPr>
          <p:cNvSpPr>
            <a:spLocks noGrp="1"/>
          </p:cNvSpPr>
          <p:nvPr>
            <p:ph type="sldNum" sz="quarter" idx="12"/>
          </p:nvPr>
        </p:nvSpPr>
        <p:spPr/>
        <p:txBody>
          <a:bodyPr/>
          <a:lstStyle/>
          <a:p>
            <a:fld id="{0FD0B0D3-0195-7147-8344-3306E8FC4C6A}" type="slidenum">
              <a:rPr lang="nl-NL" smtClean="0"/>
              <a:t>‹nr.›</a:t>
            </a:fld>
            <a:endParaRPr lang="nl-NL"/>
          </a:p>
        </p:txBody>
      </p:sp>
    </p:spTree>
    <p:extLst>
      <p:ext uri="{BB962C8B-B14F-4D97-AF65-F5344CB8AC3E}">
        <p14:creationId xmlns:p14="http://schemas.microsoft.com/office/powerpoint/2010/main" val="18931125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86356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820CCC03-B827-EAFC-3C49-FDC04E8E674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l-NL"/>
              <a:t>Klik om stijl te bewerken</a:t>
            </a:r>
          </a:p>
        </p:txBody>
      </p:sp>
      <p:sp>
        <p:nvSpPr>
          <p:cNvPr id="3" name="Tijdelijke aanduiding voor tekst 2">
            <a:extLst>
              <a:ext uri="{FF2B5EF4-FFF2-40B4-BE49-F238E27FC236}">
                <a16:creationId xmlns:a16="http://schemas.microsoft.com/office/drawing/2014/main" id="{CFE0D76B-2A8C-0EA3-B5E7-CDE35511E0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EBB91388-C8CC-AB06-ABFA-D089E9E4C54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E2C724D-DEAC-5A4D-82CF-B20B47CD684C}" type="datetimeFigureOut">
              <a:rPr lang="nl-NL" smtClean="0"/>
              <a:t>16-09-2026</a:t>
            </a:fld>
            <a:endParaRPr lang="nl-NL"/>
          </a:p>
        </p:txBody>
      </p:sp>
      <p:sp>
        <p:nvSpPr>
          <p:cNvPr id="5" name="Tijdelijke aanduiding voor voettekst 4">
            <a:extLst>
              <a:ext uri="{FF2B5EF4-FFF2-40B4-BE49-F238E27FC236}">
                <a16:creationId xmlns:a16="http://schemas.microsoft.com/office/drawing/2014/main" id="{A9DA9887-D0D8-C808-EB07-BCDFACEF67A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nl-NL"/>
          </a:p>
        </p:txBody>
      </p:sp>
      <p:sp>
        <p:nvSpPr>
          <p:cNvPr id="6" name="Tijdelijke aanduiding voor dianummer 5">
            <a:extLst>
              <a:ext uri="{FF2B5EF4-FFF2-40B4-BE49-F238E27FC236}">
                <a16:creationId xmlns:a16="http://schemas.microsoft.com/office/drawing/2014/main" id="{3AEBF984-C493-D69F-F8EB-C5E25092E68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FD0B0D3-0195-7147-8344-3306E8FC4C6A}" type="slidenum">
              <a:rPr lang="nl-NL" smtClean="0"/>
              <a:t>‹nr.›</a:t>
            </a:fld>
            <a:endParaRPr lang="nl-NL"/>
          </a:p>
        </p:txBody>
      </p:sp>
    </p:spTree>
    <p:extLst>
      <p:ext uri="{BB962C8B-B14F-4D97-AF65-F5344CB8AC3E}">
        <p14:creationId xmlns:p14="http://schemas.microsoft.com/office/powerpoint/2010/main" val="23175257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customXml" Target="../ink/ink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Afbeelding 4">
            <a:extLst>
              <a:ext uri="{FF2B5EF4-FFF2-40B4-BE49-F238E27FC236}">
                <a16:creationId xmlns:a16="http://schemas.microsoft.com/office/drawing/2014/main" id="{B7077937-4094-2690-56BF-61F2F4A6EFB8}"/>
              </a:ext>
            </a:extLst>
          </p:cNvPr>
          <p:cNvPicPr>
            <a:picLocks noChangeAspect="1"/>
          </p:cNvPicPr>
          <p:nvPr/>
        </p:nvPicPr>
        <p:blipFill>
          <a:blip r:embed="rId2"/>
          <a:srcRect/>
          <a:stretch>
            <a:fillRect/>
          </a:stretch>
        </p:blipFill>
        <p:spPr>
          <a:xfrm>
            <a:off x="0" y="1"/>
            <a:ext cx="12158024" cy="6858000"/>
          </a:xfrm>
          <a:prstGeom prst="rect">
            <a:avLst/>
          </a:prstGeom>
        </p:spPr>
      </p:pic>
    </p:spTree>
    <p:extLst>
      <p:ext uri="{BB962C8B-B14F-4D97-AF65-F5344CB8AC3E}">
        <p14:creationId xmlns:p14="http://schemas.microsoft.com/office/powerpoint/2010/main" val="17283367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Afbeelding 5">
            <a:extLst>
              <a:ext uri="{FF2B5EF4-FFF2-40B4-BE49-F238E27FC236}">
                <a16:creationId xmlns:a16="http://schemas.microsoft.com/office/drawing/2014/main" id="{F445F671-D4DE-090C-FD54-02B0CBA3176A}"/>
              </a:ext>
            </a:extLst>
          </p:cNvPr>
          <p:cNvPicPr>
            <a:picLocks noChangeAspect="1"/>
          </p:cNvPicPr>
          <p:nvPr/>
        </p:nvPicPr>
        <p:blipFill>
          <a:blip r:embed="rId2"/>
          <a:stretch>
            <a:fillRect/>
          </a:stretch>
        </p:blipFill>
        <p:spPr>
          <a:xfrm>
            <a:off x="0" y="0"/>
            <a:ext cx="12183896" cy="6858000"/>
          </a:xfrm>
          <a:prstGeom prst="rect">
            <a:avLst/>
          </a:prstGeom>
        </p:spPr>
      </p:pic>
    </p:spTree>
    <p:extLst>
      <p:ext uri="{BB962C8B-B14F-4D97-AF65-F5344CB8AC3E}">
        <p14:creationId xmlns:p14="http://schemas.microsoft.com/office/powerpoint/2010/main" val="297925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Afbeelding 4">
            <a:extLst>
              <a:ext uri="{FF2B5EF4-FFF2-40B4-BE49-F238E27FC236}">
                <a16:creationId xmlns:a16="http://schemas.microsoft.com/office/drawing/2014/main" id="{56A4E25D-95B7-0843-E302-7040449103E7}"/>
              </a:ext>
            </a:extLst>
          </p:cNvPr>
          <p:cNvPicPr>
            <a:picLocks noChangeAspect="1"/>
          </p:cNvPicPr>
          <p:nvPr/>
        </p:nvPicPr>
        <p:blipFill>
          <a:blip r:embed="rId2"/>
          <a:stretch>
            <a:fillRect/>
          </a:stretch>
        </p:blipFill>
        <p:spPr>
          <a:xfrm>
            <a:off x="0" y="-1"/>
            <a:ext cx="12192000" cy="6854353"/>
          </a:xfrm>
          <a:prstGeom prst="rect">
            <a:avLst/>
          </a:prstGeom>
        </p:spPr>
      </p:pic>
    </p:spTree>
    <p:extLst>
      <p:ext uri="{BB962C8B-B14F-4D97-AF65-F5344CB8AC3E}">
        <p14:creationId xmlns:p14="http://schemas.microsoft.com/office/powerpoint/2010/main" val="36274032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Afbeelding 8">
            <a:extLst>
              <a:ext uri="{FF2B5EF4-FFF2-40B4-BE49-F238E27FC236}">
                <a16:creationId xmlns:a16="http://schemas.microsoft.com/office/drawing/2014/main" id="{3DFE93F6-91A3-530B-BA46-8B9057F46A28}"/>
              </a:ext>
            </a:extLst>
          </p:cNvPr>
          <p:cNvPicPr>
            <a:picLocks noChangeAspect="1"/>
          </p:cNvPicPr>
          <p:nvPr/>
        </p:nvPicPr>
        <p:blipFill>
          <a:blip r:embed="rId2"/>
          <a:stretch>
            <a:fillRect/>
          </a:stretch>
        </p:blipFill>
        <p:spPr>
          <a:xfrm>
            <a:off x="0" y="0"/>
            <a:ext cx="12192000" cy="6862562"/>
          </a:xfrm>
          <a:prstGeom prst="rect">
            <a:avLst/>
          </a:prstGeom>
        </p:spPr>
      </p:pic>
      <mc:AlternateContent xmlns:mc="http://schemas.openxmlformats.org/markup-compatibility/2006">
        <mc:Choice xmlns:p14="http://schemas.microsoft.com/office/powerpoint/2010/main" Requires="p14">
          <p:contentPart p14:bwMode="auto" r:id="rId3">
            <p14:nvContentPartPr>
              <p14:cNvPr id="10" name="Inkt 9">
                <a:extLst>
                  <a:ext uri="{FF2B5EF4-FFF2-40B4-BE49-F238E27FC236}">
                    <a16:creationId xmlns:a16="http://schemas.microsoft.com/office/drawing/2014/main" id="{2553A6EF-662E-C746-2045-05FAD6F802B7}"/>
                  </a:ext>
                </a:extLst>
              </p14:cNvPr>
              <p14:cNvContentPartPr/>
              <p14:nvPr/>
            </p14:nvContentPartPr>
            <p14:xfrm>
              <a:off x="9045804" y="2981992"/>
              <a:ext cx="552960" cy="261720"/>
            </p14:xfrm>
          </p:contentPart>
        </mc:Choice>
        <mc:Fallback>
          <p:pic>
            <p:nvPicPr>
              <p:cNvPr id="10" name="Inkt 9">
                <a:extLst>
                  <a:ext uri="{FF2B5EF4-FFF2-40B4-BE49-F238E27FC236}">
                    <a16:creationId xmlns:a16="http://schemas.microsoft.com/office/drawing/2014/main" id="{2553A6EF-662E-C746-2045-05FAD6F802B7}"/>
                  </a:ext>
                </a:extLst>
              </p:cNvPr>
              <p:cNvPicPr/>
              <p:nvPr/>
            </p:nvPicPr>
            <p:blipFill>
              <a:blip r:embed="rId4"/>
              <a:stretch>
                <a:fillRect/>
              </a:stretch>
            </p:blipFill>
            <p:spPr>
              <a:xfrm>
                <a:off x="8983164" y="2918992"/>
                <a:ext cx="678600" cy="38736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11" name="Inkt 10">
                <a:extLst>
                  <a:ext uri="{FF2B5EF4-FFF2-40B4-BE49-F238E27FC236}">
                    <a16:creationId xmlns:a16="http://schemas.microsoft.com/office/drawing/2014/main" id="{46855713-8386-712F-A44F-979D871406AE}"/>
                  </a:ext>
                </a:extLst>
              </p14:cNvPr>
              <p14:cNvContentPartPr/>
              <p14:nvPr/>
            </p14:nvContentPartPr>
            <p14:xfrm>
              <a:off x="8928804" y="889672"/>
              <a:ext cx="1316520" cy="1921320"/>
            </p14:xfrm>
          </p:contentPart>
        </mc:Choice>
        <mc:Fallback>
          <p:pic>
            <p:nvPicPr>
              <p:cNvPr id="11" name="Inkt 10">
                <a:extLst>
                  <a:ext uri="{FF2B5EF4-FFF2-40B4-BE49-F238E27FC236}">
                    <a16:creationId xmlns:a16="http://schemas.microsoft.com/office/drawing/2014/main" id="{46855713-8386-712F-A44F-979D871406AE}"/>
                  </a:ext>
                </a:extLst>
              </p:cNvPr>
              <p:cNvPicPr/>
              <p:nvPr/>
            </p:nvPicPr>
            <p:blipFill>
              <a:blip r:embed="rId6"/>
              <a:stretch>
                <a:fillRect/>
              </a:stretch>
            </p:blipFill>
            <p:spPr>
              <a:xfrm>
                <a:off x="8865804" y="826672"/>
                <a:ext cx="1442160" cy="204696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12" name="Inkt 11">
                <a:extLst>
                  <a:ext uri="{FF2B5EF4-FFF2-40B4-BE49-F238E27FC236}">
                    <a16:creationId xmlns:a16="http://schemas.microsoft.com/office/drawing/2014/main" id="{67386321-99E2-8C2B-9710-3702DE1E4E16}"/>
                  </a:ext>
                </a:extLst>
              </p14:cNvPr>
              <p14:cNvContentPartPr/>
              <p14:nvPr/>
            </p14:nvContentPartPr>
            <p14:xfrm>
              <a:off x="9110604" y="1883632"/>
              <a:ext cx="995040" cy="800640"/>
            </p14:xfrm>
          </p:contentPart>
        </mc:Choice>
        <mc:Fallback>
          <p:pic>
            <p:nvPicPr>
              <p:cNvPr id="12" name="Inkt 11">
                <a:extLst>
                  <a:ext uri="{FF2B5EF4-FFF2-40B4-BE49-F238E27FC236}">
                    <a16:creationId xmlns:a16="http://schemas.microsoft.com/office/drawing/2014/main" id="{67386321-99E2-8C2B-9710-3702DE1E4E16}"/>
                  </a:ext>
                </a:extLst>
              </p:cNvPr>
              <p:cNvPicPr/>
              <p:nvPr/>
            </p:nvPicPr>
            <p:blipFill>
              <a:blip r:embed="rId8"/>
              <a:stretch>
                <a:fillRect/>
              </a:stretch>
            </p:blipFill>
            <p:spPr>
              <a:xfrm>
                <a:off x="9047964" y="1820632"/>
                <a:ext cx="1120680" cy="926280"/>
              </a:xfrm>
              <a:prstGeom prst="rect">
                <a:avLst/>
              </a:prstGeom>
            </p:spPr>
          </p:pic>
        </mc:Fallback>
      </mc:AlternateContent>
      <p:sp>
        <p:nvSpPr>
          <p:cNvPr id="13" name="Tekstvak 12">
            <a:extLst>
              <a:ext uri="{FF2B5EF4-FFF2-40B4-BE49-F238E27FC236}">
                <a16:creationId xmlns:a16="http://schemas.microsoft.com/office/drawing/2014/main" id="{98E4DDFC-3EE3-9EB0-7F0B-DD982E1C3FF4}"/>
              </a:ext>
            </a:extLst>
          </p:cNvPr>
          <p:cNvSpPr txBox="1"/>
          <p:nvPr/>
        </p:nvSpPr>
        <p:spPr>
          <a:xfrm rot="21359795">
            <a:off x="8886280" y="821867"/>
            <a:ext cx="1196161" cy="523220"/>
          </a:xfrm>
          <a:prstGeom prst="rect">
            <a:avLst/>
          </a:prstGeom>
          <a:noFill/>
        </p:spPr>
        <p:txBody>
          <a:bodyPr wrap="none" rtlCol="0">
            <a:spAutoFit/>
          </a:bodyPr>
          <a:lstStyle/>
          <a:p>
            <a:r>
              <a:rPr lang="nl-NL" sz="2800" b="1" u="sng" dirty="0">
                <a:solidFill>
                  <a:schemeClr val="tx2"/>
                </a:solidFill>
                <a:latin typeface="Comic Sans MS" panose="030F0902030302020204" pitchFamily="66" charset="0"/>
              </a:rPr>
              <a:t>b</a:t>
            </a:r>
            <a:r>
              <a:rPr lang="nl-NL" sz="2800" b="1" dirty="0">
                <a:solidFill>
                  <a:schemeClr val="tx2"/>
                </a:solidFill>
                <a:latin typeface="Comic Sans MS" panose="030F0902030302020204" pitchFamily="66" charset="0"/>
              </a:rPr>
              <a:t>uddy</a:t>
            </a:r>
          </a:p>
        </p:txBody>
      </p:sp>
      <p:sp>
        <p:nvSpPr>
          <p:cNvPr id="14" name="Tekstvak 13">
            <a:extLst>
              <a:ext uri="{FF2B5EF4-FFF2-40B4-BE49-F238E27FC236}">
                <a16:creationId xmlns:a16="http://schemas.microsoft.com/office/drawing/2014/main" id="{DE4C233B-4701-18A4-C196-E7CD32C29B75}"/>
              </a:ext>
            </a:extLst>
          </p:cNvPr>
          <p:cNvSpPr txBox="1"/>
          <p:nvPr/>
        </p:nvSpPr>
        <p:spPr>
          <a:xfrm rot="21359795">
            <a:off x="8944973" y="1386941"/>
            <a:ext cx="543739" cy="523220"/>
          </a:xfrm>
          <a:prstGeom prst="rect">
            <a:avLst/>
          </a:prstGeom>
          <a:noFill/>
        </p:spPr>
        <p:txBody>
          <a:bodyPr wrap="none" rtlCol="0">
            <a:spAutoFit/>
          </a:bodyPr>
          <a:lstStyle/>
          <a:p>
            <a:r>
              <a:rPr lang="nl-NL" sz="2800" b="1" dirty="0" err="1">
                <a:solidFill>
                  <a:schemeClr val="tx2"/>
                </a:solidFill>
                <a:latin typeface="Comic Sans MS" panose="030F0902030302020204" pitchFamily="66" charset="0"/>
              </a:rPr>
              <a:t>t</a:t>
            </a:r>
            <a:r>
              <a:rPr lang="nl-NL" sz="2800" b="1" u="sng" dirty="0" err="1">
                <a:solidFill>
                  <a:schemeClr val="tx2"/>
                </a:solidFill>
                <a:latin typeface="Comic Sans MS" panose="030F0902030302020204" pitchFamily="66" charset="0"/>
              </a:rPr>
              <a:t>o</a:t>
            </a:r>
            <a:endParaRPr lang="nl-NL" sz="2800" b="1" u="sng" dirty="0">
              <a:solidFill>
                <a:schemeClr val="tx2"/>
              </a:solidFill>
              <a:latin typeface="Comic Sans MS" panose="030F0902030302020204" pitchFamily="66" charset="0"/>
            </a:endParaRPr>
          </a:p>
        </p:txBody>
      </p:sp>
      <p:sp>
        <p:nvSpPr>
          <p:cNvPr id="15" name="Tekstvak 14">
            <a:extLst>
              <a:ext uri="{FF2B5EF4-FFF2-40B4-BE49-F238E27FC236}">
                <a16:creationId xmlns:a16="http://schemas.microsoft.com/office/drawing/2014/main" id="{A8D9E4BA-492E-4ECB-67C3-D99B5C415D9B}"/>
              </a:ext>
            </a:extLst>
          </p:cNvPr>
          <p:cNvSpPr txBox="1"/>
          <p:nvPr/>
        </p:nvSpPr>
        <p:spPr>
          <a:xfrm rot="21359795">
            <a:off x="8989164" y="1807548"/>
            <a:ext cx="942887" cy="523220"/>
          </a:xfrm>
          <a:prstGeom prst="rect">
            <a:avLst/>
          </a:prstGeom>
          <a:noFill/>
        </p:spPr>
        <p:txBody>
          <a:bodyPr wrap="none" rtlCol="0">
            <a:spAutoFit/>
          </a:bodyPr>
          <a:lstStyle/>
          <a:p>
            <a:r>
              <a:rPr lang="nl-NL" sz="2800" b="1" dirty="0" err="1">
                <a:solidFill>
                  <a:schemeClr val="tx2"/>
                </a:solidFill>
                <a:latin typeface="Comic Sans MS" panose="030F0902030302020204" pitchFamily="66" charset="0"/>
              </a:rPr>
              <a:t>cu</a:t>
            </a:r>
            <a:r>
              <a:rPr lang="nl-NL" sz="2800" b="1" u="sng" dirty="0" err="1">
                <a:solidFill>
                  <a:schemeClr val="tx2"/>
                </a:solidFill>
                <a:latin typeface="Comic Sans MS" panose="030F0902030302020204" pitchFamily="66" charset="0"/>
              </a:rPr>
              <a:t>r</a:t>
            </a:r>
            <a:r>
              <a:rPr lang="nl-NL" sz="2800" b="1" dirty="0" err="1">
                <a:solidFill>
                  <a:schemeClr val="tx2"/>
                </a:solidFill>
                <a:latin typeface="Comic Sans MS" panose="030F0902030302020204" pitchFamily="66" charset="0"/>
              </a:rPr>
              <a:t>b</a:t>
            </a:r>
            <a:endParaRPr lang="nl-NL" sz="2800" b="1" dirty="0">
              <a:solidFill>
                <a:schemeClr val="tx2"/>
              </a:solidFill>
              <a:latin typeface="Comic Sans MS" panose="030F0902030302020204" pitchFamily="66" charset="0"/>
            </a:endParaRPr>
          </a:p>
        </p:txBody>
      </p:sp>
      <p:sp>
        <p:nvSpPr>
          <p:cNvPr id="16" name="Tekstvak 15">
            <a:extLst>
              <a:ext uri="{FF2B5EF4-FFF2-40B4-BE49-F238E27FC236}">
                <a16:creationId xmlns:a16="http://schemas.microsoft.com/office/drawing/2014/main" id="{B5CE3DCF-DAB1-4C95-F1A1-AD1D2B057867}"/>
              </a:ext>
            </a:extLst>
          </p:cNvPr>
          <p:cNvSpPr txBox="1"/>
          <p:nvPr/>
        </p:nvSpPr>
        <p:spPr>
          <a:xfrm rot="21359795">
            <a:off x="9009714" y="2282863"/>
            <a:ext cx="1633781" cy="523220"/>
          </a:xfrm>
          <a:prstGeom prst="rect">
            <a:avLst/>
          </a:prstGeom>
          <a:noFill/>
        </p:spPr>
        <p:txBody>
          <a:bodyPr wrap="none" rtlCol="0">
            <a:spAutoFit/>
          </a:bodyPr>
          <a:lstStyle/>
          <a:p>
            <a:r>
              <a:rPr lang="nl-NL" sz="2800" b="1" dirty="0">
                <a:solidFill>
                  <a:schemeClr val="tx2"/>
                </a:solidFill>
                <a:latin typeface="Comic Sans MS" panose="030F0902030302020204" pitchFamily="66" charset="0"/>
              </a:rPr>
              <a:t>d</a:t>
            </a:r>
            <a:r>
              <a:rPr lang="nl-NL" sz="2800" b="1" u="sng" dirty="0">
                <a:solidFill>
                  <a:schemeClr val="tx2"/>
                </a:solidFill>
                <a:latin typeface="Comic Sans MS" panose="030F0902030302020204" pitchFamily="66" charset="0"/>
              </a:rPr>
              <a:t>i</a:t>
            </a:r>
            <a:r>
              <a:rPr lang="nl-NL" sz="2800" b="1" dirty="0">
                <a:solidFill>
                  <a:schemeClr val="tx2"/>
                </a:solidFill>
                <a:latin typeface="Comic Sans MS" panose="030F0902030302020204" pitchFamily="66" charset="0"/>
              </a:rPr>
              <a:t>abetes</a:t>
            </a:r>
          </a:p>
        </p:txBody>
      </p:sp>
      <p:sp>
        <p:nvSpPr>
          <p:cNvPr id="17" name="Tekstvak 16">
            <a:extLst>
              <a:ext uri="{FF2B5EF4-FFF2-40B4-BE49-F238E27FC236}">
                <a16:creationId xmlns:a16="http://schemas.microsoft.com/office/drawing/2014/main" id="{31DDCF8E-0958-678F-0EE9-00156CB1E366}"/>
              </a:ext>
            </a:extLst>
          </p:cNvPr>
          <p:cNvSpPr txBox="1"/>
          <p:nvPr/>
        </p:nvSpPr>
        <p:spPr>
          <a:xfrm rot="21359795">
            <a:off x="9089152" y="2802240"/>
            <a:ext cx="827471" cy="523220"/>
          </a:xfrm>
          <a:prstGeom prst="rect">
            <a:avLst/>
          </a:prstGeom>
          <a:noFill/>
        </p:spPr>
        <p:txBody>
          <a:bodyPr wrap="none" rtlCol="0">
            <a:spAutoFit/>
          </a:bodyPr>
          <a:lstStyle/>
          <a:p>
            <a:r>
              <a:rPr lang="nl-NL" sz="2800" b="1" dirty="0">
                <a:solidFill>
                  <a:schemeClr val="tx2"/>
                </a:solidFill>
                <a:latin typeface="Comic Sans MS" panose="030F0902030302020204" pitchFamily="66" charset="0"/>
              </a:rPr>
              <a:t>ri</a:t>
            </a:r>
            <a:r>
              <a:rPr lang="nl-NL" sz="2800" b="1" u="sng" dirty="0">
                <a:solidFill>
                  <a:schemeClr val="tx2"/>
                </a:solidFill>
                <a:latin typeface="Comic Sans MS" panose="030F0902030302020204" pitchFamily="66" charset="0"/>
              </a:rPr>
              <a:t>s</a:t>
            </a:r>
            <a:r>
              <a:rPr lang="nl-NL" sz="2800" b="1" dirty="0">
                <a:solidFill>
                  <a:schemeClr val="tx2"/>
                </a:solidFill>
                <a:latin typeface="Comic Sans MS" panose="030F0902030302020204" pitchFamily="66" charset="0"/>
              </a:rPr>
              <a:t>k</a:t>
            </a:r>
          </a:p>
        </p:txBody>
      </p:sp>
    </p:spTree>
    <p:extLst>
      <p:ext uri="{BB962C8B-B14F-4D97-AF65-F5344CB8AC3E}">
        <p14:creationId xmlns:p14="http://schemas.microsoft.com/office/powerpoint/2010/main" val="37867206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Afbeelding 5">
            <a:extLst>
              <a:ext uri="{FF2B5EF4-FFF2-40B4-BE49-F238E27FC236}">
                <a16:creationId xmlns:a16="http://schemas.microsoft.com/office/drawing/2014/main" id="{534E3769-BC82-7503-A1D5-2C0FEDB78761}"/>
              </a:ext>
            </a:extLst>
          </p:cNvPr>
          <p:cNvPicPr>
            <a:picLocks noChangeAspect="1"/>
          </p:cNvPicPr>
          <p:nvPr/>
        </p:nvPicPr>
        <p:blipFill>
          <a:blip r:embed="rId2"/>
          <a:srcRect t="11695" b="32843"/>
          <a:stretch>
            <a:fillRect/>
          </a:stretch>
        </p:blipFill>
        <p:spPr>
          <a:xfrm>
            <a:off x="151863" y="1233715"/>
            <a:ext cx="11776353" cy="4354284"/>
          </a:xfrm>
          <a:prstGeom prst="rect">
            <a:avLst/>
          </a:prstGeom>
        </p:spPr>
      </p:pic>
      <p:sp>
        <p:nvSpPr>
          <p:cNvPr id="10" name="Tekstvak 9">
            <a:extLst>
              <a:ext uri="{FF2B5EF4-FFF2-40B4-BE49-F238E27FC236}">
                <a16:creationId xmlns:a16="http://schemas.microsoft.com/office/drawing/2014/main" id="{44F6CB4D-22D3-6C69-D02D-1AD97A6B4486}"/>
              </a:ext>
            </a:extLst>
          </p:cNvPr>
          <p:cNvSpPr txBox="1"/>
          <p:nvPr/>
        </p:nvSpPr>
        <p:spPr>
          <a:xfrm>
            <a:off x="4412342" y="436212"/>
            <a:ext cx="1683658" cy="369332"/>
          </a:xfrm>
          <a:prstGeom prst="rect">
            <a:avLst/>
          </a:prstGeom>
          <a:noFill/>
        </p:spPr>
        <p:txBody>
          <a:bodyPr wrap="square" rtlCol="0">
            <a:spAutoFit/>
          </a:bodyPr>
          <a:lstStyle/>
          <a:p>
            <a:r>
              <a:rPr lang="nl-NL" dirty="0"/>
              <a:t>short term risk</a:t>
            </a:r>
          </a:p>
        </p:txBody>
      </p:sp>
      <p:sp>
        <p:nvSpPr>
          <p:cNvPr id="13" name="Rechthoek 12">
            <a:extLst>
              <a:ext uri="{FF2B5EF4-FFF2-40B4-BE49-F238E27FC236}">
                <a16:creationId xmlns:a16="http://schemas.microsoft.com/office/drawing/2014/main" id="{BB10DB0C-81C0-1311-A343-56F31522AB99}"/>
              </a:ext>
            </a:extLst>
          </p:cNvPr>
          <p:cNvSpPr/>
          <p:nvPr/>
        </p:nvSpPr>
        <p:spPr>
          <a:xfrm>
            <a:off x="329932" y="2256971"/>
            <a:ext cx="1513382" cy="3468916"/>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4" name="Rechthoek 13">
            <a:extLst>
              <a:ext uri="{FF2B5EF4-FFF2-40B4-BE49-F238E27FC236}">
                <a16:creationId xmlns:a16="http://schemas.microsoft.com/office/drawing/2014/main" id="{952187EF-0976-29E9-F8DF-A0C3B0A4257D}"/>
              </a:ext>
            </a:extLst>
          </p:cNvPr>
          <p:cNvSpPr/>
          <p:nvPr/>
        </p:nvSpPr>
        <p:spPr>
          <a:xfrm>
            <a:off x="10153294" y="1988457"/>
            <a:ext cx="1708773" cy="3737429"/>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5" name="Tekstvak 14">
            <a:extLst>
              <a:ext uri="{FF2B5EF4-FFF2-40B4-BE49-F238E27FC236}">
                <a16:creationId xmlns:a16="http://schemas.microsoft.com/office/drawing/2014/main" id="{7BB1698F-B825-CC9A-1F79-2127419A2DFA}"/>
              </a:ext>
            </a:extLst>
          </p:cNvPr>
          <p:cNvSpPr txBox="1"/>
          <p:nvPr/>
        </p:nvSpPr>
        <p:spPr>
          <a:xfrm>
            <a:off x="5316138" y="6052458"/>
            <a:ext cx="1534606" cy="369332"/>
          </a:xfrm>
          <a:prstGeom prst="rect">
            <a:avLst/>
          </a:prstGeom>
          <a:noFill/>
        </p:spPr>
        <p:txBody>
          <a:bodyPr wrap="square" rtlCol="0">
            <a:spAutoFit/>
          </a:bodyPr>
          <a:lstStyle/>
          <a:p>
            <a:r>
              <a:rPr lang="nl-NL" dirty="0"/>
              <a:t>long term risk</a:t>
            </a:r>
          </a:p>
        </p:txBody>
      </p:sp>
      <p:cxnSp>
        <p:nvCxnSpPr>
          <p:cNvPr id="17" name="Gebogen verbindingslijn 16">
            <a:extLst>
              <a:ext uri="{FF2B5EF4-FFF2-40B4-BE49-F238E27FC236}">
                <a16:creationId xmlns:a16="http://schemas.microsoft.com/office/drawing/2014/main" id="{C60E9FC4-AD48-C33A-48DE-5172B71A13E0}"/>
              </a:ext>
            </a:extLst>
          </p:cNvPr>
          <p:cNvCxnSpPr>
            <a:cxnSpLocks/>
            <a:stCxn id="13" idx="2"/>
            <a:endCxn id="15" idx="1"/>
          </p:cNvCxnSpPr>
          <p:nvPr/>
        </p:nvCxnSpPr>
        <p:spPr>
          <a:xfrm rot="16200000" flipH="1">
            <a:off x="2945762" y="3866747"/>
            <a:ext cx="511237" cy="4229515"/>
          </a:xfrm>
          <a:prstGeom prst="bentConnector2">
            <a:avLst/>
          </a:prstGeom>
          <a:ln>
            <a:prstDash val="dash"/>
          </a:ln>
        </p:spPr>
        <p:style>
          <a:lnRef idx="2">
            <a:schemeClr val="accent1"/>
          </a:lnRef>
          <a:fillRef idx="0">
            <a:schemeClr val="accent1"/>
          </a:fillRef>
          <a:effectRef idx="1">
            <a:schemeClr val="accent1"/>
          </a:effectRef>
          <a:fontRef idx="minor">
            <a:schemeClr val="tx1"/>
          </a:fontRef>
        </p:style>
      </p:cxnSp>
      <p:cxnSp>
        <p:nvCxnSpPr>
          <p:cNvPr id="18" name="Gebogen verbindingslijn 17">
            <a:extLst>
              <a:ext uri="{FF2B5EF4-FFF2-40B4-BE49-F238E27FC236}">
                <a16:creationId xmlns:a16="http://schemas.microsoft.com/office/drawing/2014/main" id="{C768B2D0-17F3-DD55-694B-1DA6BDC3E243}"/>
              </a:ext>
            </a:extLst>
          </p:cNvPr>
          <p:cNvCxnSpPr>
            <a:cxnSpLocks/>
            <a:stCxn id="15" idx="3"/>
            <a:endCxn id="14" idx="2"/>
          </p:cNvCxnSpPr>
          <p:nvPr/>
        </p:nvCxnSpPr>
        <p:spPr>
          <a:xfrm flipV="1">
            <a:off x="6850744" y="5725886"/>
            <a:ext cx="4156937" cy="511238"/>
          </a:xfrm>
          <a:prstGeom prst="bentConnector2">
            <a:avLst/>
          </a:prstGeom>
          <a:ln>
            <a:prstDash val="dash"/>
          </a:ln>
        </p:spPr>
        <p:style>
          <a:lnRef idx="2">
            <a:schemeClr val="accent1"/>
          </a:lnRef>
          <a:fillRef idx="0">
            <a:schemeClr val="accent1"/>
          </a:fillRef>
          <a:effectRef idx="1">
            <a:schemeClr val="accent1"/>
          </a:effectRef>
          <a:fontRef idx="minor">
            <a:schemeClr val="tx1"/>
          </a:fontRef>
        </p:style>
      </p:cxnSp>
      <p:sp>
        <p:nvSpPr>
          <p:cNvPr id="23" name="Rechthoek 22">
            <a:extLst>
              <a:ext uri="{FF2B5EF4-FFF2-40B4-BE49-F238E27FC236}">
                <a16:creationId xmlns:a16="http://schemas.microsoft.com/office/drawing/2014/main" id="{3BBA2D53-D294-F1FA-DC86-1720C3A6267F}"/>
              </a:ext>
            </a:extLst>
          </p:cNvPr>
          <p:cNvSpPr/>
          <p:nvPr/>
        </p:nvSpPr>
        <p:spPr>
          <a:xfrm>
            <a:off x="5141970" y="1919512"/>
            <a:ext cx="1708774" cy="3737429"/>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26" name="Gebogen verbindingslijn 25">
            <a:extLst>
              <a:ext uri="{FF2B5EF4-FFF2-40B4-BE49-F238E27FC236}">
                <a16:creationId xmlns:a16="http://schemas.microsoft.com/office/drawing/2014/main" id="{12F952E2-9178-DD91-A437-1DF0DAA73BCC}"/>
              </a:ext>
            </a:extLst>
          </p:cNvPr>
          <p:cNvCxnSpPr>
            <a:cxnSpLocks/>
            <a:stCxn id="13" idx="0"/>
            <a:endCxn id="10" idx="1"/>
          </p:cNvCxnSpPr>
          <p:nvPr/>
        </p:nvCxnSpPr>
        <p:spPr>
          <a:xfrm rot="5400000" flipH="1" flipV="1">
            <a:off x="1931436" y="-223934"/>
            <a:ext cx="1636093" cy="3325719"/>
          </a:xfrm>
          <a:prstGeom prst="bentConnector2">
            <a:avLst/>
          </a:prstGeom>
          <a:ln>
            <a:prstDash val="dash"/>
          </a:ln>
        </p:spPr>
        <p:style>
          <a:lnRef idx="2">
            <a:schemeClr val="accent1"/>
          </a:lnRef>
          <a:fillRef idx="0">
            <a:schemeClr val="accent1"/>
          </a:fillRef>
          <a:effectRef idx="1">
            <a:schemeClr val="accent1"/>
          </a:effectRef>
          <a:fontRef idx="minor">
            <a:schemeClr val="tx1"/>
          </a:fontRef>
        </p:style>
      </p:cxnSp>
      <p:cxnSp>
        <p:nvCxnSpPr>
          <p:cNvPr id="30" name="Gebogen verbindingslijn 29">
            <a:extLst>
              <a:ext uri="{FF2B5EF4-FFF2-40B4-BE49-F238E27FC236}">
                <a16:creationId xmlns:a16="http://schemas.microsoft.com/office/drawing/2014/main" id="{1D8A642B-ED39-CF2F-3773-9E27CD85D648}"/>
              </a:ext>
            </a:extLst>
          </p:cNvPr>
          <p:cNvCxnSpPr>
            <a:cxnSpLocks/>
            <a:endCxn id="10" idx="3"/>
          </p:cNvCxnSpPr>
          <p:nvPr/>
        </p:nvCxnSpPr>
        <p:spPr>
          <a:xfrm rot="10800000">
            <a:off x="6096001" y="620878"/>
            <a:ext cx="4911681" cy="1298634"/>
          </a:xfrm>
          <a:prstGeom prst="bentConnector3">
            <a:avLst>
              <a:gd name="adj1" fmla="val 355"/>
            </a:avLst>
          </a:prstGeom>
          <a:ln>
            <a:prstDash val="dash"/>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699305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1BBE591-3B7C-0CD1-487B-AA56D0BE99F0}"/>
              </a:ext>
            </a:extLst>
          </p:cNvPr>
          <p:cNvSpPr>
            <a:spLocks noGrp="1"/>
          </p:cNvSpPr>
          <p:nvPr>
            <p:ph type="title"/>
          </p:nvPr>
        </p:nvSpPr>
        <p:spPr/>
        <p:txBody>
          <a:bodyPr/>
          <a:lstStyle/>
          <a:p>
            <a:r>
              <a:rPr lang="nl-NL" dirty="0"/>
              <a:t>Feature </a:t>
            </a:r>
            <a:r>
              <a:rPr lang="nl-NL" dirty="0" err="1"/>
              <a:t>selection</a:t>
            </a:r>
            <a:endParaRPr lang="nl-NL" dirty="0"/>
          </a:p>
        </p:txBody>
      </p:sp>
      <p:pic>
        <p:nvPicPr>
          <p:cNvPr id="5" name="Tijdelijke aanduiding voor inhoud 4">
            <a:extLst>
              <a:ext uri="{FF2B5EF4-FFF2-40B4-BE49-F238E27FC236}">
                <a16:creationId xmlns:a16="http://schemas.microsoft.com/office/drawing/2014/main" id="{0BB87A69-331A-577E-EE20-E17B7F555ECE}"/>
              </a:ext>
            </a:extLst>
          </p:cNvPr>
          <p:cNvPicPr>
            <a:picLocks noGrp="1" noChangeAspect="1"/>
          </p:cNvPicPr>
          <p:nvPr>
            <p:ph idx="1"/>
          </p:nvPr>
        </p:nvPicPr>
        <p:blipFill>
          <a:blip r:embed="rId2"/>
          <a:srcRect b="23301"/>
          <a:stretch>
            <a:fillRect/>
          </a:stretch>
        </p:blipFill>
        <p:spPr>
          <a:xfrm>
            <a:off x="5198141" y="365125"/>
            <a:ext cx="6196704" cy="6290508"/>
          </a:xfrm>
          <a:prstGeom prst="rect">
            <a:avLst/>
          </a:prstGeom>
        </p:spPr>
      </p:pic>
    </p:spTree>
    <p:extLst>
      <p:ext uri="{BB962C8B-B14F-4D97-AF65-F5344CB8AC3E}">
        <p14:creationId xmlns:p14="http://schemas.microsoft.com/office/powerpoint/2010/main" val="9679135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 4"/>
          <p:cNvSpPr/>
          <p:nvPr/>
        </p:nvSpPr>
        <p:spPr>
          <a:xfrm>
            <a:off x="66040" y="1992529"/>
            <a:ext cx="2743200" cy="1417320"/>
          </a:xfrm>
          <a:prstGeom prst="roundRect">
            <a:avLst>
              <a:gd name="adj" fmla="val 5161"/>
            </a:avLst>
          </a:prstGeom>
          <a:solidFill>
            <a:srgbClr val="E1F5EE"/>
          </a:solidFill>
          <a:ln w="9525">
            <a:solidFill>
              <a:srgbClr val="085041"/>
            </a:solidFill>
            <a:prstDash val="solid"/>
          </a:ln>
          <a:effectLst>
            <a:outerShdw blurRad="38100" dist="12700" dir="5400000" algn="bl" rotWithShape="0">
              <a:srgbClr val="AAB4B4">
                <a:alpha val="35000"/>
              </a:srgbClr>
            </a:outerShdw>
          </a:effectLst>
        </p:spPr>
        <p:txBody>
          <a:bodyPr/>
          <a:lstStyle/>
          <a:p>
            <a:pPr algn="ctr"/>
            <a:endParaRPr lang="en-US" sz="2800"/>
          </a:p>
        </p:txBody>
      </p:sp>
      <p:sp>
        <p:nvSpPr>
          <p:cNvPr id="7" name="Text 5"/>
          <p:cNvSpPr txBox="1"/>
          <p:nvPr/>
        </p:nvSpPr>
        <p:spPr>
          <a:xfrm>
            <a:off x="111760" y="1992529"/>
            <a:ext cx="2651760" cy="1417320"/>
          </a:xfrm>
          <a:prstGeom prst="rect">
            <a:avLst/>
          </a:prstGeom>
          <a:noFill/>
          <a:ln/>
        </p:spPr>
        <p:txBody>
          <a:bodyPr wrap="square" lIns="25400" tIns="25400" rIns="25400" bIns="25400" rtlCol="0" anchor="ctr"/>
          <a:lstStyle/>
          <a:p>
            <a:pPr marL="0" indent="0" algn="ctr">
              <a:buNone/>
            </a:pPr>
            <a:r>
              <a:rPr lang="en-US" b="1" dirty="0">
                <a:solidFill>
                  <a:srgbClr val="085041"/>
                </a:solidFill>
                <a:latin typeface="Calibri" pitchFamily="34" charset="0"/>
                <a:ea typeface="Calibri" pitchFamily="34" charset="-122"/>
                <a:cs typeface="Calibri" pitchFamily="34" charset="-120"/>
              </a:rPr>
              <a:t>Preprocessing </a:t>
            </a:r>
          </a:p>
          <a:p>
            <a:pPr marL="0" indent="0" algn="ctr">
              <a:buNone/>
            </a:pPr>
            <a:r>
              <a:rPr lang="en-US" b="1" dirty="0">
                <a:solidFill>
                  <a:srgbClr val="085041"/>
                </a:solidFill>
                <a:latin typeface="Calibri" pitchFamily="34" charset="0"/>
                <a:ea typeface="Calibri" pitchFamily="34" charset="-122"/>
                <a:cs typeface="Calibri" pitchFamily="34" charset="-120"/>
              </a:rPr>
              <a:t>(Frederike)</a:t>
            </a:r>
            <a:endParaRPr lang="en-US" dirty="0"/>
          </a:p>
          <a:p>
            <a:pPr marL="0" indent="0" algn="ctr">
              <a:buNone/>
            </a:pPr>
            <a:r>
              <a:rPr lang="en-US" sz="1100" dirty="0">
                <a:solidFill>
                  <a:srgbClr val="085041"/>
                </a:solidFill>
                <a:latin typeface="Calibri" pitchFamily="34" charset="0"/>
                <a:ea typeface="Calibri" pitchFamily="34" charset="-122"/>
                <a:cs typeface="Calibri" pitchFamily="34" charset="-120"/>
              </a:rPr>
              <a:t>get_data() → 6 datasets: normaal + geschaald, y_train/y_test</a:t>
            </a:r>
            <a:endParaRPr lang="en-US" dirty="0"/>
          </a:p>
        </p:txBody>
      </p:sp>
      <p:sp>
        <p:nvSpPr>
          <p:cNvPr id="8" name="Shape 6"/>
          <p:cNvSpPr/>
          <p:nvPr/>
        </p:nvSpPr>
        <p:spPr>
          <a:xfrm>
            <a:off x="66040" y="4488680"/>
            <a:ext cx="2743200" cy="1417320"/>
          </a:xfrm>
          <a:prstGeom prst="roundRect">
            <a:avLst>
              <a:gd name="adj" fmla="val 5161"/>
            </a:avLst>
          </a:prstGeom>
          <a:solidFill>
            <a:srgbClr val="E6F1FB"/>
          </a:solidFill>
          <a:ln w="9525">
            <a:solidFill>
              <a:srgbClr val="0C447C"/>
            </a:solidFill>
            <a:prstDash val="solid"/>
          </a:ln>
          <a:effectLst>
            <a:outerShdw blurRad="38100" dist="12700" dir="5400000" algn="bl" rotWithShape="0">
              <a:srgbClr val="AAB4B4">
                <a:alpha val="35000"/>
              </a:srgbClr>
            </a:outerShdw>
          </a:effectLst>
        </p:spPr>
        <p:txBody>
          <a:bodyPr/>
          <a:lstStyle/>
          <a:p>
            <a:pPr algn="ctr"/>
            <a:endParaRPr lang="en-US" sz="2800"/>
          </a:p>
        </p:txBody>
      </p:sp>
      <p:sp>
        <p:nvSpPr>
          <p:cNvPr id="9" name="Text 7"/>
          <p:cNvSpPr txBox="1"/>
          <p:nvPr/>
        </p:nvSpPr>
        <p:spPr>
          <a:xfrm>
            <a:off x="111760" y="4488680"/>
            <a:ext cx="2651760" cy="1417320"/>
          </a:xfrm>
          <a:prstGeom prst="rect">
            <a:avLst/>
          </a:prstGeom>
          <a:noFill/>
          <a:ln/>
        </p:spPr>
        <p:txBody>
          <a:bodyPr wrap="square" lIns="25400" tIns="25400" rIns="25400" bIns="25400" rtlCol="0" anchor="ctr"/>
          <a:lstStyle/>
          <a:p>
            <a:pPr marL="0" indent="0" algn="ctr">
              <a:buNone/>
            </a:pPr>
            <a:r>
              <a:rPr lang="en-US" b="1" dirty="0">
                <a:solidFill>
                  <a:srgbClr val="0C447C"/>
                </a:solidFill>
                <a:latin typeface="Calibri" pitchFamily="34" charset="0"/>
                <a:ea typeface="Calibri" pitchFamily="34" charset="-122"/>
                <a:cs typeface="Calibri" pitchFamily="34" charset="-120"/>
              </a:rPr>
              <a:t>Exploratory Data Analysis (opsplitsbaar)</a:t>
            </a:r>
            <a:endParaRPr lang="en-US" dirty="0"/>
          </a:p>
          <a:p>
            <a:pPr marL="0" indent="0" algn="ctr">
              <a:buNone/>
            </a:pPr>
            <a:r>
              <a:rPr lang="en-US" sz="1100" dirty="0">
                <a:solidFill>
                  <a:srgbClr val="0C447C"/>
                </a:solidFill>
                <a:latin typeface="Calibri" pitchFamily="34" charset="0"/>
                <a:ea typeface="Calibri" pitchFamily="34" charset="-122"/>
                <a:cs typeface="Calibri" pitchFamily="34" charset="-120"/>
              </a:rPr>
              <a:t>target • features • </a:t>
            </a:r>
            <a:r>
              <a:rPr lang="en-US" sz="1100" dirty="0" err="1">
                <a:solidFill>
                  <a:srgbClr val="0C447C"/>
                </a:solidFill>
                <a:latin typeface="Calibri" pitchFamily="34" charset="0"/>
                <a:ea typeface="Calibri" pitchFamily="34" charset="-122"/>
                <a:cs typeface="Calibri" pitchFamily="34" charset="-120"/>
              </a:rPr>
              <a:t>samenhang</a:t>
            </a:r>
            <a:endParaRPr lang="en-US" dirty="0"/>
          </a:p>
        </p:txBody>
      </p:sp>
      <p:sp>
        <p:nvSpPr>
          <p:cNvPr id="10" name="Text 8"/>
          <p:cNvSpPr txBox="1"/>
          <p:nvPr/>
        </p:nvSpPr>
        <p:spPr>
          <a:xfrm>
            <a:off x="66040" y="5951720"/>
            <a:ext cx="2743200" cy="274320"/>
          </a:xfrm>
          <a:prstGeom prst="rect">
            <a:avLst/>
          </a:prstGeom>
          <a:noFill/>
          <a:ln/>
        </p:spPr>
        <p:txBody>
          <a:bodyPr wrap="square" lIns="0" tIns="0" rIns="0" bIns="0" rtlCol="0" anchor="ctr"/>
          <a:lstStyle/>
          <a:p>
            <a:pPr marL="0" indent="0" algn="ctr">
              <a:buNone/>
            </a:pPr>
            <a:r>
              <a:rPr lang="en-US" sz="2000" i="1" dirty="0">
                <a:solidFill>
                  <a:srgbClr val="5A6B6B"/>
                </a:solidFill>
                <a:latin typeface="Calibri" pitchFamily="34" charset="0"/>
                <a:ea typeface="Calibri" pitchFamily="34" charset="-122"/>
                <a:cs typeface="Calibri" pitchFamily="34" charset="-120"/>
              </a:rPr>
              <a:t>Parallel</a:t>
            </a:r>
            <a:endParaRPr lang="en-US" sz="2000" dirty="0"/>
          </a:p>
        </p:txBody>
      </p:sp>
      <p:sp>
        <p:nvSpPr>
          <p:cNvPr id="11" name="Shape 9"/>
          <p:cNvSpPr/>
          <p:nvPr/>
        </p:nvSpPr>
        <p:spPr>
          <a:xfrm>
            <a:off x="210065" y="3766385"/>
            <a:ext cx="2964935" cy="457200"/>
          </a:xfrm>
          <a:prstGeom prst="rightArrow">
            <a:avLst/>
          </a:prstGeom>
          <a:solidFill>
            <a:srgbClr val="8AA0A0"/>
          </a:solidFill>
          <a:ln w="12700">
            <a:solidFill>
              <a:srgbClr val="8AA0A0"/>
            </a:solidFill>
            <a:prstDash val="solid"/>
          </a:ln>
        </p:spPr>
        <p:txBody>
          <a:bodyPr/>
          <a:lstStyle/>
          <a:p>
            <a:pPr algn="ctr"/>
            <a:endParaRPr lang="en-US" sz="2800"/>
          </a:p>
        </p:txBody>
      </p:sp>
      <p:sp>
        <p:nvSpPr>
          <p:cNvPr id="12" name="Shape 10"/>
          <p:cNvSpPr/>
          <p:nvPr/>
        </p:nvSpPr>
        <p:spPr>
          <a:xfrm>
            <a:off x="3175000" y="2851985"/>
            <a:ext cx="1554480" cy="2194560"/>
          </a:xfrm>
          <a:prstGeom prst="roundRect">
            <a:avLst>
              <a:gd name="adj" fmla="val 4706"/>
            </a:avLst>
          </a:prstGeom>
          <a:solidFill>
            <a:srgbClr val="FCEBEB"/>
          </a:solidFill>
          <a:ln w="9525">
            <a:solidFill>
              <a:srgbClr val="791F1F"/>
            </a:solidFill>
            <a:prstDash val="solid"/>
          </a:ln>
          <a:effectLst>
            <a:outerShdw blurRad="38100" dist="12700" dir="5400000" algn="bl" rotWithShape="0">
              <a:srgbClr val="AAB4B4">
                <a:alpha val="35000"/>
              </a:srgbClr>
            </a:outerShdw>
          </a:effectLst>
        </p:spPr>
        <p:txBody>
          <a:bodyPr/>
          <a:lstStyle/>
          <a:p>
            <a:pPr algn="ctr"/>
            <a:endParaRPr lang="en-US" sz="2800"/>
          </a:p>
        </p:txBody>
      </p:sp>
      <p:sp>
        <p:nvSpPr>
          <p:cNvPr id="13" name="Text 11"/>
          <p:cNvSpPr txBox="1"/>
          <p:nvPr/>
        </p:nvSpPr>
        <p:spPr>
          <a:xfrm>
            <a:off x="3220720" y="2851985"/>
            <a:ext cx="1463040" cy="2194560"/>
          </a:xfrm>
          <a:prstGeom prst="rect">
            <a:avLst/>
          </a:prstGeom>
          <a:noFill/>
          <a:ln/>
        </p:spPr>
        <p:txBody>
          <a:bodyPr wrap="square" lIns="25400" tIns="25400" rIns="25400" bIns="25400" rtlCol="0" anchor="ctr"/>
          <a:lstStyle/>
          <a:p>
            <a:pPr marL="0" indent="0" algn="ctr">
              <a:buNone/>
            </a:pPr>
            <a:r>
              <a:rPr lang="en-US" b="1" dirty="0">
                <a:solidFill>
                  <a:srgbClr val="791F1F"/>
                </a:solidFill>
                <a:latin typeface="Calibri" pitchFamily="34" charset="0"/>
                <a:ea typeface="Calibri" pitchFamily="34" charset="-122"/>
                <a:cs typeface="Calibri" pitchFamily="34" charset="-120"/>
              </a:rPr>
              <a:t>Meeting</a:t>
            </a:r>
          </a:p>
          <a:p>
            <a:pPr marL="0" indent="0" algn="ctr">
              <a:buNone/>
            </a:pPr>
            <a:endParaRPr lang="en-US" dirty="0"/>
          </a:p>
          <a:p>
            <a:pPr marL="0" indent="0" algn="ctr">
              <a:buNone/>
            </a:pPr>
            <a:r>
              <a:rPr lang="en-US" sz="1100" dirty="0">
                <a:solidFill>
                  <a:srgbClr val="791F1F"/>
                </a:solidFill>
                <a:latin typeface="Calibri" pitchFamily="34" charset="0"/>
                <a:ea typeface="Calibri" pitchFamily="34" charset="-122"/>
                <a:cs typeface="Calibri" pitchFamily="34" charset="-120"/>
              </a:rPr>
              <a:t>Data decisions after EDA — What does it mean for the preprocessing and modelling?</a:t>
            </a:r>
            <a:endParaRPr lang="en-US" dirty="0"/>
          </a:p>
        </p:txBody>
      </p:sp>
      <p:sp>
        <p:nvSpPr>
          <p:cNvPr id="14" name="Shape 12"/>
          <p:cNvSpPr/>
          <p:nvPr/>
        </p:nvSpPr>
        <p:spPr>
          <a:xfrm>
            <a:off x="4846319" y="3766385"/>
            <a:ext cx="2971399" cy="457200"/>
          </a:xfrm>
          <a:prstGeom prst="rightArrow">
            <a:avLst/>
          </a:prstGeom>
          <a:solidFill>
            <a:srgbClr val="8AA0A0"/>
          </a:solidFill>
          <a:ln w="12700">
            <a:solidFill>
              <a:srgbClr val="8AA0A0"/>
            </a:solidFill>
            <a:prstDash val="solid"/>
          </a:ln>
        </p:spPr>
        <p:txBody>
          <a:bodyPr/>
          <a:lstStyle/>
          <a:p>
            <a:pPr algn="ctr"/>
            <a:endParaRPr lang="en-US" sz="2800"/>
          </a:p>
        </p:txBody>
      </p:sp>
      <p:sp>
        <p:nvSpPr>
          <p:cNvPr id="15" name="Shape 13"/>
          <p:cNvSpPr/>
          <p:nvPr/>
        </p:nvSpPr>
        <p:spPr>
          <a:xfrm>
            <a:off x="5369560" y="1973479"/>
            <a:ext cx="2194560" cy="1417320"/>
          </a:xfrm>
          <a:prstGeom prst="roundRect">
            <a:avLst>
              <a:gd name="adj" fmla="val 5161"/>
            </a:avLst>
          </a:prstGeom>
          <a:solidFill>
            <a:srgbClr val="EEEDFE"/>
          </a:solidFill>
          <a:ln w="9525">
            <a:solidFill>
              <a:srgbClr val="3C3489"/>
            </a:solidFill>
            <a:prstDash val="solid"/>
          </a:ln>
          <a:effectLst>
            <a:outerShdw blurRad="38100" dist="12700" dir="5400000" algn="bl" rotWithShape="0">
              <a:srgbClr val="AAB4B4">
                <a:alpha val="35000"/>
              </a:srgbClr>
            </a:outerShdw>
          </a:effectLst>
        </p:spPr>
        <p:txBody>
          <a:bodyPr/>
          <a:lstStyle/>
          <a:p>
            <a:pPr algn="ctr"/>
            <a:endParaRPr lang="en-US" sz="2800"/>
          </a:p>
        </p:txBody>
      </p:sp>
      <p:sp>
        <p:nvSpPr>
          <p:cNvPr id="16" name="Text 14"/>
          <p:cNvSpPr txBox="1"/>
          <p:nvPr/>
        </p:nvSpPr>
        <p:spPr>
          <a:xfrm>
            <a:off x="5415280" y="1973479"/>
            <a:ext cx="2103120" cy="1417320"/>
          </a:xfrm>
          <a:prstGeom prst="rect">
            <a:avLst/>
          </a:prstGeom>
          <a:noFill/>
          <a:ln/>
        </p:spPr>
        <p:txBody>
          <a:bodyPr wrap="square" lIns="25400" tIns="25400" rIns="25400" bIns="25400" rtlCol="0" anchor="ctr"/>
          <a:lstStyle/>
          <a:p>
            <a:pPr marL="0" indent="0" algn="ctr">
              <a:buNone/>
            </a:pPr>
            <a:r>
              <a:rPr lang="en-US" b="1" dirty="0">
                <a:solidFill>
                  <a:srgbClr val="3C3489"/>
                </a:solidFill>
                <a:latin typeface="Calibri" pitchFamily="34" charset="0"/>
                <a:ea typeface="Calibri" pitchFamily="34" charset="-122"/>
                <a:cs typeface="Calibri" pitchFamily="34" charset="-120"/>
              </a:rPr>
              <a:t>Modelling 1 </a:t>
            </a:r>
          </a:p>
          <a:p>
            <a:pPr marL="0" indent="0" algn="ctr">
              <a:buNone/>
            </a:pPr>
            <a:r>
              <a:rPr lang="en-US" b="1" dirty="0">
                <a:solidFill>
                  <a:srgbClr val="3C3489"/>
                </a:solidFill>
                <a:latin typeface="Calibri" pitchFamily="34" charset="0"/>
                <a:ea typeface="Calibri" pitchFamily="34" charset="-122"/>
                <a:cs typeface="Calibri" pitchFamily="34" charset="-120"/>
              </a:rPr>
              <a:t>(Martijn)</a:t>
            </a:r>
            <a:endParaRPr lang="en-US" dirty="0"/>
          </a:p>
          <a:p>
            <a:pPr marL="0" indent="0" algn="ctr">
              <a:buNone/>
            </a:pPr>
            <a:r>
              <a:rPr lang="en-US" sz="1100" dirty="0">
                <a:solidFill>
                  <a:srgbClr val="3C3489"/>
                </a:solidFill>
                <a:latin typeface="Calibri" pitchFamily="34" charset="0"/>
                <a:ea typeface="Calibri" pitchFamily="34" charset="-122"/>
                <a:cs typeface="Calibri" pitchFamily="34" charset="-120"/>
              </a:rPr>
              <a:t>3 model options</a:t>
            </a:r>
            <a:endParaRPr lang="en-US" dirty="0"/>
          </a:p>
        </p:txBody>
      </p:sp>
      <p:sp>
        <p:nvSpPr>
          <p:cNvPr id="17" name="Shape 15"/>
          <p:cNvSpPr/>
          <p:nvPr/>
        </p:nvSpPr>
        <p:spPr>
          <a:xfrm>
            <a:off x="5415280" y="4534400"/>
            <a:ext cx="2194560" cy="1417320"/>
          </a:xfrm>
          <a:prstGeom prst="roundRect">
            <a:avLst>
              <a:gd name="adj" fmla="val 5161"/>
            </a:avLst>
          </a:prstGeom>
          <a:solidFill>
            <a:srgbClr val="EEEDFE"/>
          </a:solidFill>
          <a:ln w="9525">
            <a:solidFill>
              <a:srgbClr val="3C3489"/>
            </a:solidFill>
            <a:prstDash val="solid"/>
          </a:ln>
          <a:effectLst>
            <a:outerShdw blurRad="38100" dist="12700" dir="5400000" algn="bl" rotWithShape="0">
              <a:srgbClr val="AAB4B4">
                <a:alpha val="35000"/>
              </a:srgbClr>
            </a:outerShdw>
          </a:effectLst>
        </p:spPr>
        <p:txBody>
          <a:bodyPr/>
          <a:lstStyle/>
          <a:p>
            <a:pPr algn="ctr"/>
            <a:endParaRPr lang="en-US" sz="2800"/>
          </a:p>
        </p:txBody>
      </p:sp>
      <p:sp>
        <p:nvSpPr>
          <p:cNvPr id="18" name="Text 16"/>
          <p:cNvSpPr txBox="1"/>
          <p:nvPr/>
        </p:nvSpPr>
        <p:spPr>
          <a:xfrm>
            <a:off x="5461000" y="4534400"/>
            <a:ext cx="2103120" cy="1417320"/>
          </a:xfrm>
          <a:prstGeom prst="rect">
            <a:avLst/>
          </a:prstGeom>
          <a:noFill/>
          <a:ln/>
        </p:spPr>
        <p:txBody>
          <a:bodyPr wrap="square" lIns="25400" tIns="25400" rIns="25400" bIns="25400" rtlCol="0" anchor="ctr"/>
          <a:lstStyle/>
          <a:p>
            <a:pPr marL="0" indent="0" algn="ctr">
              <a:buNone/>
            </a:pPr>
            <a:r>
              <a:rPr lang="en-US" b="1" dirty="0">
                <a:solidFill>
                  <a:srgbClr val="3C3489"/>
                </a:solidFill>
                <a:latin typeface="Calibri" pitchFamily="34" charset="0"/>
                <a:ea typeface="Calibri" pitchFamily="34" charset="-122"/>
                <a:cs typeface="Calibri" pitchFamily="34" charset="-120"/>
              </a:rPr>
              <a:t>Modelling 2</a:t>
            </a:r>
          </a:p>
          <a:p>
            <a:pPr marL="0" indent="0" algn="ctr">
              <a:buNone/>
            </a:pPr>
            <a:r>
              <a:rPr lang="en-US" b="1" dirty="0">
                <a:solidFill>
                  <a:srgbClr val="3C3489"/>
                </a:solidFill>
                <a:latin typeface="Calibri" pitchFamily="34" charset="0"/>
                <a:ea typeface="Calibri" pitchFamily="34" charset="-122"/>
                <a:cs typeface="Calibri" pitchFamily="34" charset="-120"/>
              </a:rPr>
              <a:t>(Kylie)</a:t>
            </a:r>
            <a:endParaRPr lang="en-US" dirty="0"/>
          </a:p>
          <a:p>
            <a:pPr marL="0" indent="0" algn="ctr">
              <a:buNone/>
            </a:pPr>
            <a:r>
              <a:rPr lang="en-US" sz="1100" dirty="0">
                <a:solidFill>
                  <a:srgbClr val="3C3489"/>
                </a:solidFill>
                <a:latin typeface="Calibri" pitchFamily="34" charset="0"/>
                <a:ea typeface="Calibri" pitchFamily="34" charset="-122"/>
                <a:cs typeface="Calibri" pitchFamily="34" charset="-120"/>
              </a:rPr>
              <a:t>Exploratory deep learning</a:t>
            </a:r>
            <a:endParaRPr lang="en-US" dirty="0"/>
          </a:p>
        </p:txBody>
      </p:sp>
      <p:sp>
        <p:nvSpPr>
          <p:cNvPr id="19" name="Text 17"/>
          <p:cNvSpPr txBox="1"/>
          <p:nvPr/>
        </p:nvSpPr>
        <p:spPr>
          <a:xfrm>
            <a:off x="5415280" y="5997440"/>
            <a:ext cx="2194560" cy="274320"/>
          </a:xfrm>
          <a:prstGeom prst="rect">
            <a:avLst/>
          </a:prstGeom>
          <a:noFill/>
          <a:ln/>
        </p:spPr>
        <p:txBody>
          <a:bodyPr wrap="square" lIns="0" tIns="0" rIns="0" bIns="0" rtlCol="0" anchor="ctr"/>
          <a:lstStyle/>
          <a:p>
            <a:pPr marL="0" indent="0" algn="ctr">
              <a:buNone/>
            </a:pPr>
            <a:r>
              <a:rPr lang="en-US" sz="2000" i="1" dirty="0">
                <a:solidFill>
                  <a:srgbClr val="5A6B6B"/>
                </a:solidFill>
                <a:latin typeface="Calibri" pitchFamily="34" charset="0"/>
                <a:ea typeface="Calibri" pitchFamily="34" charset="-122"/>
                <a:cs typeface="Calibri" pitchFamily="34" charset="-120"/>
              </a:rPr>
              <a:t>Parallel</a:t>
            </a:r>
            <a:endParaRPr lang="en-US" sz="2000" dirty="0"/>
          </a:p>
        </p:txBody>
      </p:sp>
      <p:sp>
        <p:nvSpPr>
          <p:cNvPr id="20" name="Shape 18"/>
          <p:cNvSpPr/>
          <p:nvPr/>
        </p:nvSpPr>
        <p:spPr>
          <a:xfrm>
            <a:off x="9567980" y="3766385"/>
            <a:ext cx="2560320" cy="457200"/>
          </a:xfrm>
          <a:prstGeom prst="rightArrow">
            <a:avLst/>
          </a:prstGeom>
          <a:solidFill>
            <a:srgbClr val="8AA0A0"/>
          </a:solidFill>
          <a:ln w="12700">
            <a:solidFill>
              <a:srgbClr val="8AA0A0"/>
            </a:solidFill>
            <a:prstDash val="solid"/>
          </a:ln>
        </p:spPr>
        <p:txBody>
          <a:bodyPr/>
          <a:lstStyle/>
          <a:p>
            <a:pPr algn="ctr"/>
            <a:endParaRPr lang="en-US" sz="2800"/>
          </a:p>
        </p:txBody>
      </p:sp>
      <p:sp>
        <p:nvSpPr>
          <p:cNvPr id="3" name="Arrow: Up-Down 2">
            <a:extLst>
              <a:ext uri="{FF2B5EF4-FFF2-40B4-BE49-F238E27FC236}">
                <a16:creationId xmlns:a16="http://schemas.microsoft.com/office/drawing/2014/main" id="{F8541A1A-5B8E-1E84-BFCB-F110E37ECC88}"/>
              </a:ext>
            </a:extLst>
          </p:cNvPr>
          <p:cNvSpPr/>
          <p:nvPr/>
        </p:nvSpPr>
        <p:spPr>
          <a:xfrm>
            <a:off x="1254359" y="3501289"/>
            <a:ext cx="417362" cy="895951"/>
          </a:xfrm>
          <a:prstGeom prst="upDownArrow">
            <a:avLst/>
          </a:prstGeom>
          <a:solidFill>
            <a:schemeClr val="bg2">
              <a:lumMod val="9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4" name="Arrow: Up-Down 3">
            <a:extLst>
              <a:ext uri="{FF2B5EF4-FFF2-40B4-BE49-F238E27FC236}">
                <a16:creationId xmlns:a16="http://schemas.microsoft.com/office/drawing/2014/main" id="{30FB7A56-62C7-B39F-11DA-8C2ED92A5A79}"/>
              </a:ext>
            </a:extLst>
          </p:cNvPr>
          <p:cNvSpPr/>
          <p:nvPr/>
        </p:nvSpPr>
        <p:spPr>
          <a:xfrm>
            <a:off x="6258159" y="3487653"/>
            <a:ext cx="417362" cy="895951"/>
          </a:xfrm>
          <a:prstGeom prst="upDownArrow">
            <a:avLst/>
          </a:prstGeom>
          <a:solidFill>
            <a:schemeClr val="bg2">
              <a:lumMod val="9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5" name="Shape 10">
            <a:extLst>
              <a:ext uri="{FF2B5EF4-FFF2-40B4-BE49-F238E27FC236}">
                <a16:creationId xmlns:a16="http://schemas.microsoft.com/office/drawing/2014/main" id="{F0A82CE7-5045-82EA-C79A-EAA7C37D70EB}"/>
              </a:ext>
            </a:extLst>
          </p:cNvPr>
          <p:cNvSpPr/>
          <p:nvPr/>
        </p:nvSpPr>
        <p:spPr>
          <a:xfrm>
            <a:off x="7863439" y="2851985"/>
            <a:ext cx="1554480" cy="2194560"/>
          </a:xfrm>
          <a:prstGeom prst="roundRect">
            <a:avLst>
              <a:gd name="adj" fmla="val 4706"/>
            </a:avLst>
          </a:prstGeom>
          <a:solidFill>
            <a:srgbClr val="FCEBEB"/>
          </a:solidFill>
          <a:ln w="9525">
            <a:solidFill>
              <a:srgbClr val="791F1F"/>
            </a:solidFill>
            <a:prstDash val="solid"/>
          </a:ln>
          <a:effectLst>
            <a:outerShdw blurRad="38100" dist="12700" dir="5400000" algn="bl" rotWithShape="0">
              <a:srgbClr val="AAB4B4">
                <a:alpha val="35000"/>
              </a:srgbClr>
            </a:outerShdw>
          </a:effectLst>
        </p:spPr>
        <p:txBody>
          <a:bodyPr/>
          <a:lstStyle/>
          <a:p>
            <a:pPr algn="ctr"/>
            <a:endParaRPr lang="en-US" sz="2800"/>
          </a:p>
        </p:txBody>
      </p:sp>
      <p:sp>
        <p:nvSpPr>
          <p:cNvPr id="26" name="Text 11">
            <a:extLst>
              <a:ext uri="{FF2B5EF4-FFF2-40B4-BE49-F238E27FC236}">
                <a16:creationId xmlns:a16="http://schemas.microsoft.com/office/drawing/2014/main" id="{BD5ED5E1-294F-E457-3EF7-6BE3C2E43DDD}"/>
              </a:ext>
            </a:extLst>
          </p:cNvPr>
          <p:cNvSpPr txBox="1"/>
          <p:nvPr/>
        </p:nvSpPr>
        <p:spPr>
          <a:xfrm>
            <a:off x="7909159" y="2851985"/>
            <a:ext cx="1463040" cy="2194560"/>
          </a:xfrm>
          <a:prstGeom prst="rect">
            <a:avLst/>
          </a:prstGeom>
          <a:noFill/>
          <a:ln/>
        </p:spPr>
        <p:txBody>
          <a:bodyPr wrap="square" lIns="25400" tIns="25400" rIns="25400" bIns="25400" rtlCol="0" anchor="ctr"/>
          <a:lstStyle/>
          <a:p>
            <a:pPr marL="0" indent="0" algn="ctr">
              <a:buNone/>
            </a:pPr>
            <a:r>
              <a:rPr lang="en-US" b="1" dirty="0">
                <a:solidFill>
                  <a:srgbClr val="791F1F"/>
                </a:solidFill>
                <a:latin typeface="Calibri" pitchFamily="34" charset="0"/>
                <a:ea typeface="Calibri" pitchFamily="34" charset="-122"/>
                <a:cs typeface="Calibri" pitchFamily="34" charset="-120"/>
              </a:rPr>
              <a:t>Meeting</a:t>
            </a:r>
          </a:p>
          <a:p>
            <a:pPr marL="0" indent="0" algn="ctr">
              <a:buNone/>
            </a:pPr>
            <a:endParaRPr lang="en-US" dirty="0"/>
          </a:p>
          <a:p>
            <a:pPr marL="0" indent="0" algn="ctr">
              <a:buNone/>
            </a:pPr>
            <a:r>
              <a:rPr lang="en-US" sz="1100" dirty="0">
                <a:solidFill>
                  <a:srgbClr val="791F1F"/>
                </a:solidFill>
                <a:latin typeface="Calibri" pitchFamily="34" charset="0"/>
                <a:ea typeface="Calibri" pitchFamily="34" charset="-122"/>
                <a:cs typeface="Calibri" pitchFamily="34" charset="-120"/>
              </a:rPr>
              <a:t>Modelling outcome and input for app</a:t>
            </a:r>
            <a:endParaRPr lang="en-US" dirty="0"/>
          </a:p>
        </p:txBody>
      </p:sp>
      <p:sp>
        <p:nvSpPr>
          <p:cNvPr id="27" name="Shape 13">
            <a:extLst>
              <a:ext uri="{FF2B5EF4-FFF2-40B4-BE49-F238E27FC236}">
                <a16:creationId xmlns:a16="http://schemas.microsoft.com/office/drawing/2014/main" id="{BD8B2AF3-D87A-1CB2-7F6B-5EC464A3B417}"/>
              </a:ext>
            </a:extLst>
          </p:cNvPr>
          <p:cNvSpPr/>
          <p:nvPr/>
        </p:nvSpPr>
        <p:spPr>
          <a:xfrm>
            <a:off x="9888020" y="1973479"/>
            <a:ext cx="2194560" cy="1417320"/>
          </a:xfrm>
          <a:prstGeom prst="roundRect">
            <a:avLst>
              <a:gd name="adj" fmla="val 5161"/>
            </a:avLst>
          </a:prstGeom>
          <a:solidFill>
            <a:schemeClr val="accent6">
              <a:lumMod val="20000"/>
              <a:lumOff val="80000"/>
            </a:schemeClr>
          </a:solidFill>
          <a:ln w="9525">
            <a:solidFill>
              <a:schemeClr val="accent6">
                <a:lumMod val="75000"/>
              </a:schemeClr>
            </a:solidFill>
            <a:prstDash val="solid"/>
          </a:ln>
          <a:effectLst>
            <a:outerShdw blurRad="38100" dist="12700" dir="5400000" algn="bl" rotWithShape="0">
              <a:srgbClr val="AAB4B4">
                <a:alpha val="35000"/>
              </a:srgbClr>
            </a:outerShdw>
          </a:effectLst>
        </p:spPr>
        <p:txBody>
          <a:bodyPr/>
          <a:lstStyle/>
          <a:p>
            <a:pPr algn="ctr"/>
            <a:endParaRPr lang="en-US" sz="2800">
              <a:solidFill>
                <a:schemeClr val="accent6">
                  <a:lumMod val="75000"/>
                </a:schemeClr>
              </a:solidFill>
            </a:endParaRPr>
          </a:p>
        </p:txBody>
      </p:sp>
      <p:sp>
        <p:nvSpPr>
          <p:cNvPr id="28" name="Text 14">
            <a:extLst>
              <a:ext uri="{FF2B5EF4-FFF2-40B4-BE49-F238E27FC236}">
                <a16:creationId xmlns:a16="http://schemas.microsoft.com/office/drawing/2014/main" id="{1160F81D-9708-F58A-BF81-CCE08F5EE7A5}"/>
              </a:ext>
            </a:extLst>
          </p:cNvPr>
          <p:cNvSpPr txBox="1"/>
          <p:nvPr/>
        </p:nvSpPr>
        <p:spPr>
          <a:xfrm>
            <a:off x="9933740" y="1973479"/>
            <a:ext cx="2103120" cy="1417320"/>
          </a:xfrm>
          <a:prstGeom prst="rect">
            <a:avLst/>
          </a:prstGeom>
          <a:noFill/>
          <a:ln/>
        </p:spPr>
        <p:txBody>
          <a:bodyPr wrap="square" lIns="25400" tIns="25400" rIns="25400" bIns="25400" rtlCol="0" anchor="ctr"/>
          <a:lstStyle/>
          <a:p>
            <a:pPr marL="0" indent="0" algn="ctr">
              <a:buNone/>
            </a:pPr>
            <a:r>
              <a:rPr lang="en-US" b="1" dirty="0">
                <a:solidFill>
                  <a:schemeClr val="accent6">
                    <a:lumMod val="50000"/>
                  </a:schemeClr>
                </a:solidFill>
                <a:latin typeface="Calibri" pitchFamily="34" charset="0"/>
                <a:ea typeface="Calibri" pitchFamily="34" charset="-122"/>
                <a:cs typeface="Calibri" pitchFamily="34" charset="-120"/>
              </a:rPr>
              <a:t>App development (Tim &amp; Erik)</a:t>
            </a:r>
            <a:endParaRPr lang="en-US" dirty="0">
              <a:solidFill>
                <a:schemeClr val="accent6">
                  <a:lumMod val="50000"/>
                </a:schemeClr>
              </a:solidFill>
            </a:endParaRPr>
          </a:p>
        </p:txBody>
      </p:sp>
      <p:sp>
        <p:nvSpPr>
          <p:cNvPr id="29" name="Shape 15">
            <a:extLst>
              <a:ext uri="{FF2B5EF4-FFF2-40B4-BE49-F238E27FC236}">
                <a16:creationId xmlns:a16="http://schemas.microsoft.com/office/drawing/2014/main" id="{CC58BF6E-2352-4FAE-18D5-46F0DC5D41DD}"/>
              </a:ext>
            </a:extLst>
          </p:cNvPr>
          <p:cNvSpPr/>
          <p:nvPr/>
        </p:nvSpPr>
        <p:spPr>
          <a:xfrm>
            <a:off x="9933740" y="4534400"/>
            <a:ext cx="2194560" cy="1417320"/>
          </a:xfrm>
          <a:prstGeom prst="roundRect">
            <a:avLst>
              <a:gd name="adj" fmla="val 5161"/>
            </a:avLst>
          </a:prstGeom>
          <a:solidFill>
            <a:schemeClr val="accent6">
              <a:lumMod val="20000"/>
              <a:lumOff val="80000"/>
            </a:schemeClr>
          </a:solidFill>
          <a:ln w="28575">
            <a:solidFill>
              <a:schemeClr val="accent6">
                <a:lumMod val="75000"/>
              </a:schemeClr>
            </a:solidFill>
            <a:prstDash val="solid"/>
          </a:ln>
          <a:effectLst>
            <a:outerShdw blurRad="38100" dist="12700" dir="5400000" algn="bl" rotWithShape="0">
              <a:srgbClr val="AAB4B4">
                <a:alpha val="35000"/>
              </a:srgbClr>
            </a:outerShdw>
          </a:effectLst>
        </p:spPr>
        <p:txBody>
          <a:bodyPr/>
          <a:lstStyle/>
          <a:p>
            <a:pPr algn="ctr"/>
            <a:endParaRPr lang="en-US" sz="2800">
              <a:solidFill>
                <a:schemeClr val="accent6">
                  <a:lumMod val="75000"/>
                </a:schemeClr>
              </a:solidFill>
            </a:endParaRPr>
          </a:p>
        </p:txBody>
      </p:sp>
      <p:sp>
        <p:nvSpPr>
          <p:cNvPr id="30" name="Text 16">
            <a:extLst>
              <a:ext uri="{FF2B5EF4-FFF2-40B4-BE49-F238E27FC236}">
                <a16:creationId xmlns:a16="http://schemas.microsoft.com/office/drawing/2014/main" id="{52EDB5F6-0BEB-832C-096B-6A2599D8B7CE}"/>
              </a:ext>
            </a:extLst>
          </p:cNvPr>
          <p:cNvSpPr txBox="1"/>
          <p:nvPr/>
        </p:nvSpPr>
        <p:spPr>
          <a:xfrm>
            <a:off x="9979460" y="4534400"/>
            <a:ext cx="2103120" cy="1417320"/>
          </a:xfrm>
          <a:prstGeom prst="rect">
            <a:avLst/>
          </a:prstGeom>
          <a:noFill/>
          <a:ln/>
        </p:spPr>
        <p:txBody>
          <a:bodyPr wrap="square" lIns="25400" tIns="25400" rIns="25400" bIns="25400" rtlCol="0" anchor="ctr"/>
          <a:lstStyle/>
          <a:p>
            <a:pPr marL="0" indent="0" algn="ctr">
              <a:buNone/>
            </a:pPr>
            <a:r>
              <a:rPr lang="en-US" b="1" dirty="0">
                <a:solidFill>
                  <a:schemeClr val="accent6">
                    <a:lumMod val="50000"/>
                  </a:schemeClr>
                </a:solidFill>
                <a:latin typeface="Calibri" pitchFamily="34" charset="0"/>
                <a:ea typeface="Calibri" pitchFamily="34" charset="-122"/>
                <a:cs typeface="Calibri" pitchFamily="34" charset="-120"/>
              </a:rPr>
              <a:t>Final Presentation (Erik &amp; Tim)</a:t>
            </a:r>
          </a:p>
        </p:txBody>
      </p:sp>
      <p:sp>
        <p:nvSpPr>
          <p:cNvPr id="31" name="Text 17">
            <a:extLst>
              <a:ext uri="{FF2B5EF4-FFF2-40B4-BE49-F238E27FC236}">
                <a16:creationId xmlns:a16="http://schemas.microsoft.com/office/drawing/2014/main" id="{08E2A682-89D8-F613-887E-FBC8D819735A}"/>
              </a:ext>
            </a:extLst>
          </p:cNvPr>
          <p:cNvSpPr txBox="1"/>
          <p:nvPr/>
        </p:nvSpPr>
        <p:spPr>
          <a:xfrm>
            <a:off x="9933740" y="5997440"/>
            <a:ext cx="2194560" cy="274320"/>
          </a:xfrm>
          <a:prstGeom prst="rect">
            <a:avLst/>
          </a:prstGeom>
          <a:noFill/>
          <a:ln/>
        </p:spPr>
        <p:txBody>
          <a:bodyPr wrap="square" lIns="0" tIns="0" rIns="0" bIns="0" rtlCol="0" anchor="ctr"/>
          <a:lstStyle/>
          <a:p>
            <a:pPr marL="0" indent="0" algn="ctr">
              <a:buNone/>
            </a:pPr>
            <a:r>
              <a:rPr lang="en-US" sz="2000" i="1" dirty="0">
                <a:solidFill>
                  <a:srgbClr val="6A7A7A"/>
                </a:solidFill>
                <a:latin typeface="Calibri" pitchFamily="34" charset="0"/>
                <a:ea typeface="Calibri" pitchFamily="34" charset="-122"/>
                <a:cs typeface="Calibri" pitchFamily="34" charset="-120"/>
              </a:rPr>
              <a:t>Parallel</a:t>
            </a:r>
            <a:endParaRPr lang="en-US" sz="2000" dirty="0">
              <a:solidFill>
                <a:srgbClr val="6A7A7A"/>
              </a:solidFill>
            </a:endParaRPr>
          </a:p>
        </p:txBody>
      </p:sp>
      <p:sp>
        <p:nvSpPr>
          <p:cNvPr id="32" name="Arrow: Up-Down 31">
            <a:extLst>
              <a:ext uri="{FF2B5EF4-FFF2-40B4-BE49-F238E27FC236}">
                <a16:creationId xmlns:a16="http://schemas.microsoft.com/office/drawing/2014/main" id="{F20C8BC4-F848-5F16-FE42-475BB2AF059A}"/>
              </a:ext>
            </a:extLst>
          </p:cNvPr>
          <p:cNvSpPr/>
          <p:nvPr/>
        </p:nvSpPr>
        <p:spPr>
          <a:xfrm>
            <a:off x="10776619" y="3487653"/>
            <a:ext cx="417362" cy="895951"/>
          </a:xfrm>
          <a:prstGeom prst="upDownArrow">
            <a:avLst/>
          </a:prstGeom>
          <a:solidFill>
            <a:schemeClr val="bg2">
              <a:lumMod val="9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22" name="Titel 21">
            <a:extLst>
              <a:ext uri="{FF2B5EF4-FFF2-40B4-BE49-F238E27FC236}">
                <a16:creationId xmlns:a16="http://schemas.microsoft.com/office/drawing/2014/main" id="{34731511-1DDC-D74E-332D-58DCBF8F781F}"/>
              </a:ext>
            </a:extLst>
          </p:cNvPr>
          <p:cNvSpPr>
            <a:spLocks noGrp="1"/>
          </p:cNvSpPr>
          <p:nvPr>
            <p:ph type="title"/>
          </p:nvPr>
        </p:nvSpPr>
        <p:spPr/>
        <p:txBody>
          <a:bodyPr/>
          <a:lstStyle/>
          <a:p>
            <a:r>
              <a:rPr lang="nl-NL" dirty="0"/>
              <a:t>Managing data </a:t>
            </a:r>
            <a:r>
              <a:rPr lang="nl-NL" dirty="0" err="1"/>
              <a:t>and</a:t>
            </a:r>
            <a:r>
              <a:rPr lang="nl-NL" dirty="0"/>
              <a:t> code in GitHub </a:t>
            </a:r>
            <a:r>
              <a:rPr lang="nl-NL" dirty="0" err="1"/>
              <a:t>repository</a:t>
            </a:r>
            <a:endParaRPr lang="nl-NL"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502920" y="1999325"/>
            <a:ext cx="2057400" cy="1965960"/>
          </a:xfrm>
          <a:prstGeom prst="roundRect">
            <a:avLst/>
          </a:prstGeom>
          <a:solidFill>
            <a:srgbClr val="EEF3FA"/>
          </a:solidFill>
          <a:ln w="15875">
            <a:solidFill>
              <a:srgbClr val="3A7CB8"/>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defRPr sz="1600" b="1">
                <a:solidFill>
                  <a:srgbClr val="1A3A5C"/>
                </a:solidFill>
                <a:latin typeface="Calibri"/>
              </a:defRPr>
            </a:pPr>
            <a:r>
              <a:rPr dirty="0"/>
              <a:t>1. Cohort</a:t>
            </a:r>
          </a:p>
          <a:p>
            <a:pPr algn="ctr">
              <a:spcBef>
                <a:spcPts val="1000"/>
              </a:spcBef>
              <a:defRPr sz="1300">
                <a:solidFill>
                  <a:srgbClr val="333344"/>
                </a:solidFill>
                <a:latin typeface="Calibri"/>
              </a:defRPr>
            </a:pPr>
            <a:r>
              <a:rPr lang="nl-NL" sz="1600" dirty="0" err="1"/>
              <a:t>All</a:t>
            </a:r>
            <a:r>
              <a:rPr lang="nl-NL" sz="1600" dirty="0"/>
              <a:t> </a:t>
            </a:r>
            <a:r>
              <a:rPr lang="nl-NL" sz="1600" dirty="0" err="1"/>
              <a:t>participants</a:t>
            </a:r>
            <a:r>
              <a:rPr lang="nl-NL" sz="1600" dirty="0"/>
              <a:t> </a:t>
            </a:r>
            <a:r>
              <a:rPr lang="nl-NL" sz="1600" dirty="0" err="1"/>
              <a:t>with</a:t>
            </a:r>
            <a:r>
              <a:rPr lang="nl-NL" sz="1600" dirty="0"/>
              <a:t> </a:t>
            </a:r>
            <a:r>
              <a:rPr lang="nl-NL" sz="1600" dirty="0" err="1"/>
              <a:t>documented</a:t>
            </a:r>
            <a:r>
              <a:rPr lang="nl-NL" sz="1600" dirty="0"/>
              <a:t> NO diabetes at baseline</a:t>
            </a:r>
            <a:endParaRPr sz="1600" dirty="0"/>
          </a:p>
        </p:txBody>
      </p:sp>
      <p:sp>
        <p:nvSpPr>
          <p:cNvPr id="5" name="TextBox 4"/>
          <p:cNvSpPr txBox="1"/>
          <p:nvPr/>
        </p:nvSpPr>
        <p:spPr>
          <a:xfrm>
            <a:off x="2420769" y="2776565"/>
            <a:ext cx="461986" cy="646331"/>
          </a:xfrm>
          <a:prstGeom prst="rect">
            <a:avLst/>
          </a:prstGeom>
          <a:noFill/>
        </p:spPr>
        <p:txBody>
          <a:bodyPr wrap="none">
            <a:spAutoFit/>
          </a:bodyPr>
          <a:lstStyle/>
          <a:p>
            <a:pPr algn="ctr">
              <a:defRPr sz="1800">
                <a:solidFill>
                  <a:srgbClr val="3A7CB8"/>
                </a:solidFill>
              </a:defRPr>
            </a:pPr>
            <a:r>
              <a:rPr sz="3600"/>
              <a:t>→</a:t>
            </a:r>
          </a:p>
        </p:txBody>
      </p:sp>
      <p:sp>
        <p:nvSpPr>
          <p:cNvPr id="6" name="Rounded Rectangle 5"/>
          <p:cNvSpPr/>
          <p:nvPr/>
        </p:nvSpPr>
        <p:spPr>
          <a:xfrm>
            <a:off x="2743200" y="1999325"/>
            <a:ext cx="2057400" cy="1965960"/>
          </a:xfrm>
          <a:prstGeom prst="roundRect">
            <a:avLst/>
          </a:prstGeom>
          <a:solidFill>
            <a:srgbClr val="EEF3FA"/>
          </a:solidFill>
          <a:ln w="15875">
            <a:solidFill>
              <a:srgbClr val="3A7CB8"/>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defRPr sz="1600" b="1">
                <a:solidFill>
                  <a:srgbClr val="1A3A5C"/>
                </a:solidFill>
                <a:latin typeface="Calibri"/>
              </a:defRPr>
            </a:pPr>
            <a:r>
              <a:rPr dirty="0"/>
              <a:t>2. </a:t>
            </a:r>
            <a:r>
              <a:rPr lang="nl-NL" dirty="0" err="1"/>
              <a:t>Outcome</a:t>
            </a:r>
            <a:r>
              <a:rPr lang="nl-NL" dirty="0"/>
              <a:t> label</a:t>
            </a:r>
            <a:endParaRPr dirty="0"/>
          </a:p>
          <a:p>
            <a:pPr algn="ctr">
              <a:spcBef>
                <a:spcPts val="1000"/>
              </a:spcBef>
              <a:defRPr sz="1300">
                <a:solidFill>
                  <a:srgbClr val="333344"/>
                </a:solidFill>
                <a:latin typeface="Calibri"/>
              </a:defRPr>
            </a:pPr>
            <a:r>
              <a:rPr lang="nl-NL" sz="1600" dirty="0" err="1"/>
              <a:t>Newly</a:t>
            </a:r>
            <a:r>
              <a:rPr lang="nl-NL" sz="1600" dirty="0"/>
              <a:t> </a:t>
            </a:r>
            <a:r>
              <a:rPr lang="nl-NL" sz="1600" dirty="0" err="1"/>
              <a:t>developed</a:t>
            </a:r>
            <a:r>
              <a:rPr sz="1600" dirty="0"/>
              <a:t> </a:t>
            </a:r>
            <a:r>
              <a:rPr lang="nl-NL" sz="1600" dirty="0"/>
              <a:t>diabetes </a:t>
            </a:r>
            <a:r>
              <a:rPr lang="nl-NL" sz="1600" dirty="0" err="1"/>
              <a:t>based</a:t>
            </a:r>
            <a:r>
              <a:rPr lang="nl-NL" sz="1600" dirty="0"/>
              <a:t> on HbA1c &gt;6.5%</a:t>
            </a:r>
            <a:endParaRPr sz="1600" dirty="0"/>
          </a:p>
        </p:txBody>
      </p:sp>
      <p:sp>
        <p:nvSpPr>
          <p:cNvPr id="7" name="TextBox 6"/>
          <p:cNvSpPr txBox="1"/>
          <p:nvPr/>
        </p:nvSpPr>
        <p:spPr>
          <a:xfrm>
            <a:off x="4661049" y="2776565"/>
            <a:ext cx="461986" cy="646331"/>
          </a:xfrm>
          <a:prstGeom prst="rect">
            <a:avLst/>
          </a:prstGeom>
          <a:noFill/>
        </p:spPr>
        <p:txBody>
          <a:bodyPr wrap="none">
            <a:spAutoFit/>
          </a:bodyPr>
          <a:lstStyle/>
          <a:p>
            <a:pPr algn="ctr">
              <a:defRPr sz="1800">
                <a:solidFill>
                  <a:srgbClr val="3A7CB8"/>
                </a:solidFill>
              </a:defRPr>
            </a:pPr>
            <a:r>
              <a:rPr sz="3600"/>
              <a:t>→</a:t>
            </a:r>
          </a:p>
        </p:txBody>
      </p:sp>
      <p:sp>
        <p:nvSpPr>
          <p:cNvPr id="8" name="Rounded Rectangle 7"/>
          <p:cNvSpPr/>
          <p:nvPr/>
        </p:nvSpPr>
        <p:spPr>
          <a:xfrm>
            <a:off x="4983480" y="1999325"/>
            <a:ext cx="2057400" cy="1965960"/>
          </a:xfrm>
          <a:prstGeom prst="roundRect">
            <a:avLst/>
          </a:prstGeom>
          <a:solidFill>
            <a:srgbClr val="EEF3FA"/>
          </a:solidFill>
          <a:ln w="15875">
            <a:solidFill>
              <a:srgbClr val="3A7CB8"/>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defRPr sz="1600" b="1">
                <a:solidFill>
                  <a:srgbClr val="1A3A5C"/>
                </a:solidFill>
                <a:latin typeface="Calibri"/>
              </a:defRPr>
            </a:pPr>
            <a:r>
              <a:rPr dirty="0"/>
              <a:t>3. Input</a:t>
            </a:r>
          </a:p>
          <a:p>
            <a:pPr algn="ctr">
              <a:spcBef>
                <a:spcPts val="1000"/>
              </a:spcBef>
              <a:defRPr sz="1300">
                <a:solidFill>
                  <a:srgbClr val="333344"/>
                </a:solidFill>
                <a:latin typeface="Calibri"/>
              </a:defRPr>
            </a:pPr>
            <a:r>
              <a:rPr sz="1600" dirty="0"/>
              <a:t>23 </a:t>
            </a:r>
            <a:r>
              <a:rPr lang="nl-NL" sz="1600" dirty="0"/>
              <a:t>features </a:t>
            </a:r>
          </a:p>
          <a:p>
            <a:pPr algn="ctr">
              <a:spcBef>
                <a:spcPts val="1000"/>
              </a:spcBef>
              <a:defRPr sz="1300">
                <a:solidFill>
                  <a:srgbClr val="333344"/>
                </a:solidFill>
                <a:latin typeface="Calibri"/>
              </a:defRPr>
            </a:pPr>
            <a:r>
              <a:rPr lang="nl-NL" sz="1600" dirty="0"/>
              <a:t>(</a:t>
            </a:r>
            <a:r>
              <a:rPr lang="nl-NL" sz="1600" dirty="0" err="1"/>
              <a:t>only</a:t>
            </a:r>
            <a:r>
              <a:rPr lang="nl-NL" sz="1600" dirty="0"/>
              <a:t> at baseline </a:t>
            </a:r>
            <a:r>
              <a:rPr lang="nl-NL" sz="1600" dirty="0" err="1"/>
              <a:t>to</a:t>
            </a:r>
            <a:r>
              <a:rPr lang="nl-NL" sz="1600" dirty="0"/>
              <a:t> </a:t>
            </a:r>
            <a:r>
              <a:rPr lang="nl-NL" sz="1600" dirty="0" err="1"/>
              <a:t>prevent</a:t>
            </a:r>
            <a:r>
              <a:rPr lang="nl-NL" sz="1600" dirty="0"/>
              <a:t> </a:t>
            </a:r>
            <a:r>
              <a:rPr lang="nl-NL" sz="1600" dirty="0" err="1"/>
              <a:t>leakage</a:t>
            </a:r>
            <a:r>
              <a:rPr lang="nl-NL" sz="1600" dirty="0"/>
              <a:t>)</a:t>
            </a:r>
            <a:endParaRPr sz="1600" dirty="0"/>
          </a:p>
        </p:txBody>
      </p:sp>
      <p:sp>
        <p:nvSpPr>
          <p:cNvPr id="9" name="TextBox 8"/>
          <p:cNvSpPr txBox="1"/>
          <p:nvPr/>
        </p:nvSpPr>
        <p:spPr>
          <a:xfrm>
            <a:off x="6901329" y="2776565"/>
            <a:ext cx="461986" cy="646331"/>
          </a:xfrm>
          <a:prstGeom prst="rect">
            <a:avLst/>
          </a:prstGeom>
          <a:noFill/>
        </p:spPr>
        <p:txBody>
          <a:bodyPr wrap="none">
            <a:spAutoFit/>
          </a:bodyPr>
          <a:lstStyle/>
          <a:p>
            <a:pPr algn="ctr">
              <a:defRPr sz="1800">
                <a:solidFill>
                  <a:srgbClr val="3A7CB8"/>
                </a:solidFill>
              </a:defRPr>
            </a:pPr>
            <a:r>
              <a:rPr sz="3600"/>
              <a:t>→</a:t>
            </a:r>
          </a:p>
        </p:txBody>
      </p:sp>
      <p:sp>
        <p:nvSpPr>
          <p:cNvPr id="10" name="Rounded Rectangle 9"/>
          <p:cNvSpPr/>
          <p:nvPr/>
        </p:nvSpPr>
        <p:spPr>
          <a:xfrm>
            <a:off x="7223760" y="1999325"/>
            <a:ext cx="2057400" cy="1965960"/>
          </a:xfrm>
          <a:prstGeom prst="roundRect">
            <a:avLst/>
          </a:prstGeom>
          <a:solidFill>
            <a:srgbClr val="EEF3FA"/>
          </a:solidFill>
          <a:ln w="15875">
            <a:solidFill>
              <a:srgbClr val="3A7CB8"/>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defRPr sz="1600" b="1">
                <a:solidFill>
                  <a:srgbClr val="1A3A5C"/>
                </a:solidFill>
                <a:latin typeface="Calibri"/>
              </a:defRPr>
            </a:pPr>
            <a:r>
              <a:rPr dirty="0"/>
              <a:t>4. Model</a:t>
            </a:r>
            <a:r>
              <a:rPr lang="nl-NL" dirty="0"/>
              <a:t>s</a:t>
            </a:r>
            <a:endParaRPr dirty="0"/>
          </a:p>
          <a:p>
            <a:pPr marL="133350" indent="-133350">
              <a:spcBef>
                <a:spcPts val="1000"/>
              </a:spcBef>
              <a:buFont typeface="Arial" panose="020B0604020202020204" pitchFamily="34" charset="0"/>
              <a:buChar char="•"/>
              <a:defRPr sz="1300">
                <a:solidFill>
                  <a:srgbClr val="333344"/>
                </a:solidFill>
                <a:latin typeface="Calibri"/>
              </a:defRPr>
            </a:pPr>
            <a:r>
              <a:rPr sz="1600" dirty="0" err="1"/>
              <a:t>LogRe</a:t>
            </a:r>
            <a:r>
              <a:rPr lang="nl-NL" sz="1600" dirty="0"/>
              <a:t>g </a:t>
            </a:r>
            <a:r>
              <a:rPr lang="nl-NL" sz="1600" dirty="0" err="1"/>
              <a:t>elastic</a:t>
            </a:r>
            <a:r>
              <a:rPr lang="nl-NL" sz="1600" dirty="0"/>
              <a:t> net</a:t>
            </a:r>
          </a:p>
          <a:p>
            <a:pPr marL="133350" indent="-133350">
              <a:spcBef>
                <a:spcPts val="1000"/>
              </a:spcBef>
              <a:buFont typeface="Arial" panose="020B0604020202020204" pitchFamily="34" charset="0"/>
              <a:buChar char="•"/>
              <a:defRPr sz="1300">
                <a:solidFill>
                  <a:srgbClr val="333344"/>
                </a:solidFill>
                <a:latin typeface="Calibri"/>
              </a:defRPr>
            </a:pPr>
            <a:r>
              <a:rPr sz="1600" dirty="0"/>
              <a:t>R</a:t>
            </a:r>
            <a:r>
              <a:rPr lang="nl-NL" sz="1600" dirty="0" err="1"/>
              <a:t>andomForest</a:t>
            </a:r>
            <a:endParaRPr lang="nl-NL" sz="1600" dirty="0"/>
          </a:p>
          <a:p>
            <a:pPr marL="133350" indent="-133350">
              <a:spcBef>
                <a:spcPts val="1000"/>
              </a:spcBef>
              <a:buFont typeface="Arial" panose="020B0604020202020204" pitchFamily="34" charset="0"/>
              <a:buChar char="•"/>
              <a:defRPr sz="1300">
                <a:solidFill>
                  <a:srgbClr val="333344"/>
                </a:solidFill>
                <a:latin typeface="Calibri"/>
              </a:defRPr>
            </a:pPr>
            <a:r>
              <a:rPr sz="1600" dirty="0"/>
              <a:t>XGBoost</a:t>
            </a:r>
            <a:r>
              <a:rPr lang="nl-NL" sz="1600" dirty="0"/>
              <a:t> +</a:t>
            </a:r>
            <a:r>
              <a:rPr sz="1600" dirty="0"/>
              <a:t>SMOTE</a:t>
            </a:r>
          </a:p>
        </p:txBody>
      </p:sp>
      <p:sp>
        <p:nvSpPr>
          <p:cNvPr id="11" name="TextBox 10"/>
          <p:cNvSpPr txBox="1"/>
          <p:nvPr/>
        </p:nvSpPr>
        <p:spPr>
          <a:xfrm>
            <a:off x="9141609" y="2776565"/>
            <a:ext cx="461986" cy="646331"/>
          </a:xfrm>
          <a:prstGeom prst="rect">
            <a:avLst/>
          </a:prstGeom>
          <a:noFill/>
        </p:spPr>
        <p:txBody>
          <a:bodyPr wrap="none">
            <a:spAutoFit/>
          </a:bodyPr>
          <a:lstStyle/>
          <a:p>
            <a:pPr algn="ctr">
              <a:defRPr sz="1800">
                <a:solidFill>
                  <a:srgbClr val="3A7CB8"/>
                </a:solidFill>
              </a:defRPr>
            </a:pPr>
            <a:r>
              <a:rPr sz="3600"/>
              <a:t>→</a:t>
            </a:r>
          </a:p>
        </p:txBody>
      </p:sp>
      <p:sp>
        <p:nvSpPr>
          <p:cNvPr id="12" name="Rounded Rectangle 11"/>
          <p:cNvSpPr/>
          <p:nvPr/>
        </p:nvSpPr>
        <p:spPr>
          <a:xfrm>
            <a:off x="9464040" y="1999325"/>
            <a:ext cx="2057400" cy="1965960"/>
          </a:xfrm>
          <a:prstGeom prst="roundRect">
            <a:avLst/>
          </a:prstGeom>
          <a:solidFill>
            <a:srgbClr val="EEF3FA"/>
          </a:solidFill>
          <a:ln w="15875">
            <a:solidFill>
              <a:srgbClr val="3A7CB8"/>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defRPr sz="1600" b="1">
                <a:solidFill>
                  <a:srgbClr val="1A3A5C"/>
                </a:solidFill>
                <a:latin typeface="Calibri"/>
              </a:defRPr>
            </a:pPr>
            <a:r>
              <a:rPr dirty="0"/>
              <a:t>5. </a:t>
            </a:r>
            <a:r>
              <a:rPr lang="nl-NL" dirty="0"/>
              <a:t>Performance </a:t>
            </a:r>
            <a:r>
              <a:rPr lang="nl-NL" dirty="0" err="1"/>
              <a:t>evaluation</a:t>
            </a:r>
            <a:endParaRPr dirty="0"/>
          </a:p>
          <a:p>
            <a:pPr algn="ctr">
              <a:spcBef>
                <a:spcPts val="1000"/>
              </a:spcBef>
              <a:defRPr sz="1300">
                <a:solidFill>
                  <a:srgbClr val="333344"/>
                </a:solidFill>
                <a:latin typeface="Calibri"/>
              </a:defRPr>
            </a:pPr>
            <a:r>
              <a:rPr sz="1600" dirty="0" err="1"/>
              <a:t>Optuna</a:t>
            </a:r>
            <a:r>
              <a:rPr sz="1600" dirty="0"/>
              <a:t> · AU</a:t>
            </a:r>
            <a:r>
              <a:rPr lang="nl-NL" sz="1600" dirty="0"/>
              <a:t>-</a:t>
            </a:r>
            <a:r>
              <a:rPr sz="1600" dirty="0"/>
              <a:t>PRC</a:t>
            </a:r>
            <a:br>
              <a:rPr sz="1600" dirty="0"/>
            </a:br>
            <a:r>
              <a:rPr sz="1600" dirty="0" err="1"/>
              <a:t>Testset</a:t>
            </a:r>
            <a:r>
              <a:rPr sz="1600" dirty="0"/>
              <a:t> apart</a:t>
            </a:r>
          </a:p>
        </p:txBody>
      </p:sp>
      <p:sp>
        <p:nvSpPr>
          <p:cNvPr id="13" name="Rounded Rectangle 12"/>
          <p:cNvSpPr/>
          <p:nvPr/>
        </p:nvSpPr>
        <p:spPr>
          <a:xfrm>
            <a:off x="640080" y="4285325"/>
            <a:ext cx="5303520" cy="1005840"/>
          </a:xfrm>
          <a:prstGeom prst="roundRect">
            <a:avLst/>
          </a:prstGeom>
          <a:solidFill>
            <a:srgbClr val="F7F9FC"/>
          </a:solidFill>
          <a:ln>
            <a:solidFill>
              <a:srgbClr val="AABBC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1A3A5C"/>
                </a:solidFill>
                <a:latin typeface="Calibri"/>
              </a:defRPr>
            </a:pPr>
            <a:r>
              <a:rPr sz="1600" dirty="0"/>
              <a:t>Model A — </a:t>
            </a:r>
            <a:r>
              <a:rPr lang="nl-NL" sz="1600" dirty="0"/>
              <a:t>short term risk</a:t>
            </a:r>
            <a:endParaRPr sz="1600" dirty="0"/>
          </a:p>
          <a:p>
            <a:pPr algn="ctr">
              <a:defRPr sz="1300">
                <a:solidFill>
                  <a:srgbClr val="444455"/>
                </a:solidFill>
                <a:latin typeface="Calibri"/>
              </a:defRPr>
            </a:pPr>
            <a:r>
              <a:rPr sz="1600" dirty="0"/>
              <a:t>T1 → T2  ·  ~1% </a:t>
            </a:r>
            <a:r>
              <a:rPr lang="nl-NL" sz="1600" dirty="0" err="1"/>
              <a:t>newly</a:t>
            </a:r>
            <a:r>
              <a:rPr lang="nl-NL" sz="1600" dirty="0"/>
              <a:t> </a:t>
            </a:r>
            <a:r>
              <a:rPr lang="nl-NL" sz="1600" dirty="0" err="1"/>
              <a:t>developed</a:t>
            </a:r>
            <a:r>
              <a:rPr lang="nl-NL" sz="1600" dirty="0"/>
              <a:t> diabetes</a:t>
            </a:r>
            <a:endParaRPr sz="1600" dirty="0"/>
          </a:p>
        </p:txBody>
      </p:sp>
      <p:sp>
        <p:nvSpPr>
          <p:cNvPr id="14" name="Rounded Rectangle 13"/>
          <p:cNvSpPr/>
          <p:nvPr/>
        </p:nvSpPr>
        <p:spPr>
          <a:xfrm>
            <a:off x="6309360" y="4285325"/>
            <a:ext cx="5303520" cy="1005840"/>
          </a:xfrm>
          <a:prstGeom prst="roundRect">
            <a:avLst/>
          </a:prstGeom>
          <a:solidFill>
            <a:srgbClr val="F7F9FC"/>
          </a:solidFill>
          <a:ln>
            <a:solidFill>
              <a:srgbClr val="AABBC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1A3A5C"/>
                </a:solidFill>
                <a:latin typeface="Calibri"/>
              </a:defRPr>
            </a:pPr>
            <a:r>
              <a:rPr sz="1600" dirty="0"/>
              <a:t>Model B — </a:t>
            </a:r>
            <a:r>
              <a:rPr lang="nl-NL" sz="1600" dirty="0"/>
              <a:t>long term risk</a:t>
            </a:r>
            <a:endParaRPr sz="1600" dirty="0"/>
          </a:p>
          <a:p>
            <a:pPr algn="ctr">
              <a:defRPr sz="1300">
                <a:solidFill>
                  <a:srgbClr val="444455"/>
                </a:solidFill>
                <a:latin typeface="Calibri"/>
              </a:defRPr>
            </a:pPr>
            <a:r>
              <a:rPr sz="1600" dirty="0"/>
              <a:t>T1 → T3  ·  ~2,7% </a:t>
            </a:r>
            <a:r>
              <a:rPr lang="nl-NL" sz="1600" dirty="0" err="1"/>
              <a:t>newly</a:t>
            </a:r>
            <a:r>
              <a:rPr lang="nl-NL" sz="1600" dirty="0"/>
              <a:t> </a:t>
            </a:r>
            <a:r>
              <a:rPr lang="nl-NL" sz="1600" dirty="0" err="1"/>
              <a:t>developed</a:t>
            </a:r>
            <a:r>
              <a:rPr lang="nl-NL" sz="1600" dirty="0"/>
              <a:t> diabetes</a:t>
            </a:r>
            <a:endParaRPr sz="1600" dirty="0"/>
          </a:p>
        </p:txBody>
      </p:sp>
      <p:sp>
        <p:nvSpPr>
          <p:cNvPr id="15" name="TextBox 14"/>
          <p:cNvSpPr txBox="1"/>
          <p:nvPr/>
        </p:nvSpPr>
        <p:spPr>
          <a:xfrm>
            <a:off x="0" y="6550223"/>
            <a:ext cx="10972800" cy="307777"/>
          </a:xfrm>
          <a:prstGeom prst="rect">
            <a:avLst/>
          </a:prstGeom>
          <a:noFill/>
        </p:spPr>
        <p:txBody>
          <a:bodyPr wrap="square">
            <a:spAutoFit/>
          </a:bodyPr>
          <a:lstStyle/>
          <a:p>
            <a:pPr>
              <a:spcAft>
                <a:spcPts val="600"/>
              </a:spcAft>
              <a:defRPr sz="1400">
                <a:solidFill>
                  <a:srgbClr val="333344"/>
                </a:solidFill>
                <a:latin typeface="Calibri"/>
              </a:defRPr>
            </a:pPr>
            <a:r>
              <a:rPr dirty="0"/>
              <a:t>• Data: </a:t>
            </a:r>
            <a:r>
              <a:rPr dirty="0" err="1"/>
              <a:t>df_trainA</a:t>
            </a:r>
            <a:r>
              <a:rPr dirty="0"/>
              <a:t>/B &amp; </a:t>
            </a:r>
            <a:r>
              <a:rPr dirty="0" err="1"/>
              <a:t>df_testA</a:t>
            </a:r>
            <a:r>
              <a:rPr dirty="0"/>
              <a:t>/B  ·  Methode: </a:t>
            </a:r>
            <a:r>
              <a:rPr dirty="0" err="1"/>
              <a:t>Methods.docx</a:t>
            </a:r>
            <a:r>
              <a:rPr dirty="0"/>
              <a:t> op </a:t>
            </a:r>
            <a:r>
              <a:rPr dirty="0" err="1"/>
              <a:t>kyliekeijzer</a:t>
            </a:r>
            <a:r>
              <a:rPr dirty="0"/>
              <a:t>/</a:t>
            </a:r>
            <a:r>
              <a:rPr dirty="0" err="1"/>
              <a:t>exquairo</a:t>
            </a:r>
            <a:r>
              <a:rPr dirty="0"/>
              <a:t>-apex-lifelines.</a:t>
            </a:r>
          </a:p>
        </p:txBody>
      </p:sp>
      <p:sp>
        <p:nvSpPr>
          <p:cNvPr id="16" name="Titel 15">
            <a:extLst>
              <a:ext uri="{FF2B5EF4-FFF2-40B4-BE49-F238E27FC236}">
                <a16:creationId xmlns:a16="http://schemas.microsoft.com/office/drawing/2014/main" id="{4B7C0A17-2F8A-EF48-2673-4B5EFC3AF16F}"/>
              </a:ext>
            </a:extLst>
          </p:cNvPr>
          <p:cNvSpPr>
            <a:spLocks noGrp="1"/>
          </p:cNvSpPr>
          <p:nvPr>
            <p:ph type="title"/>
          </p:nvPr>
        </p:nvSpPr>
        <p:spPr/>
        <p:txBody>
          <a:bodyPr/>
          <a:lstStyle/>
          <a:p>
            <a:r>
              <a:rPr lang="nl-NL" dirty="0"/>
              <a:t>Machine </a:t>
            </a:r>
            <a:r>
              <a:rPr lang="nl-NL" dirty="0" err="1"/>
              <a:t>learning</a:t>
            </a:r>
            <a:r>
              <a:rPr lang="nl-NL" dirty="0"/>
              <a:t> pipeline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4B068B8-6BA5-07B0-4DC7-A30C7B94C5E6}"/>
              </a:ext>
            </a:extLst>
          </p:cNvPr>
          <p:cNvSpPr>
            <a:spLocks noGrp="1"/>
          </p:cNvSpPr>
          <p:nvPr>
            <p:ph type="title"/>
          </p:nvPr>
        </p:nvSpPr>
        <p:spPr/>
        <p:txBody>
          <a:bodyPr/>
          <a:lstStyle/>
          <a:p>
            <a:r>
              <a:rPr lang="nl-NL" dirty="0" err="1"/>
              <a:t>Results</a:t>
            </a:r>
            <a:r>
              <a:rPr lang="nl-NL" dirty="0"/>
              <a:t> model A ‘short term risk’</a:t>
            </a:r>
          </a:p>
        </p:txBody>
      </p:sp>
      <p:graphicFrame>
        <p:nvGraphicFramePr>
          <p:cNvPr id="45" name="Tabel 44">
            <a:extLst>
              <a:ext uri="{FF2B5EF4-FFF2-40B4-BE49-F238E27FC236}">
                <a16:creationId xmlns:a16="http://schemas.microsoft.com/office/drawing/2014/main" id="{5F5A1B7F-367F-F88C-85AB-F5130A8B93AB}"/>
              </a:ext>
            </a:extLst>
          </p:cNvPr>
          <p:cNvGraphicFramePr>
            <a:graphicFrameLocks noGrp="1"/>
          </p:cNvGraphicFramePr>
          <p:nvPr>
            <p:extLst>
              <p:ext uri="{D42A27DB-BD31-4B8C-83A1-F6EECF244321}">
                <p14:modId xmlns:p14="http://schemas.microsoft.com/office/powerpoint/2010/main" val="3303339371"/>
              </p:ext>
            </p:extLst>
          </p:nvPr>
        </p:nvGraphicFramePr>
        <p:xfrm>
          <a:off x="838201" y="2107775"/>
          <a:ext cx="10748375" cy="1754510"/>
        </p:xfrm>
        <a:graphic>
          <a:graphicData uri="http://schemas.openxmlformats.org/drawingml/2006/table">
            <a:tbl>
              <a:tblPr>
                <a:tableStyleId>{5C22544A-7EE6-4342-B048-85BDC9FD1C3A}</a:tableStyleId>
              </a:tblPr>
              <a:tblGrid>
                <a:gridCol w="1535482">
                  <a:extLst>
                    <a:ext uri="{9D8B030D-6E8A-4147-A177-3AD203B41FA5}">
                      <a16:colId xmlns:a16="http://schemas.microsoft.com/office/drawing/2014/main" val="3566996340"/>
                    </a:ext>
                  </a:extLst>
                </a:gridCol>
                <a:gridCol w="909167">
                  <a:extLst>
                    <a:ext uri="{9D8B030D-6E8A-4147-A177-3AD203B41FA5}">
                      <a16:colId xmlns:a16="http://schemas.microsoft.com/office/drawing/2014/main" val="1926917863"/>
                    </a:ext>
                  </a:extLst>
                </a:gridCol>
                <a:gridCol w="1192018">
                  <a:extLst>
                    <a:ext uri="{9D8B030D-6E8A-4147-A177-3AD203B41FA5}">
                      <a16:colId xmlns:a16="http://schemas.microsoft.com/office/drawing/2014/main" val="390186314"/>
                    </a:ext>
                  </a:extLst>
                </a:gridCol>
                <a:gridCol w="1777927">
                  <a:extLst>
                    <a:ext uri="{9D8B030D-6E8A-4147-A177-3AD203B41FA5}">
                      <a16:colId xmlns:a16="http://schemas.microsoft.com/office/drawing/2014/main" val="3161197729"/>
                    </a:ext>
                  </a:extLst>
                </a:gridCol>
                <a:gridCol w="1777927">
                  <a:extLst>
                    <a:ext uri="{9D8B030D-6E8A-4147-A177-3AD203B41FA5}">
                      <a16:colId xmlns:a16="http://schemas.microsoft.com/office/drawing/2014/main" val="1084661732"/>
                    </a:ext>
                  </a:extLst>
                </a:gridCol>
                <a:gridCol w="1777927">
                  <a:extLst>
                    <a:ext uri="{9D8B030D-6E8A-4147-A177-3AD203B41FA5}">
                      <a16:colId xmlns:a16="http://schemas.microsoft.com/office/drawing/2014/main" val="3202945186"/>
                    </a:ext>
                  </a:extLst>
                </a:gridCol>
                <a:gridCol w="1777927">
                  <a:extLst>
                    <a:ext uri="{9D8B030D-6E8A-4147-A177-3AD203B41FA5}">
                      <a16:colId xmlns:a16="http://schemas.microsoft.com/office/drawing/2014/main" val="3950945192"/>
                    </a:ext>
                  </a:extLst>
                </a:gridCol>
              </a:tblGrid>
              <a:tr h="481966">
                <a:tc gridSpan="7">
                  <a:txBody>
                    <a:bodyPr/>
                    <a:lstStyle/>
                    <a:p>
                      <a:pPr marL="0" marR="0">
                        <a:buNone/>
                      </a:pPr>
                      <a:r>
                        <a:rPr lang="nl-NL" sz="2400" b="1" dirty="0">
                          <a:effectLst/>
                        </a:rPr>
                        <a:t>Train set</a:t>
                      </a:r>
                    </a:p>
                  </a:txBody>
                  <a:tcPr marL="52388" marR="52388" marT="52388" marB="52388"/>
                </a:tc>
                <a:tc hMerge="1">
                  <a:txBody>
                    <a:bodyPr/>
                    <a:lstStyle/>
                    <a:p>
                      <a:pPr marL="0" marR="0">
                        <a:buNone/>
                      </a:pPr>
                      <a:endParaRPr lang="nl-NL">
                        <a:effectLst/>
                      </a:endParaRPr>
                    </a:p>
                  </a:txBody>
                  <a:tcPr marL="38100" marR="38100" marT="38100" marB="38100"/>
                </a:tc>
                <a:tc hMerge="1">
                  <a:txBody>
                    <a:bodyPr/>
                    <a:lstStyle/>
                    <a:p>
                      <a:pPr marL="0" marR="0">
                        <a:buNone/>
                      </a:pPr>
                      <a:endParaRPr lang="nl-NL">
                        <a:effectLst/>
                      </a:endParaRPr>
                    </a:p>
                  </a:txBody>
                  <a:tcPr marL="38100" marR="38100" marT="38100" marB="38100"/>
                </a:tc>
                <a:tc hMerge="1">
                  <a:txBody>
                    <a:bodyPr/>
                    <a:lstStyle/>
                    <a:p>
                      <a:pPr marL="0" marR="0">
                        <a:buNone/>
                      </a:pPr>
                      <a:endParaRPr lang="nl-NL">
                        <a:effectLst/>
                      </a:endParaRPr>
                    </a:p>
                  </a:txBody>
                  <a:tcPr marL="38100" marR="38100" marT="38100" marB="38100"/>
                </a:tc>
                <a:tc hMerge="1">
                  <a:txBody>
                    <a:bodyPr/>
                    <a:lstStyle/>
                    <a:p>
                      <a:pPr marL="0" marR="0">
                        <a:buNone/>
                      </a:pPr>
                      <a:endParaRPr lang="nl-NL">
                        <a:effectLst/>
                      </a:endParaRPr>
                    </a:p>
                  </a:txBody>
                  <a:tcPr marL="38100" marR="38100" marT="38100" marB="38100"/>
                </a:tc>
                <a:tc hMerge="1">
                  <a:txBody>
                    <a:bodyPr/>
                    <a:lstStyle/>
                    <a:p>
                      <a:pPr marL="0" marR="0">
                        <a:buNone/>
                      </a:pPr>
                      <a:endParaRPr lang="nl-NL">
                        <a:effectLst/>
                      </a:endParaRPr>
                    </a:p>
                  </a:txBody>
                  <a:tcPr marL="38100" marR="38100" marT="38100" marB="38100"/>
                </a:tc>
                <a:tc hMerge="1">
                  <a:txBody>
                    <a:bodyPr/>
                    <a:lstStyle/>
                    <a:p>
                      <a:pPr marL="0" marR="0">
                        <a:buNone/>
                      </a:pPr>
                      <a:endParaRPr lang="nl-NL" dirty="0">
                        <a:effectLst/>
                      </a:endParaRPr>
                    </a:p>
                  </a:txBody>
                  <a:tcPr marL="38100" marR="38100" marT="38100" marB="38100"/>
                </a:tc>
                <a:extLst>
                  <a:ext uri="{0D108BD9-81ED-4DB2-BD59-A6C34878D82A}">
                    <a16:rowId xmlns:a16="http://schemas.microsoft.com/office/drawing/2014/main" val="1139923975"/>
                  </a:ext>
                </a:extLst>
              </a:tr>
              <a:tr h="261938">
                <a:tc>
                  <a:txBody>
                    <a:bodyPr/>
                    <a:lstStyle/>
                    <a:p>
                      <a:pPr marL="0" marR="0">
                        <a:buNone/>
                      </a:pPr>
                      <a:r>
                        <a:rPr lang="nl-NL" sz="1400" b="1" dirty="0">
                          <a:effectLst/>
                        </a:rPr>
                        <a:t>model</a:t>
                      </a:r>
                      <a:endParaRPr lang="nl-NL" sz="4000" b="1" dirty="0">
                        <a:effectLst/>
                      </a:endParaRPr>
                    </a:p>
                  </a:txBody>
                  <a:tcPr marL="52388" marR="52388" marT="52388" marB="52388"/>
                </a:tc>
                <a:tc>
                  <a:txBody>
                    <a:bodyPr/>
                    <a:lstStyle/>
                    <a:p>
                      <a:pPr marL="0" marR="0">
                        <a:buNone/>
                      </a:pPr>
                      <a:r>
                        <a:rPr lang="nl-NL" sz="1400" b="1">
                          <a:effectLst/>
                        </a:rPr>
                        <a:t>threshold</a:t>
                      </a:r>
                      <a:endParaRPr lang="nl-NL" sz="4000" b="1">
                        <a:effectLst/>
                      </a:endParaRPr>
                    </a:p>
                  </a:txBody>
                  <a:tcPr marL="52388" marR="52388" marT="52388" marB="52388"/>
                </a:tc>
                <a:tc>
                  <a:txBody>
                    <a:bodyPr/>
                    <a:lstStyle/>
                    <a:p>
                      <a:pPr marL="0" marR="0">
                        <a:buNone/>
                      </a:pPr>
                      <a:r>
                        <a:rPr lang="nl-NL" sz="1400" b="1">
                          <a:effectLst/>
                        </a:rPr>
                        <a:t>% Abnormal</a:t>
                      </a:r>
                      <a:endParaRPr lang="nl-NL" sz="4000" b="1">
                        <a:effectLst/>
                      </a:endParaRPr>
                    </a:p>
                  </a:txBody>
                  <a:tcPr marL="52388" marR="52388" marT="52388" marB="52388"/>
                </a:tc>
                <a:tc>
                  <a:txBody>
                    <a:bodyPr/>
                    <a:lstStyle/>
                    <a:p>
                      <a:pPr marL="0" marR="0">
                        <a:buNone/>
                      </a:pPr>
                      <a:r>
                        <a:rPr lang="nl-NL" sz="1400" b="1">
                          <a:effectLst/>
                        </a:rPr>
                        <a:t>AUROC</a:t>
                      </a:r>
                      <a:endParaRPr lang="nl-NL" sz="4000" b="1">
                        <a:effectLst/>
                      </a:endParaRPr>
                    </a:p>
                  </a:txBody>
                  <a:tcPr marL="52388" marR="52388" marT="52388" marB="52388"/>
                </a:tc>
                <a:tc>
                  <a:txBody>
                    <a:bodyPr/>
                    <a:lstStyle/>
                    <a:p>
                      <a:pPr marL="0" marR="0">
                        <a:buNone/>
                      </a:pPr>
                      <a:r>
                        <a:rPr lang="nl-NL" sz="1400" b="1">
                          <a:effectLst/>
                        </a:rPr>
                        <a:t>AUPRC</a:t>
                      </a:r>
                      <a:endParaRPr lang="nl-NL" sz="4000" b="1">
                        <a:effectLst/>
                      </a:endParaRPr>
                    </a:p>
                  </a:txBody>
                  <a:tcPr marL="52388" marR="52388" marT="52388" marB="52388"/>
                </a:tc>
                <a:tc>
                  <a:txBody>
                    <a:bodyPr/>
                    <a:lstStyle/>
                    <a:p>
                      <a:pPr marL="0" marR="0">
                        <a:buNone/>
                      </a:pPr>
                      <a:r>
                        <a:rPr lang="nl-NL" sz="1400" b="1">
                          <a:effectLst/>
                        </a:rPr>
                        <a:t>Precision</a:t>
                      </a:r>
                      <a:endParaRPr lang="nl-NL" sz="4000" b="1">
                        <a:effectLst/>
                      </a:endParaRPr>
                    </a:p>
                  </a:txBody>
                  <a:tcPr marL="52388" marR="52388" marT="52388" marB="52388"/>
                </a:tc>
                <a:tc>
                  <a:txBody>
                    <a:bodyPr/>
                    <a:lstStyle/>
                    <a:p>
                      <a:pPr marL="0" marR="0">
                        <a:buNone/>
                      </a:pPr>
                      <a:r>
                        <a:rPr lang="nl-NL" sz="1400" b="1" dirty="0">
                          <a:effectLst/>
                        </a:rPr>
                        <a:t>Recall</a:t>
                      </a:r>
                      <a:endParaRPr lang="nl-NL" sz="4000" b="1" dirty="0">
                        <a:effectLst/>
                      </a:endParaRPr>
                    </a:p>
                  </a:txBody>
                  <a:tcPr marL="52388" marR="52388" marT="52388" marB="52388"/>
                </a:tc>
                <a:extLst>
                  <a:ext uri="{0D108BD9-81ED-4DB2-BD59-A6C34878D82A}">
                    <a16:rowId xmlns:a16="http://schemas.microsoft.com/office/drawing/2014/main" val="1062846381"/>
                  </a:ext>
                </a:extLst>
              </a:tr>
              <a:tr h="261938">
                <a:tc>
                  <a:txBody>
                    <a:bodyPr/>
                    <a:lstStyle/>
                    <a:p>
                      <a:pPr marL="0" marR="0">
                        <a:buNone/>
                      </a:pPr>
                      <a:r>
                        <a:rPr lang="nl-NL" sz="1400">
                          <a:effectLst/>
                        </a:rPr>
                        <a:t>logreg_elasticnet</a:t>
                      </a:r>
                      <a:endParaRPr lang="nl-NL" sz="4000">
                        <a:effectLst/>
                      </a:endParaRPr>
                    </a:p>
                  </a:txBody>
                  <a:tcPr marL="52388" marR="52388" marT="52388" marB="52388"/>
                </a:tc>
                <a:tc>
                  <a:txBody>
                    <a:bodyPr/>
                    <a:lstStyle/>
                    <a:p>
                      <a:pPr marL="0" marR="0">
                        <a:buNone/>
                      </a:pPr>
                      <a:r>
                        <a:rPr lang="nl-NL" sz="1400">
                          <a:effectLst/>
                        </a:rPr>
                        <a:t>889</a:t>
                      </a:r>
                      <a:endParaRPr lang="nl-NL" sz="4000">
                        <a:effectLst/>
                      </a:endParaRPr>
                    </a:p>
                  </a:txBody>
                  <a:tcPr marL="52388" marR="52388" marT="52388" marB="52388"/>
                </a:tc>
                <a:tc>
                  <a:txBody>
                    <a:bodyPr/>
                    <a:lstStyle/>
                    <a:p>
                      <a:pPr marL="0" marR="0">
                        <a:buNone/>
                      </a:pPr>
                      <a:r>
                        <a:rPr lang="nl-NL" sz="1400" dirty="0">
                          <a:effectLst/>
                        </a:rPr>
                        <a:t>1.01%</a:t>
                      </a:r>
                      <a:endParaRPr lang="nl-NL" sz="4000" dirty="0">
                        <a:effectLst/>
                      </a:endParaRPr>
                    </a:p>
                  </a:txBody>
                  <a:tcPr marL="52388" marR="52388" marT="52388" marB="52388"/>
                </a:tc>
                <a:tc>
                  <a:txBody>
                    <a:bodyPr/>
                    <a:lstStyle/>
                    <a:p>
                      <a:pPr marL="0" marR="0">
                        <a:buNone/>
                      </a:pPr>
                      <a:r>
                        <a:rPr lang="nl-NL" sz="1400" dirty="0">
                          <a:effectLst/>
                        </a:rPr>
                        <a:t>0.94 [0.91, 0.96]</a:t>
                      </a:r>
                      <a:endParaRPr lang="nl-NL" sz="4000" dirty="0">
                        <a:effectLst/>
                      </a:endParaRPr>
                    </a:p>
                  </a:txBody>
                  <a:tcPr marL="52388" marR="52388" marT="52388" marB="52388"/>
                </a:tc>
                <a:tc>
                  <a:txBody>
                    <a:bodyPr/>
                    <a:lstStyle/>
                    <a:p>
                      <a:pPr marL="0" marR="0">
                        <a:buNone/>
                      </a:pPr>
                      <a:r>
                        <a:rPr lang="nl-NL" sz="1400" dirty="0">
                          <a:effectLst/>
                        </a:rPr>
                        <a:t>0.29 [0.21, 0.38]</a:t>
                      </a:r>
                      <a:endParaRPr lang="nl-NL" sz="4000" dirty="0">
                        <a:effectLst/>
                      </a:endParaRPr>
                    </a:p>
                  </a:txBody>
                  <a:tcPr marL="52388" marR="52388" marT="52388" marB="52388"/>
                </a:tc>
                <a:tc>
                  <a:txBody>
                    <a:bodyPr/>
                    <a:lstStyle/>
                    <a:p>
                      <a:pPr marL="0" marR="0">
                        <a:buNone/>
                      </a:pPr>
                      <a:r>
                        <a:rPr lang="nl-NL" sz="1400" dirty="0">
                          <a:effectLst/>
                        </a:rPr>
                        <a:t>0.31 [0.24, 0.38]</a:t>
                      </a:r>
                      <a:endParaRPr lang="nl-NL" sz="4000" dirty="0">
                        <a:effectLst/>
                      </a:endParaRPr>
                    </a:p>
                  </a:txBody>
                  <a:tcPr marL="52388" marR="52388" marT="52388" marB="52388"/>
                </a:tc>
                <a:tc>
                  <a:txBody>
                    <a:bodyPr/>
                    <a:lstStyle/>
                    <a:p>
                      <a:pPr marL="0" marR="0">
                        <a:buNone/>
                      </a:pPr>
                      <a:r>
                        <a:rPr lang="nl-NL" sz="1400" dirty="0">
                          <a:effectLst/>
                        </a:rPr>
                        <a:t>0.52 [0.44, 0.60]</a:t>
                      </a:r>
                      <a:endParaRPr lang="nl-NL" sz="4000" dirty="0">
                        <a:effectLst/>
                      </a:endParaRPr>
                    </a:p>
                  </a:txBody>
                  <a:tcPr marL="52388" marR="52388" marT="52388" marB="52388"/>
                </a:tc>
                <a:extLst>
                  <a:ext uri="{0D108BD9-81ED-4DB2-BD59-A6C34878D82A}">
                    <a16:rowId xmlns:a16="http://schemas.microsoft.com/office/drawing/2014/main" val="3297196175"/>
                  </a:ext>
                </a:extLst>
              </a:tr>
              <a:tr h="261938">
                <a:tc>
                  <a:txBody>
                    <a:bodyPr/>
                    <a:lstStyle/>
                    <a:p>
                      <a:pPr marL="0" marR="0">
                        <a:buNone/>
                      </a:pPr>
                      <a:r>
                        <a:rPr lang="nl-NL" sz="1400" dirty="0" err="1">
                          <a:effectLst/>
                        </a:rPr>
                        <a:t>random_forest</a:t>
                      </a:r>
                      <a:endParaRPr lang="nl-NL" sz="4000" dirty="0">
                        <a:effectLst/>
                      </a:endParaRPr>
                    </a:p>
                  </a:txBody>
                  <a:tcPr marL="52388" marR="52388" marT="52388" marB="52388"/>
                </a:tc>
                <a:tc>
                  <a:txBody>
                    <a:bodyPr/>
                    <a:lstStyle/>
                    <a:p>
                      <a:pPr marL="0" marR="0">
                        <a:buNone/>
                      </a:pPr>
                      <a:r>
                        <a:rPr lang="nl-NL" sz="1400">
                          <a:effectLst/>
                        </a:rPr>
                        <a:t>684</a:t>
                      </a:r>
                      <a:endParaRPr lang="nl-NL" sz="4000">
                        <a:effectLst/>
                      </a:endParaRPr>
                    </a:p>
                  </a:txBody>
                  <a:tcPr marL="52388" marR="52388" marT="52388" marB="52388"/>
                </a:tc>
                <a:tc>
                  <a:txBody>
                    <a:bodyPr/>
                    <a:lstStyle/>
                    <a:p>
                      <a:pPr marL="0" marR="0">
                        <a:buNone/>
                      </a:pPr>
                      <a:r>
                        <a:rPr lang="nl-NL" sz="1400">
                          <a:effectLst/>
                        </a:rPr>
                        <a:t>1.01%</a:t>
                      </a:r>
                      <a:endParaRPr lang="nl-NL" sz="4000">
                        <a:effectLst/>
                      </a:endParaRPr>
                    </a:p>
                  </a:txBody>
                  <a:tcPr marL="52388" marR="52388" marT="52388" marB="52388"/>
                </a:tc>
                <a:tc>
                  <a:txBody>
                    <a:bodyPr/>
                    <a:lstStyle/>
                    <a:p>
                      <a:pPr marL="0" marR="0">
                        <a:buNone/>
                      </a:pPr>
                      <a:r>
                        <a:rPr lang="nl-NL" sz="1400" dirty="0">
                          <a:effectLst/>
                        </a:rPr>
                        <a:t>0.99 [0.98, 0.99]</a:t>
                      </a:r>
                      <a:endParaRPr lang="nl-NL" sz="4000" dirty="0">
                        <a:effectLst/>
                      </a:endParaRPr>
                    </a:p>
                  </a:txBody>
                  <a:tcPr marL="52388" marR="52388" marT="52388" marB="52388"/>
                </a:tc>
                <a:tc>
                  <a:txBody>
                    <a:bodyPr/>
                    <a:lstStyle/>
                    <a:p>
                      <a:pPr marL="0" marR="0">
                        <a:buNone/>
                      </a:pPr>
                      <a:r>
                        <a:rPr lang="nl-NL" sz="1400" dirty="0">
                          <a:effectLst/>
                        </a:rPr>
                        <a:t>0.61 [0.53, 0.68]</a:t>
                      </a:r>
                      <a:endParaRPr lang="nl-NL" sz="4000" dirty="0">
                        <a:effectLst/>
                      </a:endParaRPr>
                    </a:p>
                  </a:txBody>
                  <a:tcPr marL="52388" marR="52388" marT="52388" marB="52388"/>
                </a:tc>
                <a:tc>
                  <a:txBody>
                    <a:bodyPr/>
                    <a:lstStyle/>
                    <a:p>
                      <a:pPr marL="0" marR="0">
                        <a:buNone/>
                      </a:pPr>
                      <a:r>
                        <a:rPr lang="nl-NL" sz="1400" dirty="0">
                          <a:effectLst/>
                        </a:rPr>
                        <a:t>0.61 [0.51, 0.69]</a:t>
                      </a:r>
                      <a:endParaRPr lang="nl-NL" sz="4000" dirty="0">
                        <a:effectLst/>
                      </a:endParaRPr>
                    </a:p>
                  </a:txBody>
                  <a:tcPr marL="52388" marR="52388" marT="52388" marB="52388"/>
                </a:tc>
                <a:tc>
                  <a:txBody>
                    <a:bodyPr/>
                    <a:lstStyle/>
                    <a:p>
                      <a:pPr marL="0" marR="0">
                        <a:buNone/>
                      </a:pPr>
                      <a:r>
                        <a:rPr lang="nl-NL" sz="1400" dirty="0">
                          <a:effectLst/>
                        </a:rPr>
                        <a:t>0.55 [0.46, 0.63]</a:t>
                      </a:r>
                      <a:endParaRPr lang="nl-NL" sz="4000" dirty="0">
                        <a:effectLst/>
                      </a:endParaRPr>
                    </a:p>
                  </a:txBody>
                  <a:tcPr marL="52388" marR="52388" marT="52388" marB="52388"/>
                </a:tc>
                <a:extLst>
                  <a:ext uri="{0D108BD9-81ED-4DB2-BD59-A6C34878D82A}">
                    <a16:rowId xmlns:a16="http://schemas.microsoft.com/office/drawing/2014/main" val="772046934"/>
                  </a:ext>
                </a:extLst>
              </a:tr>
              <a:tr h="261938">
                <a:tc>
                  <a:txBody>
                    <a:bodyPr/>
                    <a:lstStyle/>
                    <a:p>
                      <a:pPr marL="0" marR="0">
                        <a:buNone/>
                      </a:pPr>
                      <a:r>
                        <a:rPr lang="nl-NL" sz="1400" dirty="0" err="1">
                          <a:effectLst/>
                        </a:rPr>
                        <a:t>xgboost</a:t>
                      </a:r>
                      <a:endParaRPr lang="nl-NL" sz="4000" dirty="0">
                        <a:effectLst/>
                      </a:endParaRPr>
                    </a:p>
                  </a:txBody>
                  <a:tcPr marL="52388" marR="52388" marT="52388" marB="52388"/>
                </a:tc>
                <a:tc>
                  <a:txBody>
                    <a:bodyPr/>
                    <a:lstStyle/>
                    <a:p>
                      <a:pPr marL="0" marR="0">
                        <a:buNone/>
                      </a:pPr>
                      <a:r>
                        <a:rPr lang="nl-NL" sz="1400">
                          <a:effectLst/>
                        </a:rPr>
                        <a:t>771</a:t>
                      </a:r>
                      <a:endParaRPr lang="nl-NL" sz="4000">
                        <a:effectLst/>
                      </a:endParaRPr>
                    </a:p>
                  </a:txBody>
                  <a:tcPr marL="52388" marR="52388" marT="52388" marB="52388"/>
                </a:tc>
                <a:tc>
                  <a:txBody>
                    <a:bodyPr/>
                    <a:lstStyle/>
                    <a:p>
                      <a:pPr marL="0" marR="0">
                        <a:buNone/>
                      </a:pPr>
                      <a:r>
                        <a:rPr lang="nl-NL" sz="1400">
                          <a:effectLst/>
                        </a:rPr>
                        <a:t>1.01%</a:t>
                      </a:r>
                      <a:endParaRPr lang="nl-NL" sz="4000">
                        <a:effectLst/>
                      </a:endParaRPr>
                    </a:p>
                  </a:txBody>
                  <a:tcPr marL="52388" marR="52388" marT="52388" marB="52388"/>
                </a:tc>
                <a:tc>
                  <a:txBody>
                    <a:bodyPr/>
                    <a:lstStyle/>
                    <a:p>
                      <a:pPr marL="0" marR="0">
                        <a:buNone/>
                      </a:pPr>
                      <a:r>
                        <a:rPr lang="nl-NL" sz="1400" dirty="0">
                          <a:effectLst/>
                        </a:rPr>
                        <a:t>0.95 [0.93, 0.97]</a:t>
                      </a:r>
                      <a:endParaRPr lang="nl-NL" sz="4000" dirty="0">
                        <a:effectLst/>
                      </a:endParaRPr>
                    </a:p>
                  </a:txBody>
                  <a:tcPr marL="52388" marR="52388" marT="52388" marB="52388"/>
                </a:tc>
                <a:tc>
                  <a:txBody>
                    <a:bodyPr/>
                    <a:lstStyle/>
                    <a:p>
                      <a:pPr marL="0" marR="0">
                        <a:buNone/>
                      </a:pPr>
                      <a:r>
                        <a:rPr lang="nl-NL" sz="1400" dirty="0">
                          <a:effectLst/>
                        </a:rPr>
                        <a:t>0.33 [0.25, 0.42]</a:t>
                      </a:r>
                      <a:endParaRPr lang="nl-NL" sz="4000" dirty="0">
                        <a:effectLst/>
                      </a:endParaRPr>
                    </a:p>
                  </a:txBody>
                  <a:tcPr marL="52388" marR="52388" marT="52388" marB="52388"/>
                </a:tc>
                <a:tc>
                  <a:txBody>
                    <a:bodyPr/>
                    <a:lstStyle/>
                    <a:p>
                      <a:pPr marL="0" marR="0">
                        <a:buNone/>
                      </a:pPr>
                      <a:r>
                        <a:rPr lang="nl-NL" sz="1400" dirty="0">
                          <a:effectLst/>
                        </a:rPr>
                        <a:t>0.37 [0.30, 0.46]</a:t>
                      </a:r>
                      <a:endParaRPr lang="nl-NL" sz="4000" dirty="0">
                        <a:effectLst/>
                      </a:endParaRPr>
                    </a:p>
                  </a:txBody>
                  <a:tcPr marL="52388" marR="52388" marT="52388" marB="52388"/>
                </a:tc>
                <a:tc>
                  <a:txBody>
                    <a:bodyPr/>
                    <a:lstStyle/>
                    <a:p>
                      <a:pPr marL="0" marR="0">
                        <a:buNone/>
                      </a:pPr>
                      <a:r>
                        <a:rPr lang="nl-NL" sz="1400" dirty="0">
                          <a:effectLst/>
                        </a:rPr>
                        <a:t>0.42 [0.33, 0.50]</a:t>
                      </a:r>
                      <a:endParaRPr lang="nl-NL" sz="4000" dirty="0">
                        <a:effectLst/>
                      </a:endParaRPr>
                    </a:p>
                  </a:txBody>
                  <a:tcPr marL="52388" marR="52388" marT="52388" marB="52388"/>
                </a:tc>
                <a:extLst>
                  <a:ext uri="{0D108BD9-81ED-4DB2-BD59-A6C34878D82A}">
                    <a16:rowId xmlns:a16="http://schemas.microsoft.com/office/drawing/2014/main" val="2026022098"/>
                  </a:ext>
                </a:extLst>
              </a:tr>
            </a:tbl>
          </a:graphicData>
        </a:graphic>
      </p:graphicFrame>
      <p:graphicFrame>
        <p:nvGraphicFramePr>
          <p:cNvPr id="48" name="Tabel 47">
            <a:extLst>
              <a:ext uri="{FF2B5EF4-FFF2-40B4-BE49-F238E27FC236}">
                <a16:creationId xmlns:a16="http://schemas.microsoft.com/office/drawing/2014/main" id="{07EDFBBC-52E8-F76A-922C-D368596A40FC}"/>
              </a:ext>
            </a:extLst>
          </p:cNvPr>
          <p:cNvGraphicFramePr>
            <a:graphicFrameLocks noGrp="1"/>
          </p:cNvGraphicFramePr>
          <p:nvPr>
            <p:extLst>
              <p:ext uri="{D42A27DB-BD31-4B8C-83A1-F6EECF244321}">
                <p14:modId xmlns:p14="http://schemas.microsoft.com/office/powerpoint/2010/main" val="1906675876"/>
              </p:ext>
            </p:extLst>
          </p:nvPr>
        </p:nvGraphicFramePr>
        <p:xfrm>
          <a:off x="838200" y="4257305"/>
          <a:ext cx="10748375" cy="1754510"/>
        </p:xfrm>
        <a:graphic>
          <a:graphicData uri="http://schemas.openxmlformats.org/drawingml/2006/table">
            <a:tbl>
              <a:tblPr>
                <a:tableStyleId>{5C22544A-7EE6-4342-B048-85BDC9FD1C3A}</a:tableStyleId>
              </a:tblPr>
              <a:tblGrid>
                <a:gridCol w="1535482">
                  <a:extLst>
                    <a:ext uri="{9D8B030D-6E8A-4147-A177-3AD203B41FA5}">
                      <a16:colId xmlns:a16="http://schemas.microsoft.com/office/drawing/2014/main" val="1764568457"/>
                    </a:ext>
                  </a:extLst>
                </a:gridCol>
                <a:gridCol w="909167">
                  <a:extLst>
                    <a:ext uri="{9D8B030D-6E8A-4147-A177-3AD203B41FA5}">
                      <a16:colId xmlns:a16="http://schemas.microsoft.com/office/drawing/2014/main" val="1247826155"/>
                    </a:ext>
                  </a:extLst>
                </a:gridCol>
                <a:gridCol w="1192018">
                  <a:extLst>
                    <a:ext uri="{9D8B030D-6E8A-4147-A177-3AD203B41FA5}">
                      <a16:colId xmlns:a16="http://schemas.microsoft.com/office/drawing/2014/main" val="3867556102"/>
                    </a:ext>
                  </a:extLst>
                </a:gridCol>
                <a:gridCol w="1777927">
                  <a:extLst>
                    <a:ext uri="{9D8B030D-6E8A-4147-A177-3AD203B41FA5}">
                      <a16:colId xmlns:a16="http://schemas.microsoft.com/office/drawing/2014/main" val="2942681464"/>
                    </a:ext>
                  </a:extLst>
                </a:gridCol>
                <a:gridCol w="1777927">
                  <a:extLst>
                    <a:ext uri="{9D8B030D-6E8A-4147-A177-3AD203B41FA5}">
                      <a16:colId xmlns:a16="http://schemas.microsoft.com/office/drawing/2014/main" val="736792440"/>
                    </a:ext>
                  </a:extLst>
                </a:gridCol>
                <a:gridCol w="1777927">
                  <a:extLst>
                    <a:ext uri="{9D8B030D-6E8A-4147-A177-3AD203B41FA5}">
                      <a16:colId xmlns:a16="http://schemas.microsoft.com/office/drawing/2014/main" val="1269109399"/>
                    </a:ext>
                  </a:extLst>
                </a:gridCol>
                <a:gridCol w="1777927">
                  <a:extLst>
                    <a:ext uri="{9D8B030D-6E8A-4147-A177-3AD203B41FA5}">
                      <a16:colId xmlns:a16="http://schemas.microsoft.com/office/drawing/2014/main" val="3593753389"/>
                    </a:ext>
                  </a:extLst>
                </a:gridCol>
              </a:tblGrid>
              <a:tr h="481966">
                <a:tc gridSpan="7">
                  <a:txBody>
                    <a:bodyPr/>
                    <a:lstStyle/>
                    <a:p>
                      <a:pPr marL="0" marR="0">
                        <a:buNone/>
                      </a:pPr>
                      <a:r>
                        <a:rPr lang="nl-NL" sz="2400" b="1" dirty="0">
                          <a:effectLst/>
                        </a:rPr>
                        <a:t>Test set</a:t>
                      </a:r>
                    </a:p>
                  </a:txBody>
                  <a:tcPr marL="52388" marR="52388" marT="52388" marB="52388"/>
                </a:tc>
                <a:tc hMerge="1">
                  <a:txBody>
                    <a:bodyPr/>
                    <a:lstStyle/>
                    <a:p>
                      <a:pPr marL="0" marR="0">
                        <a:buNone/>
                      </a:pPr>
                      <a:endParaRPr lang="nl-NL">
                        <a:effectLst/>
                      </a:endParaRPr>
                    </a:p>
                  </a:txBody>
                  <a:tcPr marL="38100" marR="38100" marT="38100" marB="38100"/>
                </a:tc>
                <a:tc hMerge="1">
                  <a:txBody>
                    <a:bodyPr/>
                    <a:lstStyle/>
                    <a:p>
                      <a:pPr marL="0" marR="0">
                        <a:buNone/>
                      </a:pPr>
                      <a:endParaRPr lang="nl-NL">
                        <a:effectLst/>
                      </a:endParaRPr>
                    </a:p>
                  </a:txBody>
                  <a:tcPr marL="38100" marR="38100" marT="38100" marB="38100"/>
                </a:tc>
                <a:tc hMerge="1">
                  <a:txBody>
                    <a:bodyPr/>
                    <a:lstStyle/>
                    <a:p>
                      <a:pPr marL="0" marR="0">
                        <a:buNone/>
                      </a:pPr>
                      <a:endParaRPr lang="nl-NL">
                        <a:effectLst/>
                      </a:endParaRPr>
                    </a:p>
                  </a:txBody>
                  <a:tcPr marL="38100" marR="38100" marT="38100" marB="38100"/>
                </a:tc>
                <a:tc hMerge="1">
                  <a:txBody>
                    <a:bodyPr/>
                    <a:lstStyle/>
                    <a:p>
                      <a:pPr marL="0" marR="0">
                        <a:buNone/>
                      </a:pPr>
                      <a:endParaRPr lang="nl-NL">
                        <a:effectLst/>
                      </a:endParaRPr>
                    </a:p>
                  </a:txBody>
                  <a:tcPr marL="38100" marR="38100" marT="38100" marB="38100"/>
                </a:tc>
                <a:tc hMerge="1">
                  <a:txBody>
                    <a:bodyPr/>
                    <a:lstStyle/>
                    <a:p>
                      <a:pPr marL="0" marR="0">
                        <a:buNone/>
                      </a:pPr>
                      <a:endParaRPr lang="nl-NL">
                        <a:effectLst/>
                      </a:endParaRPr>
                    </a:p>
                  </a:txBody>
                  <a:tcPr marL="38100" marR="38100" marT="38100" marB="38100"/>
                </a:tc>
                <a:tc hMerge="1">
                  <a:txBody>
                    <a:bodyPr/>
                    <a:lstStyle/>
                    <a:p>
                      <a:pPr marL="0" marR="0">
                        <a:buNone/>
                      </a:pPr>
                      <a:endParaRPr lang="nl-NL" dirty="0">
                        <a:effectLst/>
                      </a:endParaRPr>
                    </a:p>
                  </a:txBody>
                  <a:tcPr marL="38100" marR="38100" marT="38100" marB="38100"/>
                </a:tc>
                <a:extLst>
                  <a:ext uri="{0D108BD9-81ED-4DB2-BD59-A6C34878D82A}">
                    <a16:rowId xmlns:a16="http://schemas.microsoft.com/office/drawing/2014/main" val="4140084844"/>
                  </a:ext>
                </a:extLst>
              </a:tr>
              <a:tr h="261938">
                <a:tc>
                  <a:txBody>
                    <a:bodyPr/>
                    <a:lstStyle/>
                    <a:p>
                      <a:pPr marL="0" marR="0">
                        <a:buNone/>
                      </a:pPr>
                      <a:r>
                        <a:rPr lang="nl-NL" sz="1400" b="1" dirty="0">
                          <a:effectLst/>
                        </a:rPr>
                        <a:t>model</a:t>
                      </a:r>
                      <a:endParaRPr lang="nl-NL" sz="4000" b="1" dirty="0">
                        <a:effectLst/>
                      </a:endParaRPr>
                    </a:p>
                  </a:txBody>
                  <a:tcPr marL="52388" marR="52388" marT="52388" marB="52388"/>
                </a:tc>
                <a:tc>
                  <a:txBody>
                    <a:bodyPr/>
                    <a:lstStyle/>
                    <a:p>
                      <a:pPr marL="0" marR="0">
                        <a:buNone/>
                      </a:pPr>
                      <a:r>
                        <a:rPr lang="nl-NL" sz="1400" b="1">
                          <a:effectLst/>
                        </a:rPr>
                        <a:t>threshold</a:t>
                      </a:r>
                      <a:endParaRPr lang="nl-NL" sz="4000" b="1">
                        <a:effectLst/>
                      </a:endParaRPr>
                    </a:p>
                  </a:txBody>
                  <a:tcPr marL="52388" marR="52388" marT="52388" marB="52388"/>
                </a:tc>
                <a:tc>
                  <a:txBody>
                    <a:bodyPr/>
                    <a:lstStyle/>
                    <a:p>
                      <a:pPr marL="0" marR="0">
                        <a:buNone/>
                      </a:pPr>
                      <a:r>
                        <a:rPr lang="nl-NL" sz="1400" b="1">
                          <a:effectLst/>
                        </a:rPr>
                        <a:t>% Abnormal</a:t>
                      </a:r>
                      <a:endParaRPr lang="nl-NL" sz="4000" b="1">
                        <a:effectLst/>
                      </a:endParaRPr>
                    </a:p>
                  </a:txBody>
                  <a:tcPr marL="52388" marR="52388" marT="52388" marB="52388"/>
                </a:tc>
                <a:tc>
                  <a:txBody>
                    <a:bodyPr/>
                    <a:lstStyle/>
                    <a:p>
                      <a:pPr marL="0" marR="0">
                        <a:buNone/>
                      </a:pPr>
                      <a:r>
                        <a:rPr lang="nl-NL" sz="1400" b="1">
                          <a:effectLst/>
                        </a:rPr>
                        <a:t>AUROC</a:t>
                      </a:r>
                      <a:endParaRPr lang="nl-NL" sz="4000" b="1">
                        <a:effectLst/>
                      </a:endParaRPr>
                    </a:p>
                  </a:txBody>
                  <a:tcPr marL="52388" marR="52388" marT="52388" marB="52388"/>
                </a:tc>
                <a:tc>
                  <a:txBody>
                    <a:bodyPr/>
                    <a:lstStyle/>
                    <a:p>
                      <a:pPr marL="0" marR="0">
                        <a:buNone/>
                      </a:pPr>
                      <a:r>
                        <a:rPr lang="nl-NL" sz="1400" b="1">
                          <a:effectLst/>
                        </a:rPr>
                        <a:t>AUPRC</a:t>
                      </a:r>
                      <a:endParaRPr lang="nl-NL" sz="4000" b="1">
                        <a:effectLst/>
                      </a:endParaRPr>
                    </a:p>
                  </a:txBody>
                  <a:tcPr marL="52388" marR="52388" marT="52388" marB="52388"/>
                </a:tc>
                <a:tc>
                  <a:txBody>
                    <a:bodyPr/>
                    <a:lstStyle/>
                    <a:p>
                      <a:pPr marL="0" marR="0">
                        <a:buNone/>
                      </a:pPr>
                      <a:r>
                        <a:rPr lang="nl-NL" sz="1400" b="1">
                          <a:effectLst/>
                        </a:rPr>
                        <a:t>Precision</a:t>
                      </a:r>
                      <a:endParaRPr lang="nl-NL" sz="4000" b="1">
                        <a:effectLst/>
                      </a:endParaRPr>
                    </a:p>
                  </a:txBody>
                  <a:tcPr marL="52388" marR="52388" marT="52388" marB="52388"/>
                </a:tc>
                <a:tc>
                  <a:txBody>
                    <a:bodyPr/>
                    <a:lstStyle/>
                    <a:p>
                      <a:pPr marL="0" marR="0">
                        <a:buNone/>
                      </a:pPr>
                      <a:r>
                        <a:rPr lang="nl-NL" sz="1400" b="1" dirty="0">
                          <a:effectLst/>
                        </a:rPr>
                        <a:t>Recall</a:t>
                      </a:r>
                      <a:endParaRPr lang="nl-NL" sz="4000" b="1" dirty="0">
                        <a:effectLst/>
                      </a:endParaRPr>
                    </a:p>
                  </a:txBody>
                  <a:tcPr marL="52388" marR="52388" marT="52388" marB="52388"/>
                </a:tc>
                <a:extLst>
                  <a:ext uri="{0D108BD9-81ED-4DB2-BD59-A6C34878D82A}">
                    <a16:rowId xmlns:a16="http://schemas.microsoft.com/office/drawing/2014/main" val="1159143704"/>
                  </a:ext>
                </a:extLst>
              </a:tr>
              <a:tr h="261938">
                <a:tc>
                  <a:txBody>
                    <a:bodyPr/>
                    <a:lstStyle/>
                    <a:p>
                      <a:pPr marL="0" marR="0">
                        <a:buNone/>
                      </a:pPr>
                      <a:r>
                        <a:rPr lang="nl-NL" sz="1400">
                          <a:effectLst/>
                        </a:rPr>
                        <a:t>logreg_elasticnet</a:t>
                      </a:r>
                      <a:endParaRPr lang="nl-NL" sz="4000">
                        <a:effectLst/>
                      </a:endParaRPr>
                    </a:p>
                  </a:txBody>
                  <a:tcPr marL="52388" marR="52388" marT="52388" marB="52388"/>
                </a:tc>
                <a:tc>
                  <a:txBody>
                    <a:bodyPr/>
                    <a:lstStyle/>
                    <a:p>
                      <a:pPr marL="0" marR="0">
                        <a:buNone/>
                      </a:pPr>
                      <a:r>
                        <a:rPr lang="nl-NL" sz="1400">
                          <a:effectLst/>
                        </a:rPr>
                        <a:t>889</a:t>
                      </a:r>
                      <a:endParaRPr lang="nl-NL" sz="4000">
                        <a:effectLst/>
                      </a:endParaRPr>
                    </a:p>
                  </a:txBody>
                  <a:tcPr marL="52388" marR="52388" marT="52388" marB="52388"/>
                </a:tc>
                <a:tc>
                  <a:txBody>
                    <a:bodyPr/>
                    <a:lstStyle/>
                    <a:p>
                      <a:pPr marL="0" marR="0">
                        <a:buNone/>
                      </a:pPr>
                      <a:r>
                        <a:rPr lang="nl-NL" sz="1400">
                          <a:effectLst/>
                        </a:rPr>
                        <a:t>0.99%</a:t>
                      </a:r>
                      <a:endParaRPr lang="nl-NL" sz="4000">
                        <a:effectLst/>
                      </a:endParaRPr>
                    </a:p>
                  </a:txBody>
                  <a:tcPr marL="52388" marR="52388" marT="52388" marB="52388"/>
                </a:tc>
                <a:tc>
                  <a:txBody>
                    <a:bodyPr/>
                    <a:lstStyle/>
                    <a:p>
                      <a:pPr marL="0" marR="0">
                        <a:buNone/>
                      </a:pPr>
                      <a:r>
                        <a:rPr lang="nl-NL" sz="1400" dirty="0">
                          <a:effectLst/>
                        </a:rPr>
                        <a:t>0.97 [0.94, 0.99]</a:t>
                      </a:r>
                      <a:endParaRPr lang="nl-NL" sz="4000" dirty="0">
                        <a:effectLst/>
                      </a:endParaRPr>
                    </a:p>
                  </a:txBody>
                  <a:tcPr marL="52388" marR="52388" marT="52388" marB="52388"/>
                </a:tc>
                <a:tc>
                  <a:txBody>
                    <a:bodyPr/>
                    <a:lstStyle/>
                    <a:p>
                      <a:pPr marL="0" marR="0">
                        <a:buNone/>
                      </a:pPr>
                      <a:r>
                        <a:rPr lang="nl-NL" sz="1400" b="1" dirty="0">
                          <a:effectLst/>
                        </a:rPr>
                        <a:t>0.60 [0.44, 0.76]</a:t>
                      </a:r>
                      <a:endParaRPr lang="nl-NL" sz="4000" b="1" dirty="0">
                        <a:effectLst/>
                      </a:endParaRPr>
                    </a:p>
                  </a:txBody>
                  <a:tcPr marL="52388" marR="52388" marT="52388" marB="52388"/>
                </a:tc>
                <a:tc>
                  <a:txBody>
                    <a:bodyPr/>
                    <a:lstStyle/>
                    <a:p>
                      <a:pPr marL="0" marR="0">
                        <a:buNone/>
                      </a:pPr>
                      <a:r>
                        <a:rPr lang="nl-NL" sz="1400" dirty="0">
                          <a:effectLst/>
                        </a:rPr>
                        <a:t>0.38 [0.24, 0.51]</a:t>
                      </a:r>
                      <a:endParaRPr lang="nl-NL" sz="4000" dirty="0">
                        <a:effectLst/>
                      </a:endParaRPr>
                    </a:p>
                  </a:txBody>
                  <a:tcPr marL="52388" marR="52388" marT="52388" marB="52388"/>
                </a:tc>
                <a:tc>
                  <a:txBody>
                    <a:bodyPr/>
                    <a:lstStyle/>
                    <a:p>
                      <a:pPr marL="0" marR="0">
                        <a:buNone/>
                      </a:pPr>
                      <a:r>
                        <a:rPr lang="nl-NL" sz="1400" dirty="0">
                          <a:effectLst/>
                        </a:rPr>
                        <a:t>0.66 [0.49, 0.82]</a:t>
                      </a:r>
                      <a:endParaRPr lang="nl-NL" sz="4000" dirty="0">
                        <a:effectLst/>
                      </a:endParaRPr>
                    </a:p>
                  </a:txBody>
                  <a:tcPr marL="52388" marR="52388" marT="52388" marB="52388"/>
                </a:tc>
                <a:extLst>
                  <a:ext uri="{0D108BD9-81ED-4DB2-BD59-A6C34878D82A}">
                    <a16:rowId xmlns:a16="http://schemas.microsoft.com/office/drawing/2014/main" val="3403214298"/>
                  </a:ext>
                </a:extLst>
              </a:tr>
              <a:tr h="261938">
                <a:tc>
                  <a:txBody>
                    <a:bodyPr/>
                    <a:lstStyle/>
                    <a:p>
                      <a:pPr marL="0" marR="0">
                        <a:buNone/>
                      </a:pPr>
                      <a:r>
                        <a:rPr lang="nl-NL" sz="1400">
                          <a:effectLst/>
                        </a:rPr>
                        <a:t>random_forest</a:t>
                      </a:r>
                      <a:endParaRPr lang="nl-NL" sz="4000">
                        <a:effectLst/>
                      </a:endParaRPr>
                    </a:p>
                  </a:txBody>
                  <a:tcPr marL="52388" marR="52388" marT="52388" marB="52388"/>
                </a:tc>
                <a:tc>
                  <a:txBody>
                    <a:bodyPr/>
                    <a:lstStyle/>
                    <a:p>
                      <a:pPr marL="0" marR="0">
                        <a:buNone/>
                      </a:pPr>
                      <a:r>
                        <a:rPr lang="nl-NL" sz="1400">
                          <a:effectLst/>
                        </a:rPr>
                        <a:t>684</a:t>
                      </a:r>
                      <a:endParaRPr lang="nl-NL" sz="4000">
                        <a:effectLst/>
                      </a:endParaRPr>
                    </a:p>
                  </a:txBody>
                  <a:tcPr marL="52388" marR="52388" marT="52388" marB="52388"/>
                </a:tc>
                <a:tc>
                  <a:txBody>
                    <a:bodyPr/>
                    <a:lstStyle/>
                    <a:p>
                      <a:pPr marL="0" marR="0">
                        <a:buNone/>
                      </a:pPr>
                      <a:r>
                        <a:rPr lang="nl-NL" sz="1400">
                          <a:effectLst/>
                        </a:rPr>
                        <a:t>0.99%</a:t>
                      </a:r>
                      <a:endParaRPr lang="nl-NL" sz="4000">
                        <a:effectLst/>
                      </a:endParaRPr>
                    </a:p>
                  </a:txBody>
                  <a:tcPr marL="52388" marR="52388" marT="52388" marB="52388"/>
                </a:tc>
                <a:tc>
                  <a:txBody>
                    <a:bodyPr/>
                    <a:lstStyle/>
                    <a:p>
                      <a:pPr marL="0" marR="0">
                        <a:buNone/>
                      </a:pPr>
                      <a:r>
                        <a:rPr lang="nl-NL" sz="1400" dirty="0">
                          <a:effectLst/>
                        </a:rPr>
                        <a:t>0.95 [0.91, 0.98]</a:t>
                      </a:r>
                      <a:endParaRPr lang="nl-NL" sz="4000" dirty="0">
                        <a:effectLst/>
                      </a:endParaRPr>
                    </a:p>
                  </a:txBody>
                  <a:tcPr marL="52388" marR="52388" marT="52388" marB="52388"/>
                </a:tc>
                <a:tc>
                  <a:txBody>
                    <a:bodyPr/>
                    <a:lstStyle/>
                    <a:p>
                      <a:pPr marL="0" marR="0">
                        <a:buNone/>
                      </a:pPr>
                      <a:r>
                        <a:rPr lang="nl-NL" sz="1400" dirty="0">
                          <a:effectLst/>
                        </a:rPr>
                        <a:t>0.33 [0.21, 0.53]</a:t>
                      </a:r>
                      <a:endParaRPr lang="nl-NL" sz="4000" dirty="0">
                        <a:effectLst/>
                      </a:endParaRPr>
                    </a:p>
                  </a:txBody>
                  <a:tcPr marL="52388" marR="52388" marT="52388" marB="52388"/>
                </a:tc>
                <a:tc>
                  <a:txBody>
                    <a:bodyPr/>
                    <a:lstStyle/>
                    <a:p>
                      <a:pPr marL="0" marR="0">
                        <a:buNone/>
                      </a:pPr>
                      <a:r>
                        <a:rPr lang="nl-NL" sz="1400" dirty="0">
                          <a:effectLst/>
                        </a:rPr>
                        <a:t>0.43 [0.25, 0.62]</a:t>
                      </a:r>
                      <a:endParaRPr lang="nl-NL" sz="4000" dirty="0">
                        <a:effectLst/>
                      </a:endParaRPr>
                    </a:p>
                  </a:txBody>
                  <a:tcPr marL="52388" marR="52388" marT="52388" marB="52388"/>
                </a:tc>
                <a:tc>
                  <a:txBody>
                    <a:bodyPr/>
                    <a:lstStyle/>
                    <a:p>
                      <a:pPr marL="0" marR="0">
                        <a:buNone/>
                      </a:pPr>
                      <a:r>
                        <a:rPr lang="nl-NL" sz="1400" dirty="0">
                          <a:effectLst/>
                        </a:rPr>
                        <a:t>0.38 [0.23, 0.57]</a:t>
                      </a:r>
                      <a:endParaRPr lang="nl-NL" sz="4000" dirty="0">
                        <a:effectLst/>
                      </a:endParaRPr>
                    </a:p>
                  </a:txBody>
                  <a:tcPr marL="52388" marR="52388" marT="52388" marB="52388"/>
                </a:tc>
                <a:extLst>
                  <a:ext uri="{0D108BD9-81ED-4DB2-BD59-A6C34878D82A}">
                    <a16:rowId xmlns:a16="http://schemas.microsoft.com/office/drawing/2014/main" val="2700517031"/>
                  </a:ext>
                </a:extLst>
              </a:tr>
              <a:tr h="261938">
                <a:tc>
                  <a:txBody>
                    <a:bodyPr/>
                    <a:lstStyle/>
                    <a:p>
                      <a:pPr marL="0" marR="0">
                        <a:buNone/>
                      </a:pPr>
                      <a:r>
                        <a:rPr lang="nl-NL" sz="1400" dirty="0" err="1">
                          <a:effectLst/>
                        </a:rPr>
                        <a:t>xgboost</a:t>
                      </a:r>
                      <a:endParaRPr lang="nl-NL" sz="4000" dirty="0">
                        <a:effectLst/>
                      </a:endParaRPr>
                    </a:p>
                  </a:txBody>
                  <a:tcPr marL="52388" marR="52388" marT="52388" marB="52388"/>
                </a:tc>
                <a:tc>
                  <a:txBody>
                    <a:bodyPr/>
                    <a:lstStyle/>
                    <a:p>
                      <a:pPr marL="0" marR="0">
                        <a:buNone/>
                      </a:pPr>
                      <a:r>
                        <a:rPr lang="nl-NL" sz="1400">
                          <a:effectLst/>
                        </a:rPr>
                        <a:t>771</a:t>
                      </a:r>
                      <a:endParaRPr lang="nl-NL" sz="4000">
                        <a:effectLst/>
                      </a:endParaRPr>
                    </a:p>
                  </a:txBody>
                  <a:tcPr marL="52388" marR="52388" marT="52388" marB="52388"/>
                </a:tc>
                <a:tc>
                  <a:txBody>
                    <a:bodyPr/>
                    <a:lstStyle/>
                    <a:p>
                      <a:pPr marL="0" marR="0">
                        <a:buNone/>
                      </a:pPr>
                      <a:r>
                        <a:rPr lang="nl-NL" sz="1400">
                          <a:effectLst/>
                        </a:rPr>
                        <a:t>0.99%</a:t>
                      </a:r>
                      <a:endParaRPr lang="nl-NL" sz="4000">
                        <a:effectLst/>
                      </a:endParaRPr>
                    </a:p>
                  </a:txBody>
                  <a:tcPr marL="52388" marR="52388" marT="52388" marB="52388"/>
                </a:tc>
                <a:tc>
                  <a:txBody>
                    <a:bodyPr/>
                    <a:lstStyle/>
                    <a:p>
                      <a:pPr marL="0" marR="0">
                        <a:buNone/>
                      </a:pPr>
                      <a:r>
                        <a:rPr lang="nl-NL" sz="1400" dirty="0">
                          <a:effectLst/>
                        </a:rPr>
                        <a:t>0.96 [0.92, 0.98]</a:t>
                      </a:r>
                      <a:endParaRPr lang="nl-NL" sz="4000" dirty="0">
                        <a:effectLst/>
                      </a:endParaRPr>
                    </a:p>
                  </a:txBody>
                  <a:tcPr marL="52388" marR="52388" marT="52388" marB="52388"/>
                </a:tc>
                <a:tc>
                  <a:txBody>
                    <a:bodyPr/>
                    <a:lstStyle/>
                    <a:p>
                      <a:pPr marL="0" marR="0">
                        <a:buNone/>
                      </a:pPr>
                      <a:r>
                        <a:rPr lang="nl-NL" sz="1400" dirty="0">
                          <a:effectLst/>
                        </a:rPr>
                        <a:t>0.37 [0.22, 0.59]</a:t>
                      </a:r>
                      <a:endParaRPr lang="nl-NL" sz="4000" dirty="0">
                        <a:effectLst/>
                      </a:endParaRPr>
                    </a:p>
                  </a:txBody>
                  <a:tcPr marL="52388" marR="52388" marT="52388" marB="52388"/>
                </a:tc>
                <a:tc>
                  <a:txBody>
                    <a:bodyPr/>
                    <a:lstStyle/>
                    <a:p>
                      <a:pPr marL="0" marR="0">
                        <a:buNone/>
                      </a:pPr>
                      <a:r>
                        <a:rPr lang="nl-NL" sz="1400" dirty="0">
                          <a:effectLst/>
                        </a:rPr>
                        <a:t>0.39 [0.23, 0.54]</a:t>
                      </a:r>
                      <a:endParaRPr lang="nl-NL" sz="4000" dirty="0">
                        <a:effectLst/>
                      </a:endParaRPr>
                    </a:p>
                  </a:txBody>
                  <a:tcPr marL="52388" marR="52388" marT="52388" marB="52388"/>
                </a:tc>
                <a:tc>
                  <a:txBody>
                    <a:bodyPr/>
                    <a:lstStyle/>
                    <a:p>
                      <a:pPr marL="0" marR="0">
                        <a:buNone/>
                      </a:pPr>
                      <a:r>
                        <a:rPr lang="nl-NL" sz="1400" dirty="0">
                          <a:effectLst/>
                        </a:rPr>
                        <a:t>0.47 [0.30, 0.65]</a:t>
                      </a:r>
                      <a:endParaRPr lang="nl-NL" sz="4000" dirty="0">
                        <a:effectLst/>
                      </a:endParaRPr>
                    </a:p>
                  </a:txBody>
                  <a:tcPr marL="52388" marR="52388" marT="52388" marB="52388"/>
                </a:tc>
                <a:extLst>
                  <a:ext uri="{0D108BD9-81ED-4DB2-BD59-A6C34878D82A}">
                    <a16:rowId xmlns:a16="http://schemas.microsoft.com/office/drawing/2014/main" val="3895999561"/>
                  </a:ext>
                </a:extLst>
              </a:tr>
            </a:tbl>
          </a:graphicData>
        </a:graphic>
      </p:graphicFrame>
    </p:spTree>
    <p:extLst>
      <p:ext uri="{BB962C8B-B14F-4D97-AF65-F5344CB8AC3E}">
        <p14:creationId xmlns:p14="http://schemas.microsoft.com/office/powerpoint/2010/main" val="42138057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E353C3-532E-02D4-0996-9B16B6B02ED1}"/>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EE259B43-7D3C-4634-3346-44B89C4AFD09}"/>
              </a:ext>
            </a:extLst>
          </p:cNvPr>
          <p:cNvSpPr>
            <a:spLocks noGrp="1"/>
          </p:cNvSpPr>
          <p:nvPr>
            <p:ph type="title"/>
          </p:nvPr>
        </p:nvSpPr>
        <p:spPr/>
        <p:txBody>
          <a:bodyPr/>
          <a:lstStyle/>
          <a:p>
            <a:r>
              <a:rPr lang="nl-NL" dirty="0" err="1"/>
              <a:t>Results</a:t>
            </a:r>
            <a:r>
              <a:rPr lang="nl-NL" dirty="0"/>
              <a:t> model B ‘long term risk’</a:t>
            </a:r>
          </a:p>
        </p:txBody>
      </p:sp>
      <p:graphicFrame>
        <p:nvGraphicFramePr>
          <p:cNvPr id="45" name="Tabel 44">
            <a:extLst>
              <a:ext uri="{FF2B5EF4-FFF2-40B4-BE49-F238E27FC236}">
                <a16:creationId xmlns:a16="http://schemas.microsoft.com/office/drawing/2014/main" id="{E1FC18BA-95D9-88F6-710E-C4800BBE20D5}"/>
              </a:ext>
            </a:extLst>
          </p:cNvPr>
          <p:cNvGraphicFramePr>
            <a:graphicFrameLocks noGrp="1"/>
          </p:cNvGraphicFramePr>
          <p:nvPr>
            <p:extLst>
              <p:ext uri="{D42A27DB-BD31-4B8C-83A1-F6EECF244321}">
                <p14:modId xmlns:p14="http://schemas.microsoft.com/office/powerpoint/2010/main" val="2195401273"/>
              </p:ext>
            </p:extLst>
          </p:nvPr>
        </p:nvGraphicFramePr>
        <p:xfrm>
          <a:off x="838198" y="2020094"/>
          <a:ext cx="10873638" cy="1780141"/>
        </p:xfrm>
        <a:graphic>
          <a:graphicData uri="http://schemas.openxmlformats.org/drawingml/2006/table">
            <a:tbl>
              <a:tblPr>
                <a:tableStyleId>{5C22544A-7EE6-4342-B048-85BDC9FD1C3A}</a:tableStyleId>
              </a:tblPr>
              <a:tblGrid>
                <a:gridCol w="1553377">
                  <a:extLst>
                    <a:ext uri="{9D8B030D-6E8A-4147-A177-3AD203B41FA5}">
                      <a16:colId xmlns:a16="http://schemas.microsoft.com/office/drawing/2014/main" val="3566996340"/>
                    </a:ext>
                  </a:extLst>
                </a:gridCol>
                <a:gridCol w="919763">
                  <a:extLst>
                    <a:ext uri="{9D8B030D-6E8A-4147-A177-3AD203B41FA5}">
                      <a16:colId xmlns:a16="http://schemas.microsoft.com/office/drawing/2014/main" val="1926917863"/>
                    </a:ext>
                  </a:extLst>
                </a:gridCol>
                <a:gridCol w="1205910">
                  <a:extLst>
                    <a:ext uri="{9D8B030D-6E8A-4147-A177-3AD203B41FA5}">
                      <a16:colId xmlns:a16="http://schemas.microsoft.com/office/drawing/2014/main" val="390186314"/>
                    </a:ext>
                  </a:extLst>
                </a:gridCol>
                <a:gridCol w="1798647">
                  <a:extLst>
                    <a:ext uri="{9D8B030D-6E8A-4147-A177-3AD203B41FA5}">
                      <a16:colId xmlns:a16="http://schemas.microsoft.com/office/drawing/2014/main" val="3161197729"/>
                    </a:ext>
                  </a:extLst>
                </a:gridCol>
                <a:gridCol w="1798647">
                  <a:extLst>
                    <a:ext uri="{9D8B030D-6E8A-4147-A177-3AD203B41FA5}">
                      <a16:colId xmlns:a16="http://schemas.microsoft.com/office/drawing/2014/main" val="1084661732"/>
                    </a:ext>
                  </a:extLst>
                </a:gridCol>
                <a:gridCol w="1798647">
                  <a:extLst>
                    <a:ext uri="{9D8B030D-6E8A-4147-A177-3AD203B41FA5}">
                      <a16:colId xmlns:a16="http://schemas.microsoft.com/office/drawing/2014/main" val="3202945186"/>
                    </a:ext>
                  </a:extLst>
                </a:gridCol>
                <a:gridCol w="1798647">
                  <a:extLst>
                    <a:ext uri="{9D8B030D-6E8A-4147-A177-3AD203B41FA5}">
                      <a16:colId xmlns:a16="http://schemas.microsoft.com/office/drawing/2014/main" val="3950945192"/>
                    </a:ext>
                  </a:extLst>
                </a:gridCol>
              </a:tblGrid>
              <a:tr h="495677">
                <a:tc gridSpan="7">
                  <a:txBody>
                    <a:bodyPr/>
                    <a:lstStyle/>
                    <a:p>
                      <a:pPr marL="0" marR="0">
                        <a:buNone/>
                      </a:pPr>
                      <a:r>
                        <a:rPr lang="nl-NL" sz="2400" b="1" dirty="0">
                          <a:effectLst/>
                        </a:rPr>
                        <a:t>Train set</a:t>
                      </a:r>
                    </a:p>
                  </a:txBody>
                  <a:tcPr marL="40011" marR="40011" marT="40011" marB="40011"/>
                </a:tc>
                <a:tc hMerge="1">
                  <a:txBody>
                    <a:bodyPr/>
                    <a:lstStyle/>
                    <a:p>
                      <a:pPr marL="0" marR="0">
                        <a:buNone/>
                      </a:pPr>
                      <a:endParaRPr lang="nl-NL">
                        <a:effectLst/>
                      </a:endParaRPr>
                    </a:p>
                  </a:txBody>
                  <a:tcPr marL="38100" marR="38100" marT="38100" marB="38100"/>
                </a:tc>
                <a:tc hMerge="1">
                  <a:txBody>
                    <a:bodyPr/>
                    <a:lstStyle/>
                    <a:p>
                      <a:pPr marL="0" marR="0">
                        <a:buNone/>
                      </a:pPr>
                      <a:endParaRPr lang="nl-NL">
                        <a:effectLst/>
                      </a:endParaRPr>
                    </a:p>
                  </a:txBody>
                  <a:tcPr marL="38100" marR="38100" marT="38100" marB="38100"/>
                </a:tc>
                <a:tc hMerge="1">
                  <a:txBody>
                    <a:bodyPr/>
                    <a:lstStyle/>
                    <a:p>
                      <a:pPr marL="0" marR="0">
                        <a:buNone/>
                      </a:pPr>
                      <a:endParaRPr lang="nl-NL">
                        <a:effectLst/>
                      </a:endParaRPr>
                    </a:p>
                  </a:txBody>
                  <a:tcPr marL="38100" marR="38100" marT="38100" marB="38100"/>
                </a:tc>
                <a:tc hMerge="1">
                  <a:txBody>
                    <a:bodyPr/>
                    <a:lstStyle/>
                    <a:p>
                      <a:pPr marL="0" marR="0">
                        <a:buNone/>
                      </a:pPr>
                      <a:endParaRPr lang="nl-NL">
                        <a:effectLst/>
                      </a:endParaRPr>
                    </a:p>
                  </a:txBody>
                  <a:tcPr marL="38100" marR="38100" marT="38100" marB="38100"/>
                </a:tc>
                <a:tc hMerge="1">
                  <a:txBody>
                    <a:bodyPr/>
                    <a:lstStyle/>
                    <a:p>
                      <a:pPr marL="0" marR="0">
                        <a:buNone/>
                      </a:pPr>
                      <a:endParaRPr lang="nl-NL">
                        <a:effectLst/>
                      </a:endParaRPr>
                    </a:p>
                  </a:txBody>
                  <a:tcPr marL="38100" marR="38100" marT="38100" marB="38100"/>
                </a:tc>
                <a:tc hMerge="1">
                  <a:txBody>
                    <a:bodyPr/>
                    <a:lstStyle/>
                    <a:p>
                      <a:pPr marL="0" marR="0">
                        <a:buNone/>
                      </a:pPr>
                      <a:endParaRPr lang="nl-NL" dirty="0">
                        <a:effectLst/>
                      </a:endParaRPr>
                    </a:p>
                  </a:txBody>
                  <a:tcPr marL="38100" marR="38100" marT="38100" marB="38100"/>
                </a:tc>
                <a:extLst>
                  <a:ext uri="{0D108BD9-81ED-4DB2-BD59-A6C34878D82A}">
                    <a16:rowId xmlns:a16="http://schemas.microsoft.com/office/drawing/2014/main" val="3780261780"/>
                  </a:ext>
                </a:extLst>
              </a:tr>
              <a:tr h="269389">
                <a:tc>
                  <a:txBody>
                    <a:bodyPr/>
                    <a:lstStyle/>
                    <a:p>
                      <a:pPr marL="0" marR="0">
                        <a:buNone/>
                      </a:pPr>
                      <a:r>
                        <a:rPr lang="nl-NL" sz="1400" b="1" dirty="0">
                          <a:effectLst/>
                        </a:rPr>
                        <a:t>model</a:t>
                      </a:r>
                      <a:endParaRPr lang="nl-NL" sz="3200" b="1" dirty="0">
                        <a:effectLst/>
                      </a:endParaRPr>
                    </a:p>
                  </a:txBody>
                  <a:tcPr marL="53878" marR="53878" marT="53878" marB="53878"/>
                </a:tc>
                <a:tc>
                  <a:txBody>
                    <a:bodyPr/>
                    <a:lstStyle/>
                    <a:p>
                      <a:pPr marL="0" marR="0">
                        <a:buNone/>
                      </a:pPr>
                      <a:r>
                        <a:rPr lang="nl-NL" sz="1400" b="1">
                          <a:effectLst/>
                        </a:rPr>
                        <a:t>threshold</a:t>
                      </a:r>
                      <a:endParaRPr lang="nl-NL" sz="3200" b="1">
                        <a:effectLst/>
                      </a:endParaRPr>
                    </a:p>
                  </a:txBody>
                  <a:tcPr marL="53878" marR="53878" marT="53878" marB="53878"/>
                </a:tc>
                <a:tc>
                  <a:txBody>
                    <a:bodyPr/>
                    <a:lstStyle/>
                    <a:p>
                      <a:pPr marL="0" marR="0">
                        <a:buNone/>
                      </a:pPr>
                      <a:r>
                        <a:rPr lang="nl-NL" sz="1400" b="1">
                          <a:effectLst/>
                        </a:rPr>
                        <a:t>% Abnormal</a:t>
                      </a:r>
                      <a:endParaRPr lang="nl-NL" sz="3200" b="1">
                        <a:effectLst/>
                      </a:endParaRPr>
                    </a:p>
                  </a:txBody>
                  <a:tcPr marL="53878" marR="53878" marT="53878" marB="53878"/>
                </a:tc>
                <a:tc>
                  <a:txBody>
                    <a:bodyPr/>
                    <a:lstStyle/>
                    <a:p>
                      <a:pPr marL="0" marR="0">
                        <a:buNone/>
                      </a:pPr>
                      <a:r>
                        <a:rPr lang="nl-NL" sz="1400" b="1">
                          <a:effectLst/>
                        </a:rPr>
                        <a:t>AUROC</a:t>
                      </a:r>
                      <a:endParaRPr lang="nl-NL" sz="3200" b="1">
                        <a:effectLst/>
                      </a:endParaRPr>
                    </a:p>
                  </a:txBody>
                  <a:tcPr marL="53878" marR="53878" marT="53878" marB="53878"/>
                </a:tc>
                <a:tc>
                  <a:txBody>
                    <a:bodyPr/>
                    <a:lstStyle/>
                    <a:p>
                      <a:pPr marL="0" marR="0">
                        <a:buNone/>
                      </a:pPr>
                      <a:r>
                        <a:rPr lang="nl-NL" sz="1400" b="1">
                          <a:effectLst/>
                        </a:rPr>
                        <a:t>AUPRC</a:t>
                      </a:r>
                      <a:endParaRPr lang="nl-NL" sz="3200" b="1">
                        <a:effectLst/>
                      </a:endParaRPr>
                    </a:p>
                  </a:txBody>
                  <a:tcPr marL="53878" marR="53878" marT="53878" marB="53878"/>
                </a:tc>
                <a:tc>
                  <a:txBody>
                    <a:bodyPr/>
                    <a:lstStyle/>
                    <a:p>
                      <a:pPr marL="0" marR="0">
                        <a:buNone/>
                      </a:pPr>
                      <a:r>
                        <a:rPr lang="nl-NL" sz="1400" b="1">
                          <a:effectLst/>
                        </a:rPr>
                        <a:t>Precision</a:t>
                      </a:r>
                      <a:endParaRPr lang="nl-NL" sz="3200" b="1">
                        <a:effectLst/>
                      </a:endParaRPr>
                    </a:p>
                  </a:txBody>
                  <a:tcPr marL="53878" marR="53878" marT="53878" marB="53878"/>
                </a:tc>
                <a:tc>
                  <a:txBody>
                    <a:bodyPr/>
                    <a:lstStyle/>
                    <a:p>
                      <a:pPr marL="0" marR="0">
                        <a:buNone/>
                      </a:pPr>
                      <a:r>
                        <a:rPr lang="nl-NL" sz="1400" b="1" dirty="0">
                          <a:effectLst/>
                        </a:rPr>
                        <a:t>Recall</a:t>
                      </a:r>
                      <a:endParaRPr lang="nl-NL" sz="3200" b="1" dirty="0">
                        <a:effectLst/>
                      </a:endParaRPr>
                    </a:p>
                  </a:txBody>
                  <a:tcPr marL="53878" marR="53878" marT="53878" marB="53878"/>
                </a:tc>
                <a:extLst>
                  <a:ext uri="{0D108BD9-81ED-4DB2-BD59-A6C34878D82A}">
                    <a16:rowId xmlns:a16="http://schemas.microsoft.com/office/drawing/2014/main" val="1062846381"/>
                  </a:ext>
                </a:extLst>
              </a:tr>
              <a:tr h="269389">
                <a:tc>
                  <a:txBody>
                    <a:bodyPr/>
                    <a:lstStyle/>
                    <a:p>
                      <a:pPr marL="0" marR="0">
                        <a:buNone/>
                      </a:pPr>
                      <a:r>
                        <a:rPr lang="nl-NL" sz="1400">
                          <a:effectLst/>
                        </a:rPr>
                        <a:t>logreg_elasticnet</a:t>
                      </a:r>
                      <a:endParaRPr lang="nl-NL" sz="3200">
                        <a:effectLst/>
                      </a:endParaRPr>
                    </a:p>
                  </a:txBody>
                  <a:tcPr marL="53878" marR="53878" marT="53878" marB="53878"/>
                </a:tc>
                <a:tc>
                  <a:txBody>
                    <a:bodyPr/>
                    <a:lstStyle/>
                    <a:p>
                      <a:pPr marL="0" marR="0">
                        <a:buNone/>
                      </a:pPr>
                      <a:r>
                        <a:rPr lang="nl-NL" sz="1400">
                          <a:effectLst/>
                        </a:rPr>
                        <a:t>883</a:t>
                      </a:r>
                      <a:endParaRPr lang="nl-NL" sz="3200">
                        <a:effectLst/>
                      </a:endParaRPr>
                    </a:p>
                  </a:txBody>
                  <a:tcPr marL="53878" marR="53878" marT="53878" marB="53878"/>
                </a:tc>
                <a:tc>
                  <a:txBody>
                    <a:bodyPr/>
                    <a:lstStyle/>
                    <a:p>
                      <a:pPr marL="0" marR="0">
                        <a:buNone/>
                      </a:pPr>
                      <a:r>
                        <a:rPr lang="nl-NL" sz="1400">
                          <a:effectLst/>
                        </a:rPr>
                        <a:t>2.71%</a:t>
                      </a:r>
                      <a:endParaRPr lang="nl-NL" sz="3200">
                        <a:effectLst/>
                      </a:endParaRPr>
                    </a:p>
                  </a:txBody>
                  <a:tcPr marL="53878" marR="53878" marT="53878" marB="53878"/>
                </a:tc>
                <a:tc>
                  <a:txBody>
                    <a:bodyPr/>
                    <a:lstStyle/>
                    <a:p>
                      <a:pPr marL="0" marR="0">
                        <a:buNone/>
                      </a:pPr>
                      <a:r>
                        <a:rPr lang="nl-NL" sz="1400">
                          <a:effectLst/>
                        </a:rPr>
                        <a:t>0.883 [0.864, 0.900]</a:t>
                      </a:r>
                      <a:endParaRPr lang="nl-NL" sz="3200">
                        <a:effectLst/>
                      </a:endParaRPr>
                    </a:p>
                  </a:txBody>
                  <a:tcPr marL="53878" marR="53878" marT="53878" marB="53878"/>
                </a:tc>
                <a:tc>
                  <a:txBody>
                    <a:bodyPr/>
                    <a:lstStyle/>
                    <a:p>
                      <a:pPr marL="0" marR="0">
                        <a:buNone/>
                      </a:pPr>
                      <a:r>
                        <a:rPr lang="nl-NL" sz="1400">
                          <a:effectLst/>
                        </a:rPr>
                        <a:t>0.283 [0.239, 0.339]</a:t>
                      </a:r>
                      <a:endParaRPr lang="nl-NL" sz="3200">
                        <a:effectLst/>
                      </a:endParaRPr>
                    </a:p>
                  </a:txBody>
                  <a:tcPr marL="53878" marR="53878" marT="53878" marB="53878"/>
                </a:tc>
                <a:tc>
                  <a:txBody>
                    <a:bodyPr/>
                    <a:lstStyle/>
                    <a:p>
                      <a:pPr marL="0" marR="0">
                        <a:buNone/>
                      </a:pPr>
                      <a:r>
                        <a:rPr lang="nl-NL" sz="1400">
                          <a:effectLst/>
                        </a:rPr>
                        <a:t>0.367 [0.318, 0.415]</a:t>
                      </a:r>
                      <a:endParaRPr lang="nl-NL" sz="3200">
                        <a:effectLst/>
                      </a:endParaRPr>
                    </a:p>
                  </a:txBody>
                  <a:tcPr marL="53878" marR="53878" marT="53878" marB="53878"/>
                </a:tc>
                <a:tc>
                  <a:txBody>
                    <a:bodyPr/>
                    <a:lstStyle/>
                    <a:p>
                      <a:pPr marL="0" marR="0">
                        <a:buNone/>
                      </a:pPr>
                      <a:r>
                        <a:rPr lang="nl-NL" sz="1400" dirty="0">
                          <a:effectLst/>
                        </a:rPr>
                        <a:t>0.366 [0.318, 0.415]</a:t>
                      </a:r>
                      <a:endParaRPr lang="nl-NL" sz="3200" dirty="0">
                        <a:effectLst/>
                      </a:endParaRPr>
                    </a:p>
                  </a:txBody>
                  <a:tcPr marL="53878" marR="53878" marT="53878" marB="53878"/>
                </a:tc>
                <a:extLst>
                  <a:ext uri="{0D108BD9-81ED-4DB2-BD59-A6C34878D82A}">
                    <a16:rowId xmlns:a16="http://schemas.microsoft.com/office/drawing/2014/main" val="1960191224"/>
                  </a:ext>
                </a:extLst>
              </a:tr>
              <a:tr h="269389">
                <a:tc>
                  <a:txBody>
                    <a:bodyPr/>
                    <a:lstStyle/>
                    <a:p>
                      <a:pPr marL="0" marR="0">
                        <a:buNone/>
                      </a:pPr>
                      <a:r>
                        <a:rPr lang="nl-NL" sz="1400">
                          <a:effectLst/>
                        </a:rPr>
                        <a:t>random_forest</a:t>
                      </a:r>
                      <a:endParaRPr lang="nl-NL" sz="3200">
                        <a:effectLst/>
                      </a:endParaRPr>
                    </a:p>
                  </a:txBody>
                  <a:tcPr marL="53878" marR="53878" marT="53878" marB="53878"/>
                </a:tc>
                <a:tc>
                  <a:txBody>
                    <a:bodyPr/>
                    <a:lstStyle/>
                    <a:p>
                      <a:pPr marL="0" marR="0">
                        <a:buNone/>
                      </a:pPr>
                      <a:r>
                        <a:rPr lang="nl-NL" sz="1400" dirty="0">
                          <a:effectLst/>
                        </a:rPr>
                        <a:t>431</a:t>
                      </a:r>
                      <a:endParaRPr lang="nl-NL" sz="3200" dirty="0">
                        <a:effectLst/>
                      </a:endParaRPr>
                    </a:p>
                  </a:txBody>
                  <a:tcPr marL="53878" marR="53878" marT="53878" marB="53878"/>
                </a:tc>
                <a:tc>
                  <a:txBody>
                    <a:bodyPr/>
                    <a:lstStyle/>
                    <a:p>
                      <a:pPr marL="0" marR="0">
                        <a:buNone/>
                      </a:pPr>
                      <a:r>
                        <a:rPr lang="nl-NL" sz="1400" dirty="0">
                          <a:effectLst/>
                        </a:rPr>
                        <a:t>2.71%</a:t>
                      </a:r>
                      <a:endParaRPr lang="nl-NL" sz="3200" dirty="0">
                        <a:effectLst/>
                      </a:endParaRPr>
                    </a:p>
                  </a:txBody>
                  <a:tcPr marL="53878" marR="53878" marT="53878" marB="53878"/>
                </a:tc>
                <a:tc>
                  <a:txBody>
                    <a:bodyPr/>
                    <a:lstStyle/>
                    <a:p>
                      <a:pPr marL="0" marR="0">
                        <a:buNone/>
                      </a:pPr>
                      <a:r>
                        <a:rPr lang="nl-NL" sz="1400">
                          <a:effectLst/>
                        </a:rPr>
                        <a:t>0.962 [0.956, 0.967]</a:t>
                      </a:r>
                      <a:endParaRPr lang="nl-NL" sz="3200">
                        <a:effectLst/>
                      </a:endParaRPr>
                    </a:p>
                  </a:txBody>
                  <a:tcPr marL="53878" marR="53878" marT="53878" marB="53878"/>
                </a:tc>
                <a:tc>
                  <a:txBody>
                    <a:bodyPr/>
                    <a:lstStyle/>
                    <a:p>
                      <a:pPr marL="0" marR="0">
                        <a:buNone/>
                      </a:pPr>
                      <a:r>
                        <a:rPr lang="nl-NL" sz="1400">
                          <a:effectLst/>
                        </a:rPr>
                        <a:t>0.515 [0.463, 0.562]</a:t>
                      </a:r>
                      <a:endParaRPr lang="nl-NL" sz="3200">
                        <a:effectLst/>
                      </a:endParaRPr>
                    </a:p>
                  </a:txBody>
                  <a:tcPr marL="53878" marR="53878" marT="53878" marB="53878"/>
                </a:tc>
                <a:tc>
                  <a:txBody>
                    <a:bodyPr/>
                    <a:lstStyle/>
                    <a:p>
                      <a:pPr marL="0" marR="0">
                        <a:buNone/>
                      </a:pPr>
                      <a:r>
                        <a:rPr lang="nl-NL" sz="1400">
                          <a:effectLst/>
                        </a:rPr>
                        <a:t>0.432 [0.379, 0.475]</a:t>
                      </a:r>
                      <a:endParaRPr lang="nl-NL" sz="3200">
                        <a:effectLst/>
                      </a:endParaRPr>
                    </a:p>
                  </a:txBody>
                  <a:tcPr marL="53878" marR="53878" marT="53878" marB="53878"/>
                </a:tc>
                <a:tc>
                  <a:txBody>
                    <a:bodyPr/>
                    <a:lstStyle/>
                    <a:p>
                      <a:pPr marL="0" marR="0">
                        <a:buNone/>
                      </a:pPr>
                      <a:r>
                        <a:rPr lang="nl-NL" sz="1400">
                          <a:effectLst/>
                        </a:rPr>
                        <a:t>0.491 [0.438, 0.538]</a:t>
                      </a:r>
                      <a:endParaRPr lang="nl-NL" sz="3200">
                        <a:effectLst/>
                      </a:endParaRPr>
                    </a:p>
                  </a:txBody>
                  <a:tcPr marL="53878" marR="53878" marT="53878" marB="53878"/>
                </a:tc>
                <a:extLst>
                  <a:ext uri="{0D108BD9-81ED-4DB2-BD59-A6C34878D82A}">
                    <a16:rowId xmlns:a16="http://schemas.microsoft.com/office/drawing/2014/main" val="4013994942"/>
                  </a:ext>
                </a:extLst>
              </a:tr>
              <a:tr h="269389">
                <a:tc>
                  <a:txBody>
                    <a:bodyPr/>
                    <a:lstStyle/>
                    <a:p>
                      <a:pPr marL="0" marR="0">
                        <a:buNone/>
                      </a:pPr>
                      <a:r>
                        <a:rPr lang="nl-NL" sz="1400" dirty="0" err="1">
                          <a:effectLst/>
                        </a:rPr>
                        <a:t>xgboost</a:t>
                      </a:r>
                      <a:endParaRPr lang="nl-NL" sz="3200" dirty="0">
                        <a:effectLst/>
                      </a:endParaRPr>
                    </a:p>
                  </a:txBody>
                  <a:tcPr marL="53878" marR="53878" marT="53878" marB="53878"/>
                </a:tc>
                <a:tc>
                  <a:txBody>
                    <a:bodyPr/>
                    <a:lstStyle/>
                    <a:p>
                      <a:pPr marL="0" marR="0">
                        <a:buNone/>
                      </a:pPr>
                      <a:r>
                        <a:rPr lang="nl-NL" sz="1400">
                          <a:effectLst/>
                        </a:rPr>
                        <a:t>0.53</a:t>
                      </a:r>
                      <a:endParaRPr lang="nl-NL" sz="3200">
                        <a:effectLst/>
                      </a:endParaRPr>
                    </a:p>
                  </a:txBody>
                  <a:tcPr marL="53878" marR="53878" marT="53878" marB="53878"/>
                </a:tc>
                <a:tc>
                  <a:txBody>
                    <a:bodyPr/>
                    <a:lstStyle/>
                    <a:p>
                      <a:pPr marL="0" marR="0">
                        <a:buNone/>
                      </a:pPr>
                      <a:r>
                        <a:rPr lang="nl-NL" sz="1400">
                          <a:effectLst/>
                        </a:rPr>
                        <a:t>2.71%</a:t>
                      </a:r>
                      <a:endParaRPr lang="nl-NL" sz="3200">
                        <a:effectLst/>
                      </a:endParaRPr>
                    </a:p>
                  </a:txBody>
                  <a:tcPr marL="53878" marR="53878" marT="53878" marB="53878"/>
                </a:tc>
                <a:tc>
                  <a:txBody>
                    <a:bodyPr/>
                    <a:lstStyle/>
                    <a:p>
                      <a:pPr marL="0" marR="0">
                        <a:buNone/>
                      </a:pPr>
                      <a:r>
                        <a:rPr lang="nl-NL" sz="1400">
                          <a:effectLst/>
                        </a:rPr>
                        <a:t>0.911 [0.896, 0.924]</a:t>
                      </a:r>
                      <a:endParaRPr lang="nl-NL" sz="3200">
                        <a:effectLst/>
                      </a:endParaRPr>
                    </a:p>
                  </a:txBody>
                  <a:tcPr marL="53878" marR="53878" marT="53878" marB="53878"/>
                </a:tc>
                <a:tc>
                  <a:txBody>
                    <a:bodyPr/>
                    <a:lstStyle/>
                    <a:p>
                      <a:pPr marL="0" marR="0">
                        <a:buNone/>
                      </a:pPr>
                      <a:r>
                        <a:rPr lang="nl-NL" sz="1400">
                          <a:effectLst/>
                        </a:rPr>
                        <a:t>0.371 [0.320, 0.421]</a:t>
                      </a:r>
                      <a:endParaRPr lang="nl-NL" sz="3200">
                        <a:effectLst/>
                      </a:endParaRPr>
                    </a:p>
                  </a:txBody>
                  <a:tcPr marL="53878" marR="53878" marT="53878" marB="53878"/>
                </a:tc>
                <a:tc>
                  <a:txBody>
                    <a:bodyPr/>
                    <a:lstStyle/>
                    <a:p>
                      <a:pPr marL="0" marR="0">
                        <a:buNone/>
                      </a:pPr>
                      <a:r>
                        <a:rPr lang="nl-NL" sz="1400">
                          <a:effectLst/>
                        </a:rPr>
                        <a:t>0.387 [0.339, 0.432]</a:t>
                      </a:r>
                      <a:endParaRPr lang="nl-NL" sz="3200">
                        <a:effectLst/>
                      </a:endParaRPr>
                    </a:p>
                  </a:txBody>
                  <a:tcPr marL="53878" marR="53878" marT="53878" marB="53878"/>
                </a:tc>
                <a:tc>
                  <a:txBody>
                    <a:bodyPr/>
                    <a:lstStyle/>
                    <a:p>
                      <a:pPr marL="0" marR="0">
                        <a:buNone/>
                      </a:pPr>
                      <a:r>
                        <a:rPr lang="nl-NL" sz="1400" dirty="0">
                          <a:effectLst/>
                        </a:rPr>
                        <a:t>0.380 [0.328, 0.427]</a:t>
                      </a:r>
                      <a:endParaRPr lang="nl-NL" sz="3200" dirty="0">
                        <a:effectLst/>
                      </a:endParaRPr>
                    </a:p>
                  </a:txBody>
                  <a:tcPr marL="53878" marR="53878" marT="53878" marB="53878"/>
                </a:tc>
                <a:extLst>
                  <a:ext uri="{0D108BD9-81ED-4DB2-BD59-A6C34878D82A}">
                    <a16:rowId xmlns:a16="http://schemas.microsoft.com/office/drawing/2014/main" val="2673877653"/>
                  </a:ext>
                </a:extLst>
              </a:tr>
            </a:tbl>
          </a:graphicData>
        </a:graphic>
      </p:graphicFrame>
      <p:graphicFrame>
        <p:nvGraphicFramePr>
          <p:cNvPr id="48" name="Tabel 47">
            <a:extLst>
              <a:ext uri="{FF2B5EF4-FFF2-40B4-BE49-F238E27FC236}">
                <a16:creationId xmlns:a16="http://schemas.microsoft.com/office/drawing/2014/main" id="{808EE6FD-7647-C8FE-3712-EF3266F3AC96}"/>
              </a:ext>
            </a:extLst>
          </p:cNvPr>
          <p:cNvGraphicFramePr>
            <a:graphicFrameLocks noGrp="1"/>
          </p:cNvGraphicFramePr>
          <p:nvPr>
            <p:extLst>
              <p:ext uri="{D42A27DB-BD31-4B8C-83A1-F6EECF244321}">
                <p14:modId xmlns:p14="http://schemas.microsoft.com/office/powerpoint/2010/main" val="1995205976"/>
              </p:ext>
            </p:extLst>
          </p:nvPr>
        </p:nvGraphicFramePr>
        <p:xfrm>
          <a:off x="838198" y="4343001"/>
          <a:ext cx="10873638" cy="1780141"/>
        </p:xfrm>
        <a:graphic>
          <a:graphicData uri="http://schemas.openxmlformats.org/drawingml/2006/table">
            <a:tbl>
              <a:tblPr>
                <a:tableStyleId>{5C22544A-7EE6-4342-B048-85BDC9FD1C3A}</a:tableStyleId>
              </a:tblPr>
              <a:tblGrid>
                <a:gridCol w="1553377">
                  <a:extLst>
                    <a:ext uri="{9D8B030D-6E8A-4147-A177-3AD203B41FA5}">
                      <a16:colId xmlns:a16="http://schemas.microsoft.com/office/drawing/2014/main" val="1764568457"/>
                    </a:ext>
                  </a:extLst>
                </a:gridCol>
                <a:gridCol w="919763">
                  <a:extLst>
                    <a:ext uri="{9D8B030D-6E8A-4147-A177-3AD203B41FA5}">
                      <a16:colId xmlns:a16="http://schemas.microsoft.com/office/drawing/2014/main" val="1247826155"/>
                    </a:ext>
                  </a:extLst>
                </a:gridCol>
                <a:gridCol w="1205910">
                  <a:extLst>
                    <a:ext uri="{9D8B030D-6E8A-4147-A177-3AD203B41FA5}">
                      <a16:colId xmlns:a16="http://schemas.microsoft.com/office/drawing/2014/main" val="3867556102"/>
                    </a:ext>
                  </a:extLst>
                </a:gridCol>
                <a:gridCol w="1798647">
                  <a:extLst>
                    <a:ext uri="{9D8B030D-6E8A-4147-A177-3AD203B41FA5}">
                      <a16:colId xmlns:a16="http://schemas.microsoft.com/office/drawing/2014/main" val="2942681464"/>
                    </a:ext>
                  </a:extLst>
                </a:gridCol>
                <a:gridCol w="1798647">
                  <a:extLst>
                    <a:ext uri="{9D8B030D-6E8A-4147-A177-3AD203B41FA5}">
                      <a16:colId xmlns:a16="http://schemas.microsoft.com/office/drawing/2014/main" val="736792440"/>
                    </a:ext>
                  </a:extLst>
                </a:gridCol>
                <a:gridCol w="1798647">
                  <a:extLst>
                    <a:ext uri="{9D8B030D-6E8A-4147-A177-3AD203B41FA5}">
                      <a16:colId xmlns:a16="http://schemas.microsoft.com/office/drawing/2014/main" val="1269109399"/>
                    </a:ext>
                  </a:extLst>
                </a:gridCol>
                <a:gridCol w="1798647">
                  <a:extLst>
                    <a:ext uri="{9D8B030D-6E8A-4147-A177-3AD203B41FA5}">
                      <a16:colId xmlns:a16="http://schemas.microsoft.com/office/drawing/2014/main" val="3593753389"/>
                    </a:ext>
                  </a:extLst>
                </a:gridCol>
              </a:tblGrid>
              <a:tr h="495677">
                <a:tc gridSpan="7">
                  <a:txBody>
                    <a:bodyPr/>
                    <a:lstStyle/>
                    <a:p>
                      <a:pPr marL="0" marR="0">
                        <a:buNone/>
                      </a:pPr>
                      <a:r>
                        <a:rPr lang="nl-NL" sz="2400" b="1" dirty="0">
                          <a:effectLst/>
                        </a:rPr>
                        <a:t>Test set</a:t>
                      </a:r>
                    </a:p>
                  </a:txBody>
                  <a:tcPr marL="40011" marR="40011" marT="40011" marB="40011"/>
                </a:tc>
                <a:tc hMerge="1">
                  <a:txBody>
                    <a:bodyPr/>
                    <a:lstStyle/>
                    <a:p>
                      <a:pPr marL="0" marR="0">
                        <a:buNone/>
                      </a:pPr>
                      <a:endParaRPr lang="nl-NL">
                        <a:effectLst/>
                      </a:endParaRPr>
                    </a:p>
                  </a:txBody>
                  <a:tcPr marL="38100" marR="38100" marT="38100" marB="38100"/>
                </a:tc>
                <a:tc hMerge="1">
                  <a:txBody>
                    <a:bodyPr/>
                    <a:lstStyle/>
                    <a:p>
                      <a:pPr marL="0" marR="0">
                        <a:buNone/>
                      </a:pPr>
                      <a:endParaRPr lang="nl-NL">
                        <a:effectLst/>
                      </a:endParaRPr>
                    </a:p>
                  </a:txBody>
                  <a:tcPr marL="38100" marR="38100" marT="38100" marB="38100"/>
                </a:tc>
                <a:tc hMerge="1">
                  <a:txBody>
                    <a:bodyPr/>
                    <a:lstStyle/>
                    <a:p>
                      <a:pPr marL="0" marR="0">
                        <a:buNone/>
                      </a:pPr>
                      <a:endParaRPr lang="nl-NL">
                        <a:effectLst/>
                      </a:endParaRPr>
                    </a:p>
                  </a:txBody>
                  <a:tcPr marL="38100" marR="38100" marT="38100" marB="38100"/>
                </a:tc>
                <a:tc hMerge="1">
                  <a:txBody>
                    <a:bodyPr/>
                    <a:lstStyle/>
                    <a:p>
                      <a:pPr marL="0" marR="0">
                        <a:buNone/>
                      </a:pPr>
                      <a:endParaRPr lang="nl-NL">
                        <a:effectLst/>
                      </a:endParaRPr>
                    </a:p>
                  </a:txBody>
                  <a:tcPr marL="38100" marR="38100" marT="38100" marB="38100"/>
                </a:tc>
                <a:tc hMerge="1">
                  <a:txBody>
                    <a:bodyPr/>
                    <a:lstStyle/>
                    <a:p>
                      <a:pPr marL="0" marR="0">
                        <a:buNone/>
                      </a:pPr>
                      <a:endParaRPr lang="nl-NL">
                        <a:effectLst/>
                      </a:endParaRPr>
                    </a:p>
                  </a:txBody>
                  <a:tcPr marL="38100" marR="38100" marT="38100" marB="38100"/>
                </a:tc>
                <a:tc hMerge="1">
                  <a:txBody>
                    <a:bodyPr/>
                    <a:lstStyle/>
                    <a:p>
                      <a:pPr marL="0" marR="0">
                        <a:buNone/>
                      </a:pPr>
                      <a:endParaRPr lang="nl-NL" dirty="0">
                        <a:effectLst/>
                      </a:endParaRPr>
                    </a:p>
                  </a:txBody>
                  <a:tcPr marL="38100" marR="38100" marT="38100" marB="38100"/>
                </a:tc>
                <a:extLst>
                  <a:ext uri="{0D108BD9-81ED-4DB2-BD59-A6C34878D82A}">
                    <a16:rowId xmlns:a16="http://schemas.microsoft.com/office/drawing/2014/main" val="1375410676"/>
                  </a:ext>
                </a:extLst>
              </a:tr>
              <a:tr h="269389">
                <a:tc>
                  <a:txBody>
                    <a:bodyPr/>
                    <a:lstStyle/>
                    <a:p>
                      <a:pPr marL="0" marR="0">
                        <a:buNone/>
                      </a:pPr>
                      <a:r>
                        <a:rPr lang="nl-NL" sz="1400" b="1" dirty="0">
                          <a:effectLst/>
                        </a:rPr>
                        <a:t>model</a:t>
                      </a:r>
                      <a:endParaRPr lang="nl-NL" sz="3200" b="1" dirty="0">
                        <a:effectLst/>
                      </a:endParaRPr>
                    </a:p>
                  </a:txBody>
                  <a:tcPr marL="53878" marR="53878" marT="53878" marB="53878"/>
                </a:tc>
                <a:tc>
                  <a:txBody>
                    <a:bodyPr/>
                    <a:lstStyle/>
                    <a:p>
                      <a:pPr marL="0" marR="0">
                        <a:buNone/>
                      </a:pPr>
                      <a:r>
                        <a:rPr lang="nl-NL" sz="1400" b="1">
                          <a:effectLst/>
                        </a:rPr>
                        <a:t>threshold</a:t>
                      </a:r>
                      <a:endParaRPr lang="nl-NL" sz="3200" b="1">
                        <a:effectLst/>
                      </a:endParaRPr>
                    </a:p>
                  </a:txBody>
                  <a:tcPr marL="53878" marR="53878" marT="53878" marB="53878"/>
                </a:tc>
                <a:tc>
                  <a:txBody>
                    <a:bodyPr/>
                    <a:lstStyle/>
                    <a:p>
                      <a:pPr marL="0" marR="0">
                        <a:buNone/>
                      </a:pPr>
                      <a:r>
                        <a:rPr lang="nl-NL" sz="1400" b="1">
                          <a:effectLst/>
                        </a:rPr>
                        <a:t>% Abnormal</a:t>
                      </a:r>
                      <a:endParaRPr lang="nl-NL" sz="3200" b="1">
                        <a:effectLst/>
                      </a:endParaRPr>
                    </a:p>
                  </a:txBody>
                  <a:tcPr marL="53878" marR="53878" marT="53878" marB="53878"/>
                </a:tc>
                <a:tc>
                  <a:txBody>
                    <a:bodyPr/>
                    <a:lstStyle/>
                    <a:p>
                      <a:pPr marL="0" marR="0">
                        <a:buNone/>
                      </a:pPr>
                      <a:r>
                        <a:rPr lang="nl-NL" sz="1400" b="1" dirty="0">
                          <a:effectLst/>
                        </a:rPr>
                        <a:t>AUROC</a:t>
                      </a:r>
                      <a:endParaRPr lang="nl-NL" sz="3200" b="1" dirty="0">
                        <a:effectLst/>
                      </a:endParaRPr>
                    </a:p>
                  </a:txBody>
                  <a:tcPr marL="53878" marR="53878" marT="53878" marB="53878"/>
                </a:tc>
                <a:tc>
                  <a:txBody>
                    <a:bodyPr/>
                    <a:lstStyle/>
                    <a:p>
                      <a:pPr marL="0" marR="0">
                        <a:buNone/>
                      </a:pPr>
                      <a:r>
                        <a:rPr lang="nl-NL" sz="1400" b="1">
                          <a:effectLst/>
                        </a:rPr>
                        <a:t>AUPRC</a:t>
                      </a:r>
                      <a:endParaRPr lang="nl-NL" sz="3200" b="1">
                        <a:effectLst/>
                      </a:endParaRPr>
                    </a:p>
                  </a:txBody>
                  <a:tcPr marL="53878" marR="53878" marT="53878" marB="53878"/>
                </a:tc>
                <a:tc>
                  <a:txBody>
                    <a:bodyPr/>
                    <a:lstStyle/>
                    <a:p>
                      <a:pPr marL="0" marR="0">
                        <a:buNone/>
                      </a:pPr>
                      <a:r>
                        <a:rPr lang="nl-NL" sz="1400" b="1">
                          <a:effectLst/>
                        </a:rPr>
                        <a:t>Precision</a:t>
                      </a:r>
                      <a:endParaRPr lang="nl-NL" sz="3200" b="1">
                        <a:effectLst/>
                      </a:endParaRPr>
                    </a:p>
                  </a:txBody>
                  <a:tcPr marL="53878" marR="53878" marT="53878" marB="53878"/>
                </a:tc>
                <a:tc>
                  <a:txBody>
                    <a:bodyPr/>
                    <a:lstStyle/>
                    <a:p>
                      <a:pPr marL="0" marR="0">
                        <a:buNone/>
                      </a:pPr>
                      <a:r>
                        <a:rPr lang="nl-NL" sz="1400" b="1" dirty="0">
                          <a:effectLst/>
                        </a:rPr>
                        <a:t>Recall</a:t>
                      </a:r>
                      <a:endParaRPr lang="nl-NL" sz="3200" b="1" dirty="0">
                        <a:effectLst/>
                      </a:endParaRPr>
                    </a:p>
                  </a:txBody>
                  <a:tcPr marL="53878" marR="53878" marT="53878" marB="53878"/>
                </a:tc>
                <a:extLst>
                  <a:ext uri="{0D108BD9-81ED-4DB2-BD59-A6C34878D82A}">
                    <a16:rowId xmlns:a16="http://schemas.microsoft.com/office/drawing/2014/main" val="1159143704"/>
                  </a:ext>
                </a:extLst>
              </a:tr>
              <a:tr h="269389">
                <a:tc>
                  <a:txBody>
                    <a:bodyPr/>
                    <a:lstStyle/>
                    <a:p>
                      <a:pPr marL="0" marR="0">
                        <a:buNone/>
                      </a:pPr>
                      <a:r>
                        <a:rPr lang="nl-NL" sz="1400">
                          <a:effectLst/>
                        </a:rPr>
                        <a:t>logreg_elasticnet</a:t>
                      </a:r>
                      <a:endParaRPr lang="nl-NL" sz="3200">
                        <a:effectLst/>
                      </a:endParaRPr>
                    </a:p>
                  </a:txBody>
                  <a:tcPr marL="53878" marR="53878" marT="53878" marB="53878"/>
                </a:tc>
                <a:tc>
                  <a:txBody>
                    <a:bodyPr/>
                    <a:lstStyle/>
                    <a:p>
                      <a:pPr marL="0" marR="0">
                        <a:buNone/>
                      </a:pPr>
                      <a:r>
                        <a:rPr lang="nl-NL" sz="1400">
                          <a:effectLst/>
                        </a:rPr>
                        <a:t>883</a:t>
                      </a:r>
                      <a:endParaRPr lang="nl-NL" sz="3200">
                        <a:effectLst/>
                      </a:endParaRPr>
                    </a:p>
                  </a:txBody>
                  <a:tcPr marL="53878" marR="53878" marT="53878" marB="53878"/>
                </a:tc>
                <a:tc>
                  <a:txBody>
                    <a:bodyPr/>
                    <a:lstStyle/>
                    <a:p>
                      <a:pPr marL="0" marR="0">
                        <a:buNone/>
                      </a:pPr>
                      <a:r>
                        <a:rPr lang="nl-NL" sz="1400">
                          <a:effectLst/>
                        </a:rPr>
                        <a:t>2.73%</a:t>
                      </a:r>
                      <a:endParaRPr lang="nl-NL" sz="3200">
                        <a:effectLst/>
                      </a:endParaRPr>
                    </a:p>
                  </a:txBody>
                  <a:tcPr marL="53878" marR="53878" marT="53878" marB="53878"/>
                </a:tc>
                <a:tc>
                  <a:txBody>
                    <a:bodyPr/>
                    <a:lstStyle/>
                    <a:p>
                      <a:pPr marL="0" marR="0">
                        <a:buNone/>
                      </a:pPr>
                      <a:r>
                        <a:rPr lang="nl-NL" sz="1400">
                          <a:effectLst/>
                        </a:rPr>
                        <a:t>0.883 [0.840, 0.919]</a:t>
                      </a:r>
                      <a:endParaRPr lang="nl-NL" sz="3200">
                        <a:effectLst/>
                      </a:endParaRPr>
                    </a:p>
                  </a:txBody>
                  <a:tcPr marL="53878" marR="53878" marT="53878" marB="53878"/>
                </a:tc>
                <a:tc>
                  <a:txBody>
                    <a:bodyPr/>
                    <a:lstStyle/>
                    <a:p>
                      <a:pPr marL="0" marR="0">
                        <a:buNone/>
                      </a:pPr>
                      <a:r>
                        <a:rPr lang="nl-NL" sz="1400">
                          <a:effectLst/>
                        </a:rPr>
                        <a:t>0.279 [0.205, 0.389]</a:t>
                      </a:r>
                      <a:endParaRPr lang="nl-NL" sz="3200">
                        <a:effectLst/>
                      </a:endParaRPr>
                    </a:p>
                  </a:txBody>
                  <a:tcPr marL="53878" marR="53878" marT="53878" marB="53878"/>
                </a:tc>
                <a:tc>
                  <a:txBody>
                    <a:bodyPr/>
                    <a:lstStyle/>
                    <a:p>
                      <a:pPr marL="0" marR="0">
                        <a:buNone/>
                      </a:pPr>
                      <a:r>
                        <a:rPr lang="nl-NL" sz="1400">
                          <a:effectLst/>
                        </a:rPr>
                        <a:t>0.360 [0.253, 0.471]</a:t>
                      </a:r>
                      <a:endParaRPr lang="nl-NL" sz="3200">
                        <a:effectLst/>
                      </a:endParaRPr>
                    </a:p>
                  </a:txBody>
                  <a:tcPr marL="53878" marR="53878" marT="53878" marB="53878"/>
                </a:tc>
                <a:tc>
                  <a:txBody>
                    <a:bodyPr/>
                    <a:lstStyle/>
                    <a:p>
                      <a:pPr marL="0" marR="0">
                        <a:buNone/>
                      </a:pPr>
                      <a:r>
                        <a:rPr lang="nl-NL" sz="1400" dirty="0">
                          <a:effectLst/>
                        </a:rPr>
                        <a:t>0.352 [0.257, 0.448]</a:t>
                      </a:r>
                      <a:endParaRPr lang="nl-NL" sz="3200" dirty="0">
                        <a:effectLst/>
                      </a:endParaRPr>
                    </a:p>
                  </a:txBody>
                  <a:tcPr marL="53878" marR="53878" marT="53878" marB="53878"/>
                </a:tc>
                <a:extLst>
                  <a:ext uri="{0D108BD9-81ED-4DB2-BD59-A6C34878D82A}">
                    <a16:rowId xmlns:a16="http://schemas.microsoft.com/office/drawing/2014/main" val="3307830483"/>
                  </a:ext>
                </a:extLst>
              </a:tr>
              <a:tr h="269389">
                <a:tc>
                  <a:txBody>
                    <a:bodyPr/>
                    <a:lstStyle/>
                    <a:p>
                      <a:pPr marL="0" marR="0">
                        <a:buNone/>
                      </a:pPr>
                      <a:r>
                        <a:rPr lang="nl-NL" sz="1400">
                          <a:effectLst/>
                        </a:rPr>
                        <a:t>random_forest</a:t>
                      </a:r>
                      <a:endParaRPr lang="nl-NL" sz="3200">
                        <a:effectLst/>
                      </a:endParaRPr>
                    </a:p>
                  </a:txBody>
                  <a:tcPr marL="53878" marR="53878" marT="53878" marB="53878"/>
                </a:tc>
                <a:tc>
                  <a:txBody>
                    <a:bodyPr/>
                    <a:lstStyle/>
                    <a:p>
                      <a:pPr marL="0" marR="0">
                        <a:buNone/>
                      </a:pPr>
                      <a:r>
                        <a:rPr lang="nl-NL" sz="1400" dirty="0">
                          <a:effectLst/>
                        </a:rPr>
                        <a:t>431</a:t>
                      </a:r>
                      <a:endParaRPr lang="nl-NL" sz="3200" dirty="0">
                        <a:effectLst/>
                      </a:endParaRPr>
                    </a:p>
                  </a:txBody>
                  <a:tcPr marL="53878" marR="53878" marT="53878" marB="53878"/>
                </a:tc>
                <a:tc>
                  <a:txBody>
                    <a:bodyPr/>
                    <a:lstStyle/>
                    <a:p>
                      <a:pPr marL="0" marR="0">
                        <a:buNone/>
                      </a:pPr>
                      <a:r>
                        <a:rPr lang="nl-NL" sz="1400" dirty="0">
                          <a:effectLst/>
                        </a:rPr>
                        <a:t>2.73%</a:t>
                      </a:r>
                      <a:endParaRPr lang="nl-NL" sz="3200" dirty="0">
                        <a:effectLst/>
                      </a:endParaRPr>
                    </a:p>
                  </a:txBody>
                  <a:tcPr marL="53878" marR="53878" marT="53878" marB="53878"/>
                </a:tc>
                <a:tc>
                  <a:txBody>
                    <a:bodyPr/>
                    <a:lstStyle/>
                    <a:p>
                      <a:pPr marL="0" marR="0">
                        <a:buNone/>
                      </a:pPr>
                      <a:r>
                        <a:rPr lang="nl-NL" sz="1400">
                          <a:effectLst/>
                        </a:rPr>
                        <a:t>0.869 [0.831, 0.905]</a:t>
                      </a:r>
                      <a:endParaRPr lang="nl-NL" sz="3200">
                        <a:effectLst/>
                      </a:endParaRPr>
                    </a:p>
                  </a:txBody>
                  <a:tcPr marL="53878" marR="53878" marT="53878" marB="53878"/>
                </a:tc>
                <a:tc>
                  <a:txBody>
                    <a:bodyPr/>
                    <a:lstStyle/>
                    <a:p>
                      <a:pPr marL="0" marR="0">
                        <a:buNone/>
                      </a:pPr>
                      <a:r>
                        <a:rPr lang="nl-NL" sz="1400">
                          <a:effectLst/>
                        </a:rPr>
                        <a:t>0.266 [0.186, 0.367]</a:t>
                      </a:r>
                      <a:endParaRPr lang="nl-NL" sz="3200">
                        <a:effectLst/>
                      </a:endParaRPr>
                    </a:p>
                  </a:txBody>
                  <a:tcPr marL="53878" marR="53878" marT="53878" marB="53878"/>
                </a:tc>
                <a:tc>
                  <a:txBody>
                    <a:bodyPr/>
                    <a:lstStyle/>
                    <a:p>
                      <a:pPr marL="0" marR="0">
                        <a:buNone/>
                      </a:pPr>
                      <a:r>
                        <a:rPr lang="nl-NL" sz="1400">
                          <a:effectLst/>
                        </a:rPr>
                        <a:t>0.303 [0.209, 0.411]</a:t>
                      </a:r>
                      <a:endParaRPr lang="nl-NL" sz="3200">
                        <a:effectLst/>
                      </a:endParaRPr>
                    </a:p>
                  </a:txBody>
                  <a:tcPr marL="53878" marR="53878" marT="53878" marB="53878"/>
                </a:tc>
                <a:tc>
                  <a:txBody>
                    <a:bodyPr/>
                    <a:lstStyle/>
                    <a:p>
                      <a:pPr marL="0" marR="0">
                        <a:buNone/>
                      </a:pPr>
                      <a:r>
                        <a:rPr lang="nl-NL" sz="1400">
                          <a:effectLst/>
                        </a:rPr>
                        <a:t>0.307 [0.214, 0.406]</a:t>
                      </a:r>
                      <a:endParaRPr lang="nl-NL" sz="3200">
                        <a:effectLst/>
                      </a:endParaRPr>
                    </a:p>
                  </a:txBody>
                  <a:tcPr marL="53878" marR="53878" marT="53878" marB="53878"/>
                </a:tc>
                <a:extLst>
                  <a:ext uri="{0D108BD9-81ED-4DB2-BD59-A6C34878D82A}">
                    <a16:rowId xmlns:a16="http://schemas.microsoft.com/office/drawing/2014/main" val="1808868418"/>
                  </a:ext>
                </a:extLst>
              </a:tr>
              <a:tr h="269389">
                <a:tc>
                  <a:txBody>
                    <a:bodyPr/>
                    <a:lstStyle/>
                    <a:p>
                      <a:pPr marL="0" marR="0">
                        <a:buNone/>
                      </a:pPr>
                      <a:r>
                        <a:rPr lang="nl-NL" sz="1400" dirty="0" err="1">
                          <a:effectLst/>
                        </a:rPr>
                        <a:t>xgboost</a:t>
                      </a:r>
                      <a:endParaRPr lang="nl-NL" sz="3200" dirty="0">
                        <a:effectLst/>
                      </a:endParaRPr>
                    </a:p>
                  </a:txBody>
                  <a:tcPr marL="53878" marR="53878" marT="53878" marB="53878"/>
                </a:tc>
                <a:tc>
                  <a:txBody>
                    <a:bodyPr/>
                    <a:lstStyle/>
                    <a:p>
                      <a:pPr marL="0" marR="0">
                        <a:buNone/>
                      </a:pPr>
                      <a:r>
                        <a:rPr lang="nl-NL" sz="1400">
                          <a:effectLst/>
                        </a:rPr>
                        <a:t>0.53</a:t>
                      </a:r>
                      <a:endParaRPr lang="nl-NL" sz="3200">
                        <a:effectLst/>
                      </a:endParaRPr>
                    </a:p>
                  </a:txBody>
                  <a:tcPr marL="53878" marR="53878" marT="53878" marB="53878"/>
                </a:tc>
                <a:tc>
                  <a:txBody>
                    <a:bodyPr/>
                    <a:lstStyle/>
                    <a:p>
                      <a:pPr marL="0" marR="0">
                        <a:buNone/>
                      </a:pPr>
                      <a:r>
                        <a:rPr lang="nl-NL" sz="1400">
                          <a:effectLst/>
                        </a:rPr>
                        <a:t>2.73%</a:t>
                      </a:r>
                      <a:endParaRPr lang="nl-NL" sz="3200">
                        <a:effectLst/>
                      </a:endParaRPr>
                    </a:p>
                  </a:txBody>
                  <a:tcPr marL="53878" marR="53878" marT="53878" marB="53878"/>
                </a:tc>
                <a:tc>
                  <a:txBody>
                    <a:bodyPr/>
                    <a:lstStyle/>
                    <a:p>
                      <a:pPr marL="0" marR="0">
                        <a:buNone/>
                      </a:pPr>
                      <a:r>
                        <a:rPr lang="nl-NL" sz="1400">
                          <a:effectLst/>
                        </a:rPr>
                        <a:t>0.878 [0.841, 0.911]</a:t>
                      </a:r>
                      <a:endParaRPr lang="nl-NL" sz="3200">
                        <a:effectLst/>
                      </a:endParaRPr>
                    </a:p>
                  </a:txBody>
                  <a:tcPr marL="53878" marR="53878" marT="53878" marB="53878"/>
                </a:tc>
                <a:tc>
                  <a:txBody>
                    <a:bodyPr/>
                    <a:lstStyle/>
                    <a:p>
                      <a:pPr marL="0" marR="0">
                        <a:buNone/>
                      </a:pPr>
                      <a:r>
                        <a:rPr lang="nl-NL" sz="1400" b="1" dirty="0">
                          <a:effectLst/>
                        </a:rPr>
                        <a:t>0.293 [0.199, 0.398]</a:t>
                      </a:r>
                      <a:endParaRPr lang="nl-NL" sz="3200" b="1" dirty="0">
                        <a:effectLst/>
                      </a:endParaRPr>
                    </a:p>
                  </a:txBody>
                  <a:tcPr marL="53878" marR="53878" marT="53878" marB="53878"/>
                </a:tc>
                <a:tc>
                  <a:txBody>
                    <a:bodyPr/>
                    <a:lstStyle/>
                    <a:p>
                      <a:pPr marL="0" marR="0">
                        <a:buNone/>
                      </a:pPr>
                      <a:r>
                        <a:rPr lang="nl-NL" sz="1400">
                          <a:effectLst/>
                        </a:rPr>
                        <a:t>0.341 [0.243, 0.454]</a:t>
                      </a:r>
                      <a:endParaRPr lang="nl-NL" sz="3200">
                        <a:effectLst/>
                      </a:endParaRPr>
                    </a:p>
                  </a:txBody>
                  <a:tcPr marL="53878" marR="53878" marT="53878" marB="53878"/>
                </a:tc>
                <a:tc>
                  <a:txBody>
                    <a:bodyPr/>
                    <a:lstStyle/>
                    <a:p>
                      <a:pPr marL="0" marR="0">
                        <a:buNone/>
                      </a:pPr>
                      <a:r>
                        <a:rPr lang="nl-NL" sz="1400" dirty="0">
                          <a:effectLst/>
                        </a:rPr>
                        <a:t>0.318 [0.226, 0.417]</a:t>
                      </a:r>
                      <a:endParaRPr lang="nl-NL" sz="3200" dirty="0">
                        <a:effectLst/>
                      </a:endParaRPr>
                    </a:p>
                  </a:txBody>
                  <a:tcPr marL="53878" marR="53878" marT="53878" marB="53878"/>
                </a:tc>
                <a:extLst>
                  <a:ext uri="{0D108BD9-81ED-4DB2-BD59-A6C34878D82A}">
                    <a16:rowId xmlns:a16="http://schemas.microsoft.com/office/drawing/2014/main" val="2825391089"/>
                  </a:ext>
                </a:extLst>
              </a:tr>
            </a:tbl>
          </a:graphicData>
        </a:graphic>
      </p:graphicFrame>
    </p:spTree>
    <p:extLst>
      <p:ext uri="{BB962C8B-B14F-4D97-AF65-F5344CB8AC3E}">
        <p14:creationId xmlns:p14="http://schemas.microsoft.com/office/powerpoint/2010/main" val="28691146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C4035-A0F8-BEC6-8C15-A5DB3CCF2F8E}"/>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BCF1B1BD-AB89-D5A8-1C53-F755E4560AF0}"/>
              </a:ext>
            </a:extLst>
          </p:cNvPr>
          <p:cNvSpPr>
            <a:spLocks noGrp="1"/>
          </p:cNvSpPr>
          <p:nvPr>
            <p:ph type="title"/>
          </p:nvPr>
        </p:nvSpPr>
        <p:spPr/>
        <p:txBody>
          <a:bodyPr/>
          <a:lstStyle/>
          <a:p>
            <a:r>
              <a:rPr lang="nl-NL" dirty="0"/>
              <a:t>model </a:t>
            </a:r>
            <a:r>
              <a:rPr lang="nl-NL" dirty="0" err="1"/>
              <a:t>results</a:t>
            </a:r>
            <a:endParaRPr lang="nl-NL" dirty="0"/>
          </a:p>
        </p:txBody>
      </p:sp>
      <p:pic>
        <p:nvPicPr>
          <p:cNvPr id="6" name="Afbeelding 5">
            <a:extLst>
              <a:ext uri="{FF2B5EF4-FFF2-40B4-BE49-F238E27FC236}">
                <a16:creationId xmlns:a16="http://schemas.microsoft.com/office/drawing/2014/main" id="{50D45B03-F761-DDDC-1F36-6DC0321E6B83}"/>
              </a:ext>
            </a:extLst>
          </p:cNvPr>
          <p:cNvPicPr>
            <a:picLocks noChangeAspect="1"/>
          </p:cNvPicPr>
          <p:nvPr/>
        </p:nvPicPr>
        <p:blipFill>
          <a:blip r:embed="rId2"/>
          <a:stretch>
            <a:fillRect/>
          </a:stretch>
        </p:blipFill>
        <p:spPr>
          <a:xfrm>
            <a:off x="5796431" y="1690687"/>
            <a:ext cx="5168946" cy="4884333"/>
          </a:xfrm>
          <a:prstGeom prst="rect">
            <a:avLst/>
          </a:prstGeom>
        </p:spPr>
      </p:pic>
      <p:pic>
        <p:nvPicPr>
          <p:cNvPr id="7" name="Afbeelding 6">
            <a:extLst>
              <a:ext uri="{FF2B5EF4-FFF2-40B4-BE49-F238E27FC236}">
                <a16:creationId xmlns:a16="http://schemas.microsoft.com/office/drawing/2014/main" id="{9F6A4518-A726-B84F-5BFC-31AB1843294E}"/>
              </a:ext>
            </a:extLst>
          </p:cNvPr>
          <p:cNvPicPr>
            <a:picLocks noChangeAspect="1"/>
          </p:cNvPicPr>
          <p:nvPr/>
        </p:nvPicPr>
        <p:blipFill>
          <a:blip r:embed="rId3"/>
          <a:stretch>
            <a:fillRect/>
          </a:stretch>
        </p:blipFill>
        <p:spPr>
          <a:xfrm>
            <a:off x="156432" y="1690688"/>
            <a:ext cx="5251576" cy="4884333"/>
          </a:xfrm>
          <a:prstGeom prst="rect">
            <a:avLst/>
          </a:prstGeom>
        </p:spPr>
      </p:pic>
      <p:cxnSp>
        <p:nvCxnSpPr>
          <p:cNvPr id="8" name="Rechte verbindingslijn 7">
            <a:extLst>
              <a:ext uri="{FF2B5EF4-FFF2-40B4-BE49-F238E27FC236}">
                <a16:creationId xmlns:a16="http://schemas.microsoft.com/office/drawing/2014/main" id="{F882E04F-9628-C00B-6C79-1F9C40FCBCBB}"/>
              </a:ext>
            </a:extLst>
          </p:cNvPr>
          <p:cNvCxnSpPr>
            <a:cxnSpLocks/>
          </p:cNvCxnSpPr>
          <p:nvPr/>
        </p:nvCxnSpPr>
        <p:spPr>
          <a:xfrm>
            <a:off x="838200" y="3628572"/>
            <a:ext cx="4285343" cy="0"/>
          </a:xfrm>
          <a:prstGeom prst="line">
            <a:avLst/>
          </a:prstGeom>
          <a:ln w="15875">
            <a:prstDash val="sysDash"/>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870414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9D37836-73BE-C3A5-3D40-1E4425EDD0A6}"/>
              </a:ext>
            </a:extLst>
          </p:cNvPr>
          <p:cNvSpPr>
            <a:spLocks noGrp="1"/>
          </p:cNvSpPr>
          <p:nvPr>
            <p:ph type="title"/>
          </p:nvPr>
        </p:nvSpPr>
        <p:spPr>
          <a:xfrm>
            <a:off x="838200" y="365125"/>
            <a:ext cx="10835244" cy="1325563"/>
          </a:xfrm>
        </p:spPr>
        <p:txBody>
          <a:bodyPr/>
          <a:lstStyle/>
          <a:p>
            <a:r>
              <a:rPr lang="nl-NL" dirty="0"/>
              <a:t>model </a:t>
            </a:r>
            <a:r>
              <a:rPr lang="nl-NL" dirty="0" err="1"/>
              <a:t>results</a:t>
            </a:r>
            <a:endParaRPr lang="nl-NL" dirty="0"/>
          </a:p>
        </p:txBody>
      </p:sp>
      <p:sp>
        <p:nvSpPr>
          <p:cNvPr id="3" name="Tijdelijke aanduiding voor inhoud 2">
            <a:extLst>
              <a:ext uri="{FF2B5EF4-FFF2-40B4-BE49-F238E27FC236}">
                <a16:creationId xmlns:a16="http://schemas.microsoft.com/office/drawing/2014/main" id="{8E17616D-B608-36E2-5B2B-5838BA55F86C}"/>
              </a:ext>
            </a:extLst>
          </p:cNvPr>
          <p:cNvSpPr>
            <a:spLocks noGrp="1"/>
          </p:cNvSpPr>
          <p:nvPr>
            <p:ph sz="half" idx="1"/>
          </p:nvPr>
        </p:nvSpPr>
        <p:spPr>
          <a:xfrm>
            <a:off x="838200" y="1738540"/>
            <a:ext cx="5181600" cy="4351338"/>
          </a:xfrm>
        </p:spPr>
        <p:txBody>
          <a:bodyPr>
            <a:normAutofit/>
          </a:bodyPr>
          <a:lstStyle/>
          <a:p>
            <a:r>
              <a:rPr lang="nl-NL" sz="2400" dirty="0"/>
              <a:t>SHAP </a:t>
            </a:r>
            <a:r>
              <a:rPr lang="nl-NL" sz="2400" dirty="0" err="1"/>
              <a:t>decision</a:t>
            </a:r>
            <a:r>
              <a:rPr lang="nl-NL" sz="2400" dirty="0"/>
              <a:t> plot ‘short term’</a:t>
            </a:r>
          </a:p>
        </p:txBody>
      </p:sp>
      <p:sp>
        <p:nvSpPr>
          <p:cNvPr id="4" name="Tijdelijke aanduiding voor inhoud 3">
            <a:extLst>
              <a:ext uri="{FF2B5EF4-FFF2-40B4-BE49-F238E27FC236}">
                <a16:creationId xmlns:a16="http://schemas.microsoft.com/office/drawing/2014/main" id="{39787143-5E78-0324-F026-5DA80F826126}"/>
              </a:ext>
            </a:extLst>
          </p:cNvPr>
          <p:cNvSpPr>
            <a:spLocks noGrp="1"/>
          </p:cNvSpPr>
          <p:nvPr>
            <p:ph sz="half" idx="2"/>
          </p:nvPr>
        </p:nvSpPr>
        <p:spPr>
          <a:xfrm>
            <a:off x="6172200" y="1738540"/>
            <a:ext cx="5181600" cy="4351338"/>
          </a:xfrm>
        </p:spPr>
        <p:txBody>
          <a:bodyPr>
            <a:normAutofit/>
          </a:bodyPr>
          <a:lstStyle/>
          <a:p>
            <a:r>
              <a:rPr lang="nl-NL" sz="2400" dirty="0"/>
              <a:t>SHAP </a:t>
            </a:r>
            <a:r>
              <a:rPr lang="nl-NL" sz="2400" dirty="0" err="1"/>
              <a:t>decision</a:t>
            </a:r>
            <a:r>
              <a:rPr lang="nl-NL" sz="2400" dirty="0"/>
              <a:t> plot ‘long term’ </a:t>
            </a:r>
          </a:p>
        </p:txBody>
      </p:sp>
      <p:pic>
        <p:nvPicPr>
          <p:cNvPr id="5" name="Afbeelding 4">
            <a:extLst>
              <a:ext uri="{FF2B5EF4-FFF2-40B4-BE49-F238E27FC236}">
                <a16:creationId xmlns:a16="http://schemas.microsoft.com/office/drawing/2014/main" id="{D64041A6-CE69-6073-1B6F-71FCD9137FC6}"/>
              </a:ext>
            </a:extLst>
          </p:cNvPr>
          <p:cNvPicPr>
            <a:picLocks noChangeAspect="1"/>
          </p:cNvPicPr>
          <p:nvPr/>
        </p:nvPicPr>
        <p:blipFill>
          <a:blip r:embed="rId2"/>
          <a:stretch>
            <a:fillRect/>
          </a:stretch>
        </p:blipFill>
        <p:spPr>
          <a:xfrm>
            <a:off x="408749" y="2492678"/>
            <a:ext cx="5204606" cy="4240199"/>
          </a:xfrm>
          <a:prstGeom prst="rect">
            <a:avLst/>
          </a:prstGeom>
        </p:spPr>
      </p:pic>
      <p:pic>
        <p:nvPicPr>
          <p:cNvPr id="6" name="Afbeelding 5">
            <a:extLst>
              <a:ext uri="{FF2B5EF4-FFF2-40B4-BE49-F238E27FC236}">
                <a16:creationId xmlns:a16="http://schemas.microsoft.com/office/drawing/2014/main" id="{6EC9FD4D-4796-49D2-27B6-BC14347CF7D1}"/>
              </a:ext>
            </a:extLst>
          </p:cNvPr>
          <p:cNvPicPr>
            <a:picLocks noChangeAspect="1"/>
          </p:cNvPicPr>
          <p:nvPr/>
        </p:nvPicPr>
        <p:blipFill>
          <a:blip r:embed="rId3"/>
          <a:stretch>
            <a:fillRect/>
          </a:stretch>
        </p:blipFill>
        <p:spPr>
          <a:xfrm>
            <a:off x="6696945" y="2492678"/>
            <a:ext cx="4742328" cy="4240199"/>
          </a:xfrm>
          <a:prstGeom prst="rect">
            <a:avLst/>
          </a:prstGeom>
        </p:spPr>
      </p:pic>
    </p:spTree>
    <p:extLst>
      <p:ext uri="{BB962C8B-B14F-4D97-AF65-F5344CB8AC3E}">
        <p14:creationId xmlns:p14="http://schemas.microsoft.com/office/powerpoint/2010/main" val="33930339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txBox="1"/>
          <p:nvPr/>
        </p:nvSpPr>
        <p:spPr>
          <a:xfrm>
            <a:off x="468430" y="1670464"/>
            <a:ext cx="5109410" cy="502920"/>
          </a:xfrm>
          <a:prstGeom prst="rect">
            <a:avLst/>
          </a:prstGeom>
          <a:noFill/>
          <a:ln/>
        </p:spPr>
        <p:txBody>
          <a:bodyPr wrap="square" lIns="0" tIns="0" rIns="0" bIns="0" rtlCol="0" anchor="ctr"/>
          <a:lstStyle/>
          <a:p>
            <a:pPr marL="0" indent="0">
              <a:buNone/>
            </a:pPr>
            <a:r>
              <a:rPr lang="en-US" sz="1250" dirty="0">
                <a:ea typeface="Calibri" pitchFamily="34" charset="-122"/>
                <a:cs typeface="Calibri" pitchFamily="34" charset="-120"/>
              </a:rPr>
              <a:t>A feedforward neural network (MLP) using only baseline (T1) clinical, anthropometric, and lifestyle features to predict new diabetes cases by the T2 follow-up visit.</a:t>
            </a:r>
            <a:endParaRPr lang="en-US" sz="1250" dirty="0"/>
          </a:p>
        </p:txBody>
      </p:sp>
      <p:sp>
        <p:nvSpPr>
          <p:cNvPr id="4" name="Text 2"/>
          <p:cNvSpPr txBox="1"/>
          <p:nvPr/>
        </p:nvSpPr>
        <p:spPr>
          <a:xfrm>
            <a:off x="-160421" y="2539144"/>
            <a:ext cx="3291840" cy="292608"/>
          </a:xfrm>
          <a:prstGeom prst="rect">
            <a:avLst/>
          </a:prstGeom>
          <a:noFill/>
          <a:ln/>
        </p:spPr>
        <p:txBody>
          <a:bodyPr wrap="square" lIns="0" tIns="0" rIns="0" bIns="0" rtlCol="0" anchor="ctr"/>
          <a:lstStyle/>
          <a:p>
            <a:pPr marL="0" indent="0" algn="ctr">
              <a:buNone/>
            </a:pPr>
            <a:r>
              <a:rPr lang="en-US" sz="1400" b="1" dirty="0">
                <a:solidFill>
                  <a:srgbClr val="1A1A1A"/>
                </a:solidFill>
                <a:ea typeface="Calibri" pitchFamily="34" charset="-122"/>
                <a:cs typeface="Calibri" pitchFamily="34" charset="-120"/>
              </a:rPr>
              <a:t>AUC</a:t>
            </a:r>
            <a:endParaRPr lang="en-US" sz="1400" dirty="0"/>
          </a:p>
        </p:txBody>
      </p:sp>
      <p:sp>
        <p:nvSpPr>
          <p:cNvPr id="5" name="Text 3"/>
          <p:cNvSpPr txBox="1"/>
          <p:nvPr/>
        </p:nvSpPr>
        <p:spPr>
          <a:xfrm>
            <a:off x="-160421" y="2786032"/>
            <a:ext cx="3291840" cy="914400"/>
          </a:xfrm>
          <a:prstGeom prst="rect">
            <a:avLst/>
          </a:prstGeom>
          <a:noFill/>
          <a:ln/>
        </p:spPr>
        <p:txBody>
          <a:bodyPr wrap="square" lIns="0" tIns="0" rIns="0" bIns="0" rtlCol="0" anchor="ctr"/>
          <a:lstStyle/>
          <a:p>
            <a:pPr marL="0" indent="0" algn="ctr">
              <a:buNone/>
            </a:pPr>
            <a:r>
              <a:rPr lang="en-US" sz="5800" b="1" dirty="0">
                <a:solidFill>
                  <a:srgbClr val="028090"/>
                </a:solidFill>
                <a:ea typeface="Cambria" pitchFamily="34" charset="-122"/>
                <a:cs typeface="Cambria" pitchFamily="34" charset="-120"/>
              </a:rPr>
              <a:t>0.95</a:t>
            </a:r>
            <a:endParaRPr lang="en-US" sz="5800" dirty="0"/>
          </a:p>
        </p:txBody>
      </p:sp>
      <p:sp>
        <p:nvSpPr>
          <p:cNvPr id="6" name="Text 4"/>
          <p:cNvSpPr txBox="1"/>
          <p:nvPr/>
        </p:nvSpPr>
        <p:spPr>
          <a:xfrm>
            <a:off x="-160421" y="3709576"/>
            <a:ext cx="3291840" cy="457200"/>
          </a:xfrm>
          <a:prstGeom prst="rect">
            <a:avLst/>
          </a:prstGeom>
          <a:noFill/>
          <a:ln/>
        </p:spPr>
        <p:txBody>
          <a:bodyPr wrap="square" lIns="0" tIns="0" rIns="0" bIns="0" rtlCol="0" anchor="ctr"/>
          <a:lstStyle/>
          <a:p>
            <a:pPr marL="0" indent="0" algn="ctr">
              <a:buNone/>
            </a:pPr>
            <a:r>
              <a:rPr lang="en-US" sz="1100" dirty="0">
                <a:solidFill>
                  <a:srgbClr val="595959"/>
                </a:solidFill>
                <a:ea typeface="Calibri" pitchFamily="34" charset="-122"/>
                <a:cs typeface="Calibri" pitchFamily="34" charset="-120"/>
              </a:rPr>
              <a:t>95% CI: 0.90 – 0.99</a:t>
            </a:r>
            <a:endParaRPr lang="en-US" sz="1100" dirty="0"/>
          </a:p>
        </p:txBody>
      </p:sp>
      <p:sp>
        <p:nvSpPr>
          <p:cNvPr id="7" name="Text 5"/>
          <p:cNvSpPr txBox="1"/>
          <p:nvPr/>
        </p:nvSpPr>
        <p:spPr>
          <a:xfrm>
            <a:off x="2419630" y="2539144"/>
            <a:ext cx="3291840" cy="292608"/>
          </a:xfrm>
          <a:prstGeom prst="rect">
            <a:avLst/>
          </a:prstGeom>
          <a:noFill/>
          <a:ln/>
        </p:spPr>
        <p:txBody>
          <a:bodyPr wrap="square" lIns="0" tIns="0" rIns="0" bIns="0" rtlCol="0" anchor="ctr"/>
          <a:lstStyle/>
          <a:p>
            <a:pPr marL="0" indent="0" algn="ctr">
              <a:buNone/>
            </a:pPr>
            <a:r>
              <a:rPr lang="en-US" sz="1400" b="1" dirty="0">
                <a:solidFill>
                  <a:srgbClr val="1A1A1A"/>
                </a:solidFill>
                <a:ea typeface="Calibri" pitchFamily="34" charset="-122"/>
                <a:cs typeface="Calibri" pitchFamily="34" charset="-120"/>
              </a:rPr>
              <a:t>AUPRC</a:t>
            </a:r>
            <a:endParaRPr lang="en-US" sz="1400" dirty="0"/>
          </a:p>
        </p:txBody>
      </p:sp>
      <p:sp>
        <p:nvSpPr>
          <p:cNvPr id="8" name="Text 6"/>
          <p:cNvSpPr txBox="1"/>
          <p:nvPr/>
        </p:nvSpPr>
        <p:spPr>
          <a:xfrm>
            <a:off x="2419630" y="2786032"/>
            <a:ext cx="3291840" cy="914400"/>
          </a:xfrm>
          <a:prstGeom prst="rect">
            <a:avLst/>
          </a:prstGeom>
          <a:noFill/>
          <a:ln/>
        </p:spPr>
        <p:txBody>
          <a:bodyPr wrap="square" lIns="0" tIns="0" rIns="0" bIns="0" rtlCol="0" anchor="ctr"/>
          <a:lstStyle/>
          <a:p>
            <a:pPr marL="0" indent="0" algn="ctr">
              <a:buNone/>
            </a:pPr>
            <a:r>
              <a:rPr lang="en-US" sz="5800" b="1" dirty="0">
                <a:solidFill>
                  <a:srgbClr val="00A896"/>
                </a:solidFill>
                <a:ea typeface="Cambria" pitchFamily="34" charset="-122"/>
                <a:cs typeface="Cambria" pitchFamily="34" charset="-120"/>
              </a:rPr>
              <a:t>0.51</a:t>
            </a:r>
            <a:endParaRPr lang="en-US" sz="5800" dirty="0"/>
          </a:p>
        </p:txBody>
      </p:sp>
      <p:sp>
        <p:nvSpPr>
          <p:cNvPr id="9" name="Text 7"/>
          <p:cNvSpPr txBox="1"/>
          <p:nvPr/>
        </p:nvSpPr>
        <p:spPr>
          <a:xfrm>
            <a:off x="2419630" y="3709576"/>
            <a:ext cx="3291840" cy="457200"/>
          </a:xfrm>
          <a:prstGeom prst="rect">
            <a:avLst/>
          </a:prstGeom>
          <a:noFill/>
          <a:ln/>
        </p:spPr>
        <p:txBody>
          <a:bodyPr wrap="square" lIns="0" tIns="0" rIns="0" bIns="0" rtlCol="0" anchor="ctr"/>
          <a:lstStyle/>
          <a:p>
            <a:pPr marL="0" indent="0" algn="ctr">
              <a:buNone/>
            </a:pPr>
            <a:r>
              <a:rPr lang="en-US" sz="1100" dirty="0">
                <a:solidFill>
                  <a:srgbClr val="595959"/>
                </a:solidFill>
                <a:ea typeface="Calibri" pitchFamily="34" charset="-122"/>
                <a:cs typeface="Calibri" pitchFamily="34" charset="-120"/>
              </a:rPr>
              <a:t>95% CI: 0.35 – 0.67  •  ~50× the 1% base rate</a:t>
            </a:r>
            <a:endParaRPr lang="en-US" sz="1100" dirty="0"/>
          </a:p>
        </p:txBody>
      </p:sp>
      <p:sp>
        <p:nvSpPr>
          <p:cNvPr id="10" name="Text 8"/>
          <p:cNvSpPr txBox="1"/>
          <p:nvPr/>
        </p:nvSpPr>
        <p:spPr>
          <a:xfrm>
            <a:off x="518521" y="4513745"/>
            <a:ext cx="5192950" cy="1371600"/>
          </a:xfrm>
          <a:prstGeom prst="rect">
            <a:avLst/>
          </a:prstGeom>
          <a:noFill/>
          <a:ln/>
        </p:spPr>
        <p:txBody>
          <a:bodyPr wrap="square" lIns="0" tIns="0" rIns="0" bIns="0" rtlCol="0" anchor="ctr"/>
          <a:lstStyle/>
          <a:p>
            <a:pPr marL="0" indent="0">
              <a:lnSpc>
                <a:spcPct val="130000"/>
              </a:lnSpc>
              <a:buNone/>
            </a:pPr>
            <a:r>
              <a:rPr lang="en-US" sz="1500" b="1" dirty="0">
                <a:solidFill>
                  <a:srgbClr val="1A1A1A"/>
                </a:solidFill>
                <a:ea typeface="Calibri" pitchFamily="34" charset="-122"/>
                <a:cs typeface="Calibri" pitchFamily="34" charset="-120"/>
              </a:rPr>
              <a:t>Bottom line: </a:t>
            </a:r>
            <a:r>
              <a:rPr lang="en-US" sz="1500" dirty="0">
                <a:solidFill>
                  <a:srgbClr val="1A1A1A"/>
                </a:solidFill>
                <a:ea typeface="Calibri" pitchFamily="34" charset="-122"/>
                <a:cs typeface="Calibri" pitchFamily="34" charset="-120"/>
              </a:rPr>
              <a:t>Baseline labs and lifestyle data predict incident diabetes well, but most of that power comes from a single variable (baseline HbA1c) with the network adding a modest, real improvement on top of it.</a:t>
            </a:r>
            <a:endParaRPr lang="en-US" sz="1500" dirty="0"/>
          </a:p>
        </p:txBody>
      </p:sp>
      <p:pic>
        <p:nvPicPr>
          <p:cNvPr id="12" name="Image 0" descr="permutation_importance.png"/>
          <p:cNvPicPr>
            <a:picLocks noChangeAspect="1"/>
          </p:cNvPicPr>
          <p:nvPr/>
        </p:nvPicPr>
        <p:blipFill>
          <a:blip r:embed="rId3"/>
          <a:stretch>
            <a:fillRect/>
          </a:stretch>
        </p:blipFill>
        <p:spPr>
          <a:xfrm>
            <a:off x="5950641" y="1681364"/>
            <a:ext cx="6016768" cy="4194837"/>
          </a:xfrm>
          <a:prstGeom prst="rect">
            <a:avLst/>
          </a:prstGeom>
          <a:ln w="38100">
            <a:solidFill>
              <a:schemeClr val="accent1"/>
            </a:solidFill>
          </a:ln>
        </p:spPr>
      </p:pic>
      <p:sp>
        <p:nvSpPr>
          <p:cNvPr id="11" name="Titel 10">
            <a:extLst>
              <a:ext uri="{FF2B5EF4-FFF2-40B4-BE49-F238E27FC236}">
                <a16:creationId xmlns:a16="http://schemas.microsoft.com/office/drawing/2014/main" id="{8A587897-6210-399C-F339-8393312DBA1C}"/>
              </a:ext>
            </a:extLst>
          </p:cNvPr>
          <p:cNvSpPr>
            <a:spLocks noGrp="1"/>
          </p:cNvSpPr>
          <p:nvPr>
            <p:ph type="title"/>
          </p:nvPr>
        </p:nvSpPr>
        <p:spPr/>
        <p:txBody>
          <a:bodyPr/>
          <a:lstStyle/>
          <a:p>
            <a:r>
              <a:rPr lang="en-US" dirty="0">
                <a:solidFill>
                  <a:srgbClr val="1A1A1A"/>
                </a:solidFill>
                <a:ea typeface="Cambria" pitchFamily="34" charset="-122"/>
                <a:cs typeface="Cambria" pitchFamily="34" charset="-120"/>
              </a:rPr>
              <a:t>Predicting Diabetes with Deep Learning</a:t>
            </a:r>
            <a:endParaRPr lang="nl-NL"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1768E48-5A7E-0794-3654-AAEF455764BC}"/>
              </a:ext>
            </a:extLst>
          </p:cNvPr>
          <p:cNvPicPr>
            <a:picLocks noChangeAspect="1"/>
          </p:cNvPicPr>
          <p:nvPr/>
        </p:nvPicPr>
        <p:blipFill>
          <a:blip r:embed="rId2"/>
          <a:stretch>
            <a:fillRect/>
          </a:stretch>
        </p:blipFill>
        <p:spPr>
          <a:xfrm>
            <a:off x="518160" y="-46621"/>
            <a:ext cx="11673840" cy="6951241"/>
          </a:xfrm>
          <a:prstGeom prst="rect">
            <a:avLst/>
          </a:prstGeom>
        </p:spPr>
      </p:pic>
    </p:spTree>
    <p:extLst>
      <p:ext uri="{BB962C8B-B14F-4D97-AF65-F5344CB8AC3E}">
        <p14:creationId xmlns:p14="http://schemas.microsoft.com/office/powerpoint/2010/main" val="35819339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856583F-5D76-FF88-2E07-EB1B6CF9587B}"/>
              </a:ext>
            </a:extLst>
          </p:cNvPr>
          <p:cNvSpPr>
            <a:spLocks noGrp="1"/>
          </p:cNvSpPr>
          <p:nvPr>
            <p:ph type="title"/>
          </p:nvPr>
        </p:nvSpPr>
        <p:spPr/>
        <p:txBody>
          <a:bodyPr/>
          <a:lstStyle/>
          <a:p>
            <a:r>
              <a:rPr lang="nl-NL" dirty="0"/>
              <a:t>Translating </a:t>
            </a:r>
            <a:r>
              <a:rPr lang="nl-NL" dirty="0" err="1"/>
              <a:t>into</a:t>
            </a:r>
            <a:r>
              <a:rPr lang="nl-NL" dirty="0"/>
              <a:t> </a:t>
            </a:r>
            <a:r>
              <a:rPr lang="nl-NL" dirty="0" err="1"/>
              <a:t>actionable</a:t>
            </a:r>
            <a:r>
              <a:rPr lang="nl-NL" dirty="0"/>
              <a:t> personal </a:t>
            </a:r>
            <a:r>
              <a:rPr lang="nl-NL" dirty="0" err="1"/>
              <a:t>advice</a:t>
            </a:r>
            <a:endParaRPr lang="nl-NL" dirty="0"/>
          </a:p>
        </p:txBody>
      </p:sp>
      <p:sp>
        <p:nvSpPr>
          <p:cNvPr id="3" name="Tijdelijke aanduiding voor inhoud 2">
            <a:extLst>
              <a:ext uri="{FF2B5EF4-FFF2-40B4-BE49-F238E27FC236}">
                <a16:creationId xmlns:a16="http://schemas.microsoft.com/office/drawing/2014/main" id="{BC2199E4-54F8-7BC7-D3B2-AF9C68FA5182}"/>
              </a:ext>
            </a:extLst>
          </p:cNvPr>
          <p:cNvSpPr>
            <a:spLocks noGrp="1"/>
          </p:cNvSpPr>
          <p:nvPr>
            <p:ph idx="1"/>
          </p:nvPr>
        </p:nvSpPr>
        <p:spPr/>
        <p:txBody>
          <a:bodyPr/>
          <a:lstStyle/>
          <a:p>
            <a:r>
              <a:rPr lang="nl-NL" dirty="0" err="1"/>
              <a:t>empowering</a:t>
            </a:r>
            <a:r>
              <a:rPr lang="nl-NL" dirty="0"/>
              <a:t> style, monitor </a:t>
            </a:r>
            <a:r>
              <a:rPr lang="nl-NL" dirty="0" err="1"/>
              <a:t>activities</a:t>
            </a:r>
            <a:endParaRPr lang="nl-NL" dirty="0"/>
          </a:p>
          <a:p>
            <a:endParaRPr lang="nl-NL" dirty="0"/>
          </a:p>
          <a:p>
            <a:r>
              <a:rPr lang="nl-NL" dirty="0"/>
              <a:t>chatbot </a:t>
            </a:r>
            <a:r>
              <a:rPr lang="nl-NL" dirty="0" err="1"/>
              <a:t>function</a:t>
            </a:r>
            <a:endParaRPr lang="nl-NL" dirty="0"/>
          </a:p>
          <a:p>
            <a:endParaRPr lang="nl-NL" dirty="0"/>
          </a:p>
          <a:p>
            <a:r>
              <a:rPr lang="nl-NL" dirty="0"/>
              <a:t>push </a:t>
            </a:r>
            <a:r>
              <a:rPr lang="nl-NL" dirty="0" err="1"/>
              <a:t>messages</a:t>
            </a:r>
            <a:r>
              <a:rPr lang="nl-NL" dirty="0"/>
              <a:t>: </a:t>
            </a:r>
          </a:p>
          <a:p>
            <a:pPr lvl="1"/>
            <a:r>
              <a:rPr lang="nl-NL" dirty="0" err="1"/>
              <a:t>suggest</a:t>
            </a:r>
            <a:r>
              <a:rPr lang="nl-NL" dirty="0"/>
              <a:t> </a:t>
            </a:r>
            <a:r>
              <a:rPr lang="nl-NL" dirty="0" err="1"/>
              <a:t>activities</a:t>
            </a:r>
            <a:r>
              <a:rPr lang="nl-NL" dirty="0"/>
              <a:t>; runs, </a:t>
            </a:r>
            <a:r>
              <a:rPr lang="nl-NL" dirty="0" err="1"/>
              <a:t>sports</a:t>
            </a:r>
            <a:endParaRPr lang="nl-NL" dirty="0"/>
          </a:p>
          <a:p>
            <a:pPr lvl="1"/>
            <a:r>
              <a:rPr lang="nl-NL" dirty="0" err="1"/>
              <a:t>suggest</a:t>
            </a:r>
            <a:r>
              <a:rPr lang="nl-NL" dirty="0"/>
              <a:t> </a:t>
            </a:r>
            <a:r>
              <a:rPr lang="nl-NL" dirty="0" err="1"/>
              <a:t>recipes</a:t>
            </a:r>
            <a:r>
              <a:rPr lang="nl-NL" dirty="0"/>
              <a:t>; discounts </a:t>
            </a:r>
            <a:r>
              <a:rPr lang="nl-NL" dirty="0" err="1"/>
              <a:t>etc</a:t>
            </a:r>
            <a:endParaRPr lang="nl-NL" dirty="0"/>
          </a:p>
          <a:p>
            <a:pPr lvl="1"/>
            <a:r>
              <a:rPr lang="nl-NL" dirty="0"/>
              <a:t>…</a:t>
            </a:r>
          </a:p>
          <a:p>
            <a:pPr lvl="1"/>
            <a:endParaRPr lang="nl-NL" dirty="0"/>
          </a:p>
        </p:txBody>
      </p:sp>
    </p:spTree>
    <p:extLst>
      <p:ext uri="{BB962C8B-B14F-4D97-AF65-F5344CB8AC3E}">
        <p14:creationId xmlns:p14="http://schemas.microsoft.com/office/powerpoint/2010/main" val="6776602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684F67D-019E-B507-6D91-FDAEE0C4E001}"/>
              </a:ext>
            </a:extLst>
          </p:cNvPr>
          <p:cNvSpPr>
            <a:spLocks noGrp="1"/>
          </p:cNvSpPr>
          <p:nvPr>
            <p:ph type="title"/>
          </p:nvPr>
        </p:nvSpPr>
        <p:spPr/>
        <p:txBody>
          <a:bodyPr/>
          <a:lstStyle/>
          <a:p>
            <a:r>
              <a:rPr lang="nl-NL" dirty="0"/>
              <a:t>app demo</a:t>
            </a:r>
          </a:p>
        </p:txBody>
      </p:sp>
      <p:sp>
        <p:nvSpPr>
          <p:cNvPr id="3" name="Tijdelijke aanduiding voor inhoud 2">
            <a:extLst>
              <a:ext uri="{FF2B5EF4-FFF2-40B4-BE49-F238E27FC236}">
                <a16:creationId xmlns:a16="http://schemas.microsoft.com/office/drawing/2014/main" id="{A44A79C2-FA49-8B67-958B-858C72DE3A5C}"/>
              </a:ext>
            </a:extLst>
          </p:cNvPr>
          <p:cNvSpPr>
            <a:spLocks noGrp="1"/>
          </p:cNvSpPr>
          <p:nvPr>
            <p:ph idx="1"/>
          </p:nvPr>
        </p:nvSpPr>
        <p:spPr/>
        <p:txBody>
          <a:bodyPr/>
          <a:lstStyle/>
          <a:p>
            <a:endParaRPr lang="nl-NL" dirty="0"/>
          </a:p>
        </p:txBody>
      </p:sp>
    </p:spTree>
    <p:extLst>
      <p:ext uri="{BB962C8B-B14F-4D97-AF65-F5344CB8AC3E}">
        <p14:creationId xmlns:p14="http://schemas.microsoft.com/office/powerpoint/2010/main" val="21884453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8F7C3D4-C9F7-0C9E-854F-68A3742FBB05}"/>
              </a:ext>
            </a:extLst>
          </p:cNvPr>
          <p:cNvSpPr>
            <a:spLocks noGrp="1"/>
          </p:cNvSpPr>
          <p:nvPr>
            <p:ph type="title"/>
          </p:nvPr>
        </p:nvSpPr>
        <p:spPr/>
        <p:txBody>
          <a:bodyPr/>
          <a:lstStyle/>
          <a:p>
            <a:r>
              <a:rPr lang="nl-NL" dirty="0"/>
              <a:t>future </a:t>
            </a:r>
            <a:r>
              <a:rPr lang="nl-NL" dirty="0" err="1"/>
              <a:t>perspectives</a:t>
            </a:r>
            <a:r>
              <a:rPr lang="nl-NL" dirty="0"/>
              <a:t> </a:t>
            </a:r>
          </a:p>
        </p:txBody>
      </p:sp>
      <p:sp>
        <p:nvSpPr>
          <p:cNvPr id="3" name="Tijdelijke aanduiding voor inhoud 2">
            <a:extLst>
              <a:ext uri="{FF2B5EF4-FFF2-40B4-BE49-F238E27FC236}">
                <a16:creationId xmlns:a16="http://schemas.microsoft.com/office/drawing/2014/main" id="{FF9F0EA3-41D0-405F-15C7-9B7312C49A80}"/>
              </a:ext>
            </a:extLst>
          </p:cNvPr>
          <p:cNvSpPr>
            <a:spLocks noGrp="1"/>
          </p:cNvSpPr>
          <p:nvPr>
            <p:ph idx="1"/>
          </p:nvPr>
        </p:nvSpPr>
        <p:spPr/>
        <p:txBody>
          <a:bodyPr>
            <a:normAutofit/>
          </a:bodyPr>
          <a:lstStyle/>
          <a:p>
            <a:r>
              <a:rPr lang="nl-NL" dirty="0"/>
              <a:t>focus on </a:t>
            </a:r>
            <a:r>
              <a:rPr lang="nl-NL" dirty="0" err="1"/>
              <a:t>curbing</a:t>
            </a:r>
            <a:r>
              <a:rPr lang="nl-NL" dirty="0"/>
              <a:t> </a:t>
            </a:r>
            <a:r>
              <a:rPr lang="nl-NL" dirty="0" err="1"/>
              <a:t>costs</a:t>
            </a:r>
            <a:r>
              <a:rPr lang="nl-NL" dirty="0"/>
              <a:t>: </a:t>
            </a:r>
            <a:r>
              <a:rPr lang="nl-NL" dirty="0" err="1"/>
              <a:t>adapt</a:t>
            </a:r>
            <a:r>
              <a:rPr lang="nl-NL" dirty="0"/>
              <a:t> </a:t>
            </a:r>
            <a:r>
              <a:rPr lang="nl-NL" dirty="0" err="1"/>
              <a:t>to</a:t>
            </a:r>
            <a:r>
              <a:rPr lang="nl-NL" dirty="0"/>
              <a:t> </a:t>
            </a:r>
            <a:r>
              <a:rPr lang="nl-NL" dirty="0" err="1"/>
              <a:t>predict</a:t>
            </a:r>
            <a:r>
              <a:rPr lang="nl-NL" dirty="0"/>
              <a:t> </a:t>
            </a:r>
            <a:r>
              <a:rPr lang="nl-NL" dirty="0" err="1"/>
              <a:t>complications</a:t>
            </a:r>
            <a:endParaRPr lang="nl-NL" dirty="0"/>
          </a:p>
          <a:p>
            <a:pPr lvl="1"/>
            <a:r>
              <a:rPr lang="nl-NL" dirty="0" err="1"/>
              <a:t>uncomplicated</a:t>
            </a:r>
            <a:r>
              <a:rPr lang="nl-NL" dirty="0"/>
              <a:t> T2D	€2,600 per </a:t>
            </a:r>
            <a:r>
              <a:rPr lang="nl-NL" dirty="0" err="1"/>
              <a:t>year</a:t>
            </a:r>
            <a:endParaRPr lang="nl-NL" dirty="0"/>
          </a:p>
          <a:p>
            <a:pPr lvl="1"/>
            <a:endParaRPr lang="nl-NL" dirty="0"/>
          </a:p>
          <a:p>
            <a:pPr lvl="1"/>
            <a:r>
              <a:rPr lang="nl-NL" dirty="0" err="1"/>
              <a:t>stroke</a:t>
            </a:r>
            <a:r>
              <a:rPr lang="nl-NL" dirty="0"/>
              <a:t>			€54,678 per event</a:t>
            </a:r>
          </a:p>
          <a:p>
            <a:pPr lvl="1"/>
            <a:r>
              <a:rPr lang="nl-NL" dirty="0"/>
              <a:t>AMI/</a:t>
            </a:r>
            <a:r>
              <a:rPr lang="nl-NL" dirty="0" err="1"/>
              <a:t>revasularization</a:t>
            </a:r>
            <a:r>
              <a:rPr lang="nl-NL" dirty="0"/>
              <a:t>	€27,038 / €37,071 per event</a:t>
            </a:r>
          </a:p>
          <a:p>
            <a:pPr lvl="1"/>
            <a:r>
              <a:rPr lang="nl-NL" dirty="0" err="1"/>
              <a:t>heart</a:t>
            </a:r>
            <a:r>
              <a:rPr lang="nl-NL" dirty="0"/>
              <a:t> failure		€16,561 per event	</a:t>
            </a:r>
          </a:p>
          <a:p>
            <a:pPr lvl="1"/>
            <a:r>
              <a:rPr lang="nl-NL" dirty="0" err="1"/>
              <a:t>renal</a:t>
            </a:r>
            <a:r>
              <a:rPr lang="nl-NL" dirty="0"/>
              <a:t> failure		€91,503 per event</a:t>
            </a:r>
          </a:p>
        </p:txBody>
      </p:sp>
    </p:spTree>
    <p:extLst>
      <p:ext uri="{BB962C8B-B14F-4D97-AF65-F5344CB8AC3E}">
        <p14:creationId xmlns:p14="http://schemas.microsoft.com/office/powerpoint/2010/main" val="40124962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Afbeelding 4">
            <a:extLst>
              <a:ext uri="{FF2B5EF4-FFF2-40B4-BE49-F238E27FC236}">
                <a16:creationId xmlns:a16="http://schemas.microsoft.com/office/drawing/2014/main" id="{6CA9D736-B280-E7D6-10A1-046BACF44CD1}"/>
              </a:ext>
            </a:extLst>
          </p:cNvPr>
          <p:cNvPicPr>
            <a:picLocks noChangeAspect="1"/>
          </p:cNvPicPr>
          <p:nvPr/>
        </p:nvPicPr>
        <p:blipFill>
          <a:blip r:embed="rId2"/>
          <a:stretch>
            <a:fillRect/>
          </a:stretch>
        </p:blipFill>
        <p:spPr>
          <a:xfrm>
            <a:off x="1130300" y="546100"/>
            <a:ext cx="9931400" cy="5765800"/>
          </a:xfrm>
          <a:prstGeom prst="rect">
            <a:avLst/>
          </a:prstGeom>
        </p:spPr>
      </p:pic>
    </p:spTree>
    <p:extLst>
      <p:ext uri="{BB962C8B-B14F-4D97-AF65-F5344CB8AC3E}">
        <p14:creationId xmlns:p14="http://schemas.microsoft.com/office/powerpoint/2010/main" val="31918559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5EEFE53-9981-D8FC-D52C-9D14B738B3C1}"/>
              </a:ext>
            </a:extLst>
          </p:cNvPr>
          <p:cNvSpPr>
            <a:spLocks noGrp="1"/>
          </p:cNvSpPr>
          <p:nvPr>
            <p:ph type="title"/>
          </p:nvPr>
        </p:nvSpPr>
        <p:spPr/>
        <p:txBody>
          <a:bodyPr/>
          <a:lstStyle/>
          <a:p>
            <a:r>
              <a:rPr lang="nl-NL" dirty="0"/>
              <a:t>future </a:t>
            </a:r>
            <a:r>
              <a:rPr lang="nl-NL" dirty="0" err="1"/>
              <a:t>perspectives</a:t>
            </a:r>
            <a:r>
              <a:rPr lang="nl-NL" dirty="0"/>
              <a:t> </a:t>
            </a:r>
          </a:p>
        </p:txBody>
      </p:sp>
      <p:sp>
        <p:nvSpPr>
          <p:cNvPr id="6" name="Tijdelijke aanduiding voor inhoud 5">
            <a:extLst>
              <a:ext uri="{FF2B5EF4-FFF2-40B4-BE49-F238E27FC236}">
                <a16:creationId xmlns:a16="http://schemas.microsoft.com/office/drawing/2014/main" id="{44B740F6-0872-FFFA-FCE2-11316FB0AE0C}"/>
              </a:ext>
            </a:extLst>
          </p:cNvPr>
          <p:cNvSpPr>
            <a:spLocks noGrp="1"/>
          </p:cNvSpPr>
          <p:nvPr>
            <p:ph idx="1"/>
          </p:nvPr>
        </p:nvSpPr>
        <p:spPr/>
        <p:txBody>
          <a:bodyPr/>
          <a:lstStyle/>
          <a:p>
            <a:r>
              <a:rPr lang="nl-NL" dirty="0"/>
              <a:t>even more </a:t>
            </a:r>
            <a:r>
              <a:rPr lang="nl-NL" dirty="0" err="1"/>
              <a:t>personalized</a:t>
            </a:r>
            <a:r>
              <a:rPr lang="nl-NL" dirty="0"/>
              <a:t>: link </a:t>
            </a:r>
            <a:r>
              <a:rPr lang="nl-NL" dirty="0" err="1"/>
              <a:t>to</a:t>
            </a:r>
            <a:r>
              <a:rPr lang="nl-NL" dirty="0"/>
              <a:t> wearables, </a:t>
            </a:r>
            <a:r>
              <a:rPr lang="nl-NL" dirty="0" err="1"/>
              <a:t>location</a:t>
            </a:r>
            <a:r>
              <a:rPr lang="nl-NL" dirty="0"/>
              <a:t> tracking </a:t>
            </a:r>
          </a:p>
          <a:p>
            <a:endParaRPr lang="nl-NL" dirty="0"/>
          </a:p>
          <a:p>
            <a:r>
              <a:rPr lang="nl-NL" dirty="0"/>
              <a:t>even more </a:t>
            </a:r>
            <a:r>
              <a:rPr lang="nl-NL" dirty="0" err="1"/>
              <a:t>personalized</a:t>
            </a:r>
            <a:r>
              <a:rPr lang="nl-NL" dirty="0"/>
              <a:t>: </a:t>
            </a:r>
            <a:r>
              <a:rPr lang="nl-NL" dirty="0" err="1"/>
              <a:t>adapt</a:t>
            </a:r>
            <a:r>
              <a:rPr lang="nl-NL" dirty="0"/>
              <a:t> </a:t>
            </a:r>
            <a:r>
              <a:rPr lang="nl-NL" dirty="0" err="1"/>
              <a:t>to</a:t>
            </a:r>
            <a:r>
              <a:rPr lang="nl-NL" dirty="0"/>
              <a:t> </a:t>
            </a:r>
            <a:r>
              <a:rPr lang="nl-NL" dirty="0" err="1"/>
              <a:t>personality</a:t>
            </a:r>
            <a:r>
              <a:rPr lang="nl-NL" dirty="0"/>
              <a:t> </a:t>
            </a:r>
            <a:r>
              <a:rPr lang="nl-NL" dirty="0" err="1"/>
              <a:t>characteristics</a:t>
            </a:r>
            <a:endParaRPr lang="nl-NL" dirty="0"/>
          </a:p>
          <a:p>
            <a:endParaRPr lang="nl-NL" dirty="0"/>
          </a:p>
        </p:txBody>
      </p:sp>
    </p:spTree>
    <p:extLst>
      <p:ext uri="{BB962C8B-B14F-4D97-AF65-F5344CB8AC3E}">
        <p14:creationId xmlns:p14="http://schemas.microsoft.com/office/powerpoint/2010/main" val="1838079690"/>
      </p:ext>
    </p:extLst>
  </p:cSld>
  <p:clrMapOvr>
    <a:masterClrMapping/>
  </p:clrMapOvr>
</p:sld>
</file>

<file path=ppt/theme/theme1.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D56A92D-E860-7F42-A6D1-DD1F6B374976}">
  <we:reference id="WA200010001" version="1.0.0.1" store="Omex" storeType="OMEX"/>
  <we:alternateReferences>
    <we:reference id="WA200010001" version="1.0.0.1" store="WA200010001" storeType="OMEX"/>
  </we:alternateReferences>
  <we:properties>
    <we:property name="claude.fileId" value="&quot;50b71e3c-421e-40ad-8d62-17daf66f2499&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1221</TotalTime>
  <Words>1101</Words>
  <Application>Microsoft Macintosh PowerPoint</Application>
  <PresentationFormat>Breedbeeld</PresentationFormat>
  <Paragraphs>211</Paragraphs>
  <Slides>19</Slides>
  <Notes>2</Notes>
  <HiddenSlides>3</HiddenSlides>
  <MMClips>0</MMClips>
  <ScaleCrop>false</ScaleCrop>
  <HeadingPairs>
    <vt:vector size="6" baseType="variant">
      <vt:variant>
        <vt:lpstr>Gebruikte lettertypen</vt:lpstr>
      </vt:variant>
      <vt:variant>
        <vt:i4>6</vt:i4>
      </vt:variant>
      <vt:variant>
        <vt:lpstr>Thema</vt:lpstr>
      </vt:variant>
      <vt:variant>
        <vt:i4>1</vt:i4>
      </vt:variant>
      <vt:variant>
        <vt:lpstr>Diatitels</vt:lpstr>
      </vt:variant>
      <vt:variant>
        <vt:i4>19</vt:i4>
      </vt:variant>
    </vt:vector>
  </HeadingPairs>
  <TitlesOfParts>
    <vt:vector size="26" baseType="lpstr">
      <vt:lpstr>Aptos</vt:lpstr>
      <vt:lpstr>Aptos Display</vt:lpstr>
      <vt:lpstr>Arial</vt:lpstr>
      <vt:lpstr>Calibri</vt:lpstr>
      <vt:lpstr>Cambria</vt:lpstr>
      <vt:lpstr>Comic Sans MS</vt:lpstr>
      <vt:lpstr>Kantoorthema</vt:lpstr>
      <vt:lpstr>PowerPoint-presentatie</vt:lpstr>
      <vt:lpstr>PowerPoint-presentatie</vt:lpstr>
      <vt:lpstr>PowerPoint-presentatie</vt:lpstr>
      <vt:lpstr>PowerPoint-presentatie</vt:lpstr>
      <vt:lpstr>PowerPoint-presentatie</vt:lpstr>
      <vt:lpstr>Feature selection</vt:lpstr>
      <vt:lpstr>Managing data and code in GitHub repository</vt:lpstr>
      <vt:lpstr>Machine learning pipeline</vt:lpstr>
      <vt:lpstr>Results model A ‘short term risk’</vt:lpstr>
      <vt:lpstr>Results model B ‘long term risk’</vt:lpstr>
      <vt:lpstr>model results</vt:lpstr>
      <vt:lpstr>model results</vt:lpstr>
      <vt:lpstr>Predicting Diabetes with Deep Learning</vt:lpstr>
      <vt:lpstr>PowerPoint-presentatie</vt:lpstr>
      <vt:lpstr>Translating into actionable personal advice</vt:lpstr>
      <vt:lpstr>app demo</vt:lpstr>
      <vt:lpstr>future perspectives </vt:lpstr>
      <vt:lpstr>PowerPoint-presentatie</vt:lpstr>
      <vt:lpstr>future perspectives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Aarntzen, EHJG (ngmb)</dc:creator>
  <cp:lastModifiedBy>Aarntzen, EHJG (ngmb)</cp:lastModifiedBy>
  <cp:revision>2</cp:revision>
  <dcterms:created xsi:type="dcterms:W3CDTF">2026-09-16T16:38:51Z</dcterms:created>
  <dcterms:modified xsi:type="dcterms:W3CDTF">2026-09-17T13:00:24Z</dcterms:modified>
</cp:coreProperties>
</file>